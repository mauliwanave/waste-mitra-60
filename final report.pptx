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2261" y="-7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255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826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255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826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255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826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255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826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255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826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14744" y="598404"/>
            <a:ext cx="6008370" cy="5080"/>
          </a:xfrm>
          <a:custGeom>
            <a:avLst/>
            <a:gdLst/>
            <a:ahLst/>
            <a:cxnLst/>
            <a:rect l="l" t="t" r="r" b="b"/>
            <a:pathLst>
              <a:path w="6008370" h="5079">
                <a:moveTo>
                  <a:pt x="6008093" y="5056"/>
                </a:moveTo>
                <a:lnTo>
                  <a:pt x="0" y="5056"/>
                </a:lnTo>
                <a:lnTo>
                  <a:pt x="0" y="0"/>
                </a:lnTo>
                <a:lnTo>
                  <a:pt x="6008093" y="0"/>
                </a:lnTo>
                <a:lnTo>
                  <a:pt x="6008093" y="50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14744" y="10002493"/>
            <a:ext cx="6008370" cy="6350"/>
          </a:xfrm>
          <a:custGeom>
            <a:avLst/>
            <a:gdLst/>
            <a:ahLst/>
            <a:cxnLst/>
            <a:rect l="l" t="t" r="r" b="b"/>
            <a:pathLst>
              <a:path w="6008370" h="6350">
                <a:moveTo>
                  <a:pt x="6008085" y="6326"/>
                </a:moveTo>
                <a:lnTo>
                  <a:pt x="0" y="6326"/>
                </a:lnTo>
                <a:lnTo>
                  <a:pt x="0" y="0"/>
                </a:lnTo>
                <a:lnTo>
                  <a:pt x="6008085" y="0"/>
                </a:lnTo>
                <a:lnTo>
                  <a:pt x="6008085" y="63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83413" y="10029909"/>
            <a:ext cx="1668779" cy="1725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32064" y="10030605"/>
            <a:ext cx="2059740" cy="1723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255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818435" y="10030376"/>
            <a:ext cx="215900" cy="1729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826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slide" Target="slide20.xml"/><Relationship Id="rId3" Type="http://schemas.openxmlformats.org/officeDocument/2006/relationships/slide" Target="slide4.xml"/><Relationship Id="rId7" Type="http://schemas.openxmlformats.org/officeDocument/2006/relationships/slide" Target="slide12.xml"/><Relationship Id="rId12" Type="http://schemas.openxmlformats.org/officeDocument/2006/relationships/slide" Target="slide1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1.xml"/><Relationship Id="rId11" Type="http://schemas.openxmlformats.org/officeDocument/2006/relationships/slide" Target="slide18.xml"/><Relationship Id="rId5" Type="http://schemas.openxmlformats.org/officeDocument/2006/relationships/slide" Target="slide10.xml"/><Relationship Id="rId15" Type="http://schemas.openxmlformats.org/officeDocument/2006/relationships/slide" Target="slide16.xml"/><Relationship Id="rId10" Type="http://schemas.openxmlformats.org/officeDocument/2006/relationships/slide" Target="slide17.xml"/><Relationship Id="rId4" Type="http://schemas.openxmlformats.org/officeDocument/2006/relationships/slide" Target="slide9.xml"/><Relationship Id="rId9" Type="http://schemas.openxmlformats.org/officeDocument/2006/relationships/slide" Target="slide14.xml"/><Relationship Id="rId14" Type="http://schemas.openxmlformats.org/officeDocument/2006/relationships/slide" Target="slide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13" Type="http://schemas.openxmlformats.org/officeDocument/2006/relationships/slide" Target="slide25.xml"/><Relationship Id="rId3" Type="http://schemas.openxmlformats.org/officeDocument/2006/relationships/slide" Target="slide22.xml"/><Relationship Id="rId7" Type="http://schemas.openxmlformats.org/officeDocument/2006/relationships/slide" Target="slide30.xml"/><Relationship Id="rId12" Type="http://schemas.openxmlformats.org/officeDocument/2006/relationships/slide" Target="slide24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8.xml"/><Relationship Id="rId11" Type="http://schemas.openxmlformats.org/officeDocument/2006/relationships/slide" Target="slide23.xml"/><Relationship Id="rId5" Type="http://schemas.openxmlformats.org/officeDocument/2006/relationships/slide" Target="slide27.xml"/><Relationship Id="rId15" Type="http://schemas.openxmlformats.org/officeDocument/2006/relationships/slide" Target="slide32.xml"/><Relationship Id="rId10" Type="http://schemas.openxmlformats.org/officeDocument/2006/relationships/slide" Target="slide20.xml"/><Relationship Id="rId4" Type="http://schemas.openxmlformats.org/officeDocument/2006/relationships/slide" Target="slide26.xml"/><Relationship Id="rId9" Type="http://schemas.openxmlformats.org/officeDocument/2006/relationships/slide" Target="slide5.xml"/><Relationship Id="rId14" Type="http://schemas.openxmlformats.org/officeDocument/2006/relationships/slide" Target="slide2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slide" Target="slide22.xml"/><Relationship Id="rId7" Type="http://schemas.openxmlformats.org/officeDocument/2006/relationships/slide" Target="slide28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6.xml"/><Relationship Id="rId5" Type="http://schemas.openxmlformats.org/officeDocument/2006/relationships/slide" Target="slide25.xml"/><Relationship Id="rId4" Type="http://schemas.openxmlformats.org/officeDocument/2006/relationships/slide" Target="slide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6138" y="663199"/>
            <a:ext cx="6269990" cy="9014460"/>
            <a:chOff x="846138" y="663199"/>
            <a:chExt cx="6269990" cy="9014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6138" y="663199"/>
              <a:ext cx="6269812" cy="901404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8407" y="6995253"/>
              <a:ext cx="905216" cy="82898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675763" y="883349"/>
            <a:ext cx="2457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imes New Roman"/>
                <a:cs typeface="Times New Roman"/>
              </a:rPr>
              <a:t>SAVITRIBAI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PHULE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PUNE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UNIVERSITY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8812" y="1493179"/>
            <a:ext cx="24809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imes New Roman"/>
                <a:cs typeface="Times New Roman"/>
              </a:rPr>
              <a:t>A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PRELIMINARY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PROJECT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REPORT</a:t>
            </a:r>
            <a:r>
              <a:rPr sz="1000" b="1" spc="-25" dirty="0">
                <a:latin typeface="Times New Roman"/>
                <a:cs typeface="Times New Roman"/>
              </a:rPr>
              <a:t> 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80898" y="4001485"/>
            <a:ext cx="3280410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imes New Roman"/>
                <a:cs typeface="Times New Roman"/>
              </a:rPr>
              <a:t>BACHELOR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OF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ENGINEERING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(Computer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Engineering)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000" b="1" spc="-25" dirty="0">
                <a:latin typeface="Times New Roman"/>
                <a:cs typeface="Times New Roman"/>
              </a:rPr>
              <a:t>BY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8746" y="8810835"/>
            <a:ext cx="3562350" cy="46355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065" marR="5080" algn="ctr">
              <a:lnSpc>
                <a:spcPts val="1130"/>
              </a:lnSpc>
              <a:spcBef>
                <a:spcPts val="190"/>
              </a:spcBef>
            </a:pPr>
            <a:r>
              <a:rPr sz="1000" b="1" dirty="0">
                <a:latin typeface="Times New Roman"/>
                <a:cs typeface="Times New Roman"/>
              </a:rPr>
              <a:t>DEPARTMENT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OF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COMPUTER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ENGINEERING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JSPM’s </a:t>
            </a:r>
            <a:r>
              <a:rPr sz="1000" b="1" dirty="0">
                <a:latin typeface="Times New Roman"/>
                <a:cs typeface="Times New Roman"/>
              </a:rPr>
              <a:t>IMPERIAL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COLLEGE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OF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ENGINEERING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AND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RESEARCH, </a:t>
            </a:r>
            <a:r>
              <a:rPr sz="1000" b="1" dirty="0">
                <a:latin typeface="Times New Roman"/>
                <a:cs typeface="Times New Roman"/>
              </a:rPr>
              <a:t>WAGHOLI,</a:t>
            </a:r>
            <a:r>
              <a:rPr sz="1000" b="1" spc="-1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PUNE</a:t>
            </a:r>
            <a:r>
              <a:rPr sz="1000" b="1" spc="-1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412</a:t>
            </a:r>
            <a:r>
              <a:rPr sz="1000" b="1" spc="-1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207</a:t>
            </a:r>
            <a:r>
              <a:rPr sz="1000" b="1" spc="229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2025-</a:t>
            </a:r>
            <a:r>
              <a:rPr sz="1000" b="1" spc="-25" dirty="0">
                <a:latin typeface="Times New Roman"/>
                <a:cs typeface="Times New Roman"/>
              </a:rPr>
              <a:t>26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35958" y="2027093"/>
            <a:ext cx="3143250" cy="6400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algn="ctr">
              <a:lnSpc>
                <a:spcPts val="1580"/>
              </a:lnSpc>
              <a:spcBef>
                <a:spcPts val="240"/>
              </a:spcBef>
            </a:pPr>
            <a:r>
              <a:rPr sz="1400" b="1" dirty="0">
                <a:latin typeface="Times New Roman"/>
                <a:cs typeface="Times New Roman"/>
              </a:rPr>
              <a:t>“Waste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Mitra: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AI-</a:t>
            </a:r>
            <a:r>
              <a:rPr sz="1400" b="1" dirty="0">
                <a:latin typeface="Times New Roman"/>
                <a:cs typeface="Times New Roman"/>
              </a:rPr>
              <a:t>Powered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Smart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Waste </a:t>
            </a:r>
            <a:r>
              <a:rPr sz="1400" b="1" dirty="0">
                <a:latin typeface="Times New Roman"/>
                <a:cs typeface="Times New Roman"/>
              </a:rPr>
              <a:t>Management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System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for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Sustainable Disposal”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3098" y="5042529"/>
            <a:ext cx="8413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Yash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bhalerao </a:t>
            </a:r>
            <a:r>
              <a:rPr sz="1000" dirty="0">
                <a:latin typeface="Times New Roman"/>
                <a:cs typeface="Times New Roman"/>
              </a:rPr>
              <a:t>Lokesh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bhosle </a:t>
            </a:r>
            <a:r>
              <a:rPr sz="1000" dirty="0">
                <a:latin typeface="Times New Roman"/>
                <a:cs typeface="Times New Roman"/>
              </a:rPr>
              <a:t>Yash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Sonawane </a:t>
            </a:r>
            <a:r>
              <a:rPr sz="1000" dirty="0">
                <a:latin typeface="Times New Roman"/>
                <a:cs typeface="Times New Roman"/>
              </a:rPr>
              <a:t>Mauli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wanave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4529" y="6023328"/>
            <a:ext cx="1708150" cy="328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95"/>
              </a:lnSpc>
              <a:spcBef>
                <a:spcPts val="95"/>
              </a:spcBef>
            </a:pPr>
            <a:r>
              <a:rPr sz="1000" b="1" dirty="0">
                <a:latin typeface="Times New Roman"/>
                <a:cs typeface="Times New Roman"/>
              </a:rPr>
              <a:t>UNDER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THE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GUIDANCE</a:t>
            </a:r>
            <a:r>
              <a:rPr sz="1000" b="1" spc="-25" dirty="0">
                <a:latin typeface="Times New Roman"/>
                <a:cs typeface="Times New Roman"/>
              </a:rPr>
              <a:t> OF</a:t>
            </a:r>
            <a:endParaRPr sz="1000">
              <a:latin typeface="Times New Roman"/>
              <a:cs typeface="Times New Roman"/>
            </a:endParaRPr>
          </a:p>
          <a:p>
            <a:pPr marL="353060">
              <a:lnSpc>
                <a:spcPts val="1195"/>
              </a:lnSpc>
            </a:pPr>
            <a:r>
              <a:rPr sz="1000" dirty="0">
                <a:latin typeface="Times New Roman"/>
                <a:cs typeface="Times New Roman"/>
              </a:rPr>
              <a:t>Dr.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Vinod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Wadne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99353" y="3264875"/>
            <a:ext cx="208216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" algn="ctr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submitted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words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the</a:t>
            </a:r>
            <a:endParaRPr sz="1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0" dirty="0">
                <a:latin typeface="Times New Roman"/>
                <a:cs typeface="Times New Roman"/>
              </a:rPr>
              <a:t>partial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fulfillment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requirements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of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99682" y="5042529"/>
            <a:ext cx="11950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Exam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No:B400510367 </a:t>
            </a:r>
            <a:r>
              <a:rPr sz="1000" dirty="0">
                <a:latin typeface="Times New Roman"/>
                <a:cs typeface="Times New Roman"/>
              </a:rPr>
              <a:t>Exam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No:B400510307 </a:t>
            </a:r>
            <a:r>
              <a:rPr sz="1000" dirty="0">
                <a:latin typeface="Times New Roman"/>
                <a:cs typeface="Times New Roman"/>
              </a:rPr>
              <a:t>Exam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No:B400510366 </a:t>
            </a:r>
            <a:r>
              <a:rPr sz="1000" dirty="0">
                <a:latin typeface="Times New Roman"/>
                <a:cs typeface="Times New Roman"/>
              </a:rPr>
              <a:t>Exam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No:B400510365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6138" y="571724"/>
            <a:ext cx="6269990" cy="9557385"/>
            <a:chOff x="846138" y="571724"/>
            <a:chExt cx="6269990" cy="95573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6138" y="571724"/>
              <a:ext cx="6269812" cy="955717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8407" y="914744"/>
              <a:ext cx="905216" cy="82898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365772" y="9522408"/>
            <a:ext cx="335280" cy="38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sz="1000" spc="-10" dirty="0">
                <a:latin typeface="Times New Roman"/>
                <a:cs typeface="Times New Roman"/>
              </a:rPr>
              <a:t>Date: Place: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11070" y="8148509"/>
            <a:ext cx="1109345" cy="38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 marR="5080" indent="-156845">
              <a:lnSpc>
                <a:spcPct val="1188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DR.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Deshpande (PRINCIPAL)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08461" y="8992055"/>
            <a:ext cx="13957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EXTERNAL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EXAMINER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81363" y="6544276"/>
            <a:ext cx="1185545" cy="767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196850">
              <a:lnSpc>
                <a:spcPct val="1188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Dr.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Vinod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Wadne (H.O.D)</a:t>
            </a:r>
            <a:endParaRPr sz="1000">
              <a:latin typeface="Times New Roman"/>
              <a:cs typeface="Times New Roman"/>
            </a:endParaRPr>
          </a:p>
          <a:p>
            <a:pPr marL="276860" marR="5080" indent="-264795">
              <a:lnSpc>
                <a:spcPct val="118800"/>
              </a:lnSpc>
              <a:spcBef>
                <a:spcPts val="135"/>
              </a:spcBef>
            </a:pPr>
            <a:r>
              <a:rPr sz="1000" dirty="0">
                <a:latin typeface="Times New Roman"/>
                <a:cs typeface="Times New Roman"/>
              </a:rPr>
              <a:t>Computer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Engineering Department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7936" y="5051651"/>
            <a:ext cx="5546725" cy="38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bonafide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work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carried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out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under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supervision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Dr.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Vinod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Wadne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submitted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towards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the </a:t>
            </a:r>
            <a:r>
              <a:rPr sz="1000" spc="-10" dirty="0">
                <a:latin typeface="Times New Roman"/>
                <a:cs typeface="Times New Roman"/>
              </a:rPr>
              <a:t>partial fulfillment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requirement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Bachelor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0" dirty="0">
                <a:latin typeface="Times New Roman"/>
                <a:cs typeface="Times New Roman"/>
              </a:rPr>
              <a:t> Engineering(Computer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Engineering).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5980" y="2097737"/>
            <a:ext cx="3568065" cy="2038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Times New Roman"/>
                <a:cs typeface="Times New Roman"/>
              </a:rPr>
              <a:t>JSPM’s</a:t>
            </a:r>
            <a:endParaRPr sz="1000">
              <a:latin typeface="Times New Roman"/>
              <a:cs typeface="Times New Roman"/>
            </a:endParaRPr>
          </a:p>
          <a:p>
            <a:pPr marL="12700" marR="5080" algn="ctr">
              <a:lnSpc>
                <a:spcPct val="100000"/>
              </a:lnSpc>
            </a:pPr>
            <a:r>
              <a:rPr sz="1000" b="1" dirty="0">
                <a:latin typeface="Times New Roman"/>
                <a:cs typeface="Times New Roman"/>
              </a:rPr>
              <a:t>IMPERIAL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COLLEGE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OF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ENGINEERING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AND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RESEARCH, </a:t>
            </a:r>
            <a:r>
              <a:rPr sz="1000" b="1" dirty="0">
                <a:latin typeface="Times New Roman"/>
                <a:cs typeface="Times New Roman"/>
              </a:rPr>
              <a:t>WAGHOLI,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PUNE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412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spc="-25" dirty="0">
                <a:latin typeface="Times New Roman"/>
                <a:cs typeface="Times New Roman"/>
              </a:rPr>
              <a:t>207</a:t>
            </a:r>
            <a:endParaRPr sz="1000">
              <a:latin typeface="Times New Roman"/>
              <a:cs typeface="Times New Roman"/>
            </a:endParaRPr>
          </a:p>
          <a:p>
            <a:pPr marR="24130" algn="ctr">
              <a:lnSpc>
                <a:spcPct val="100000"/>
              </a:lnSpc>
            </a:pPr>
            <a:r>
              <a:rPr sz="1000" b="1" dirty="0">
                <a:latin typeface="Times New Roman"/>
                <a:cs typeface="Times New Roman"/>
              </a:rPr>
              <a:t>DEPARTMENT</a:t>
            </a:r>
            <a:r>
              <a:rPr sz="1000" b="1" spc="-4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OF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COMPUTER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ENGINEERING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000">
              <a:latin typeface="Times New Roman"/>
              <a:cs typeface="Times New Roman"/>
            </a:endParaRPr>
          </a:p>
          <a:p>
            <a:pPr marR="90170" algn="ctr">
              <a:lnSpc>
                <a:spcPct val="100000"/>
              </a:lnSpc>
            </a:pPr>
            <a:r>
              <a:rPr sz="1000" b="1" dirty="0">
                <a:latin typeface="Times New Roman"/>
                <a:cs typeface="Times New Roman"/>
              </a:rPr>
              <a:t>C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E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R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T I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F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I C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T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spc="-50" dirty="0">
                <a:latin typeface="Times New Roman"/>
                <a:cs typeface="Times New Roman"/>
              </a:rPr>
              <a:t>E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000">
              <a:latin typeface="Times New Roman"/>
              <a:cs typeface="Times New Roman"/>
            </a:endParaRPr>
          </a:p>
          <a:p>
            <a:pPr marL="469900" marR="503555" indent="-66675" algn="ctr">
              <a:lnSpc>
                <a:spcPct val="110600"/>
              </a:lnSpc>
            </a:pP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certify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that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seminar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work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entitled </a:t>
            </a:r>
            <a:r>
              <a:rPr sz="1100" dirty="0">
                <a:latin typeface="Times New Roman"/>
                <a:cs typeface="Times New Roman"/>
              </a:rPr>
              <a:t>Waste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Mitra: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AI-</a:t>
            </a:r>
            <a:r>
              <a:rPr sz="1100" dirty="0">
                <a:latin typeface="Times New Roman"/>
                <a:cs typeface="Times New Roman"/>
              </a:rPr>
              <a:t>Powered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Smart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Waste </a:t>
            </a:r>
            <a:r>
              <a:rPr sz="1100" dirty="0">
                <a:latin typeface="Times New Roman"/>
                <a:cs typeface="Times New Roman"/>
              </a:rPr>
              <a:t>Management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Sustainable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  <a:p>
            <a:pPr marR="104139" algn="ctr">
              <a:lnSpc>
                <a:spcPct val="100000"/>
              </a:lnSpc>
              <a:spcBef>
                <a:spcPts val="340"/>
              </a:spcBef>
            </a:pPr>
            <a:r>
              <a:rPr sz="1000" dirty="0">
                <a:latin typeface="Times New Roman"/>
                <a:cs typeface="Times New Roman"/>
              </a:rPr>
              <a:t>Submitted</a:t>
            </a:r>
            <a:r>
              <a:rPr sz="1000" spc="-25" dirty="0">
                <a:latin typeface="Times New Roman"/>
                <a:cs typeface="Times New Roman"/>
              </a:rPr>
              <a:t> by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44217" y="4353465"/>
            <a:ext cx="1016000" cy="572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Times New Roman"/>
                <a:cs typeface="Times New Roman"/>
              </a:rPr>
              <a:t>YASH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BHALERAO </a:t>
            </a:r>
            <a:r>
              <a:rPr sz="900" dirty="0">
                <a:latin typeface="Times New Roman"/>
                <a:cs typeface="Times New Roman"/>
              </a:rPr>
              <a:t>LOKESH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BHOSLE </a:t>
            </a:r>
            <a:r>
              <a:rPr sz="900" dirty="0">
                <a:latin typeface="Times New Roman"/>
                <a:cs typeface="Times New Roman"/>
              </a:rPr>
              <a:t>YASH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SONAWANE </a:t>
            </a:r>
            <a:r>
              <a:rPr sz="900" dirty="0">
                <a:latin typeface="Times New Roman"/>
                <a:cs typeface="Times New Roman"/>
              </a:rPr>
              <a:t>MAULI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WANAVE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8724" y="4335803"/>
            <a:ext cx="1118235" cy="5949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3899"/>
              </a:lnSpc>
              <a:spcBef>
                <a:spcPts val="90"/>
              </a:spcBef>
            </a:pPr>
            <a:r>
              <a:rPr sz="900" dirty="0">
                <a:latin typeface="Times New Roman"/>
                <a:cs typeface="Times New Roman"/>
              </a:rPr>
              <a:t>Exam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No:B400510367 </a:t>
            </a:r>
            <a:r>
              <a:rPr sz="900" dirty="0">
                <a:latin typeface="Times New Roman"/>
                <a:cs typeface="Times New Roman"/>
              </a:rPr>
              <a:t>Exam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No:B400510307 </a:t>
            </a:r>
            <a:r>
              <a:rPr sz="900" dirty="0">
                <a:latin typeface="Times New Roman"/>
                <a:cs typeface="Times New Roman"/>
              </a:rPr>
              <a:t>Exam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No:B400510366 </a:t>
            </a:r>
            <a:r>
              <a:rPr sz="900" dirty="0">
                <a:latin typeface="Times New Roman"/>
                <a:cs typeface="Times New Roman"/>
              </a:rPr>
              <a:t>Exam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No:B400510365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27068" y="6544276"/>
            <a:ext cx="1351280" cy="732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" marR="377190">
              <a:lnSpc>
                <a:spcPct val="1188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Dr.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Vinod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Wadne (H.O.D)</a:t>
            </a:r>
            <a:endParaRPr sz="1000">
              <a:latin typeface="Times New Roman"/>
              <a:cs typeface="Times New Roman"/>
            </a:endParaRPr>
          </a:p>
          <a:p>
            <a:pPr marL="86360" marR="5080" indent="-74295">
              <a:lnSpc>
                <a:spcPts val="1130"/>
              </a:lnSpc>
              <a:spcBef>
                <a:spcPts val="484"/>
              </a:spcBef>
            </a:pPr>
            <a:r>
              <a:rPr sz="1000" dirty="0">
                <a:latin typeface="Times New Roman"/>
                <a:cs typeface="Times New Roman"/>
              </a:rPr>
              <a:t>(Project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Guide)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Computer EngineeringDepartment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21161" y="3125634"/>
            <a:ext cx="1200602" cy="95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1190"/>
              </a:lnSpc>
            </a:pPr>
            <a:r>
              <a:rPr spc="-25" dirty="0"/>
              <a:t>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854858" y="827273"/>
            <a:ext cx="6190615" cy="3301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9530"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Abstract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8800"/>
              </a:lnSpc>
            </a:pPr>
            <a:r>
              <a:rPr sz="1000" dirty="0">
                <a:latin typeface="Times New Roman"/>
                <a:cs typeface="Times New Roman"/>
              </a:rPr>
              <a:t>India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faces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growing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challenge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managing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vast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amount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generated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every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day.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absence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automated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identification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state-</a:t>
            </a:r>
            <a:r>
              <a:rPr sz="1000" dirty="0">
                <a:latin typeface="Times New Roman"/>
                <a:cs typeface="Times New Roman"/>
              </a:rPr>
              <a:t>specific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guidelines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often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results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improper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segregation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environmental </a:t>
            </a:r>
            <a:r>
              <a:rPr sz="1000" dirty="0">
                <a:latin typeface="Times New Roman"/>
                <a:cs typeface="Times New Roman"/>
              </a:rPr>
              <a:t>degradation.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report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presents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Mitra,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AI-</a:t>
            </a:r>
            <a:r>
              <a:rPr sz="1000" dirty="0">
                <a:latin typeface="Times New Roman"/>
                <a:cs typeface="Times New Roman"/>
              </a:rPr>
              <a:t>driven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smart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management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designed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classify </a:t>
            </a:r>
            <a:r>
              <a:rPr sz="1000" dirty="0">
                <a:latin typeface="Times New Roman"/>
                <a:cs typeface="Times New Roman"/>
              </a:rPr>
              <a:t>different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types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through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image-</a:t>
            </a:r>
            <a:r>
              <a:rPr sz="1000" dirty="0">
                <a:latin typeface="Times New Roman"/>
                <a:cs typeface="Times New Roman"/>
              </a:rPr>
              <a:t>based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analysis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provide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appropriate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instructions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tailored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each </a:t>
            </a:r>
            <a:r>
              <a:rPr sz="1000" dirty="0">
                <a:latin typeface="Times New Roman"/>
                <a:cs typeface="Times New Roman"/>
              </a:rPr>
              <a:t>Indian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state.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utilizes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advanced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computer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vision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cloud-</a:t>
            </a:r>
            <a:r>
              <a:rPr sz="1000" dirty="0">
                <a:latin typeface="Times New Roman"/>
                <a:cs typeface="Times New Roman"/>
              </a:rPr>
              <a:t>based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APIs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recognition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integrates </a:t>
            </a:r>
            <a:r>
              <a:rPr sz="1000" spc="-20" dirty="0">
                <a:latin typeface="Times New Roman"/>
                <a:cs typeface="Times New Roman"/>
              </a:rPr>
              <a:t>real-</a:t>
            </a:r>
            <a:r>
              <a:rPr sz="1000" dirty="0">
                <a:latin typeface="Times New Roman"/>
                <a:cs typeface="Times New Roman"/>
              </a:rPr>
              <a:t>time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regulatory information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10" dirty="0">
                <a:latin typeface="Times New Roman"/>
                <a:cs typeface="Times New Roman"/>
              </a:rPr>
              <a:t> promote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safe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0" dirty="0">
                <a:latin typeface="Times New Roman"/>
                <a:cs typeface="Times New Roman"/>
              </a:rPr>
              <a:t> sustainable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handling.</a:t>
            </a:r>
            <a:endParaRPr sz="1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8800"/>
              </a:lnSpc>
            </a:pPr>
            <a:r>
              <a:rPr sz="1000" dirty="0">
                <a:latin typeface="Times New Roman"/>
                <a:cs typeface="Times New Roman"/>
              </a:rPr>
              <a:t>Developed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Django,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platform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offers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instant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analysis,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detailed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guidance,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user-</a:t>
            </a:r>
            <a:r>
              <a:rPr sz="1000" dirty="0">
                <a:latin typeface="Times New Roman"/>
                <a:cs typeface="Times New Roman"/>
              </a:rPr>
              <a:t>friendly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web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interface </a:t>
            </a:r>
            <a:r>
              <a:rPr sz="1000" dirty="0">
                <a:latin typeface="Times New Roman"/>
                <a:cs typeface="Times New Roman"/>
              </a:rPr>
              <a:t>accessible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general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public.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employs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hybrid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architecture,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combining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image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preprocessing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AI/LLM classification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(Gemini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LLM),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resulting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superior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performance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compared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baseline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models.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system's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primary</a:t>
            </a:r>
            <a:r>
              <a:rPr sz="1000" spc="-20" dirty="0">
                <a:latin typeface="Times New Roman"/>
                <a:cs typeface="Times New Roman"/>
              </a:rPr>
              <a:t> goal</a:t>
            </a:r>
            <a:r>
              <a:rPr sz="1000" dirty="0">
                <a:latin typeface="Times New Roman"/>
                <a:cs typeface="Times New Roman"/>
              </a:rPr>
              <a:t> is to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bridge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gap between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technology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environmental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awareness,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contributing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cleaner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communities and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efficient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practices.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000">
              <a:latin typeface="Times New Roman"/>
              <a:cs typeface="Times New Roman"/>
            </a:endParaRPr>
          </a:p>
          <a:p>
            <a:pPr marL="41275" marR="181610">
              <a:lnSpc>
                <a:spcPct val="206300"/>
              </a:lnSpc>
            </a:pPr>
            <a:r>
              <a:rPr sz="1000" b="1" i="1" dirty="0">
                <a:latin typeface="Times New Roman"/>
                <a:cs typeface="Times New Roman"/>
              </a:rPr>
              <a:t>Keywords:</a:t>
            </a:r>
            <a:r>
              <a:rPr sz="1000" b="1" i="1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AI-</a:t>
            </a:r>
            <a:r>
              <a:rPr sz="1000" dirty="0">
                <a:latin typeface="Times New Roman"/>
                <a:cs typeface="Times New Roman"/>
              </a:rPr>
              <a:t>Based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Recognition,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Management,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Computer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Vision,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Sustainable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Development,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Machine </a:t>
            </a:r>
            <a:r>
              <a:rPr sz="1000" dirty="0">
                <a:latin typeface="Times New Roman"/>
                <a:cs typeface="Times New Roman"/>
              </a:rPr>
              <a:t>Learning,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Deep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Learning.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1190"/>
              </a:lnSpc>
            </a:pPr>
            <a:r>
              <a:rPr spc="-25" dirty="0"/>
              <a:t>ii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877817" y="7279387"/>
            <a:ext cx="1207135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730" marR="5080" indent="83820" algn="r">
              <a:lnSpc>
                <a:spcPct val="1188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Yash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bhalerao </a:t>
            </a:r>
            <a:r>
              <a:rPr sz="1000" dirty="0">
                <a:latin typeface="Times New Roman"/>
                <a:cs typeface="Times New Roman"/>
              </a:rPr>
              <a:t>Lokesh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bhosle </a:t>
            </a:r>
            <a:r>
              <a:rPr sz="1000" dirty="0">
                <a:latin typeface="Times New Roman"/>
                <a:cs typeface="Times New Roman"/>
              </a:rPr>
              <a:t>Yash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Sonawane </a:t>
            </a:r>
            <a:r>
              <a:rPr sz="1000" dirty="0">
                <a:latin typeface="Times New Roman"/>
                <a:cs typeface="Times New Roman"/>
              </a:rPr>
              <a:t>Mauli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wanave</a:t>
            </a:r>
            <a:endParaRPr sz="10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latin typeface="Times New Roman"/>
                <a:cs typeface="Times New Roman"/>
              </a:rPr>
              <a:t>(B.E.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Computer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Engg.)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06314" y="827273"/>
            <a:ext cx="14312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Acknowledgement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1929" y="1595387"/>
            <a:ext cx="5952490" cy="3547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379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Times New Roman"/>
                <a:cs typeface="Times New Roman"/>
              </a:rPr>
              <a:t>It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gives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us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great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pleasure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in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presenting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the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preliminary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project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report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on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“</a:t>
            </a:r>
            <a:r>
              <a:rPr sz="1000" b="1" i="1" dirty="0">
                <a:latin typeface="Times New Roman"/>
                <a:cs typeface="Times New Roman"/>
              </a:rPr>
              <a:t>Waste</a:t>
            </a:r>
            <a:r>
              <a:rPr sz="1000" b="1" i="1" spc="-20" dirty="0">
                <a:latin typeface="Times New Roman"/>
                <a:cs typeface="Times New Roman"/>
              </a:rPr>
              <a:t> </a:t>
            </a:r>
            <a:r>
              <a:rPr sz="1000" b="1" i="1" dirty="0">
                <a:latin typeface="Times New Roman"/>
                <a:cs typeface="Times New Roman"/>
              </a:rPr>
              <a:t>Mitra:</a:t>
            </a:r>
            <a:r>
              <a:rPr sz="1000" b="1" i="1" spc="-20" dirty="0">
                <a:latin typeface="Times New Roman"/>
                <a:cs typeface="Times New Roman"/>
              </a:rPr>
              <a:t> </a:t>
            </a:r>
            <a:r>
              <a:rPr sz="1000" b="1" i="1" spc="-10" dirty="0">
                <a:latin typeface="Times New Roman"/>
                <a:cs typeface="Times New Roman"/>
              </a:rPr>
              <a:t>AI-Powered</a:t>
            </a:r>
            <a:r>
              <a:rPr sz="1000" b="1" i="1" spc="-20" dirty="0">
                <a:latin typeface="Times New Roman"/>
                <a:cs typeface="Times New Roman"/>
              </a:rPr>
              <a:t> </a:t>
            </a:r>
            <a:r>
              <a:rPr sz="1000" b="1" i="1" spc="-10" dirty="0">
                <a:latin typeface="Times New Roman"/>
                <a:cs typeface="Times New Roman"/>
              </a:rPr>
              <a:t>Smart</a:t>
            </a:r>
            <a:endParaRPr sz="1000">
              <a:latin typeface="Times New Roman"/>
              <a:cs typeface="Times New Roman"/>
            </a:endParaRPr>
          </a:p>
          <a:p>
            <a:pPr marL="246379" marR="247650">
              <a:lnSpc>
                <a:spcPct val="181300"/>
              </a:lnSpc>
            </a:pPr>
            <a:r>
              <a:rPr sz="1000" b="1" i="1" dirty="0">
                <a:latin typeface="Times New Roman"/>
                <a:cs typeface="Times New Roman"/>
              </a:rPr>
              <a:t>Waste</a:t>
            </a:r>
            <a:r>
              <a:rPr sz="1000" b="1" i="1" spc="-30" dirty="0">
                <a:latin typeface="Times New Roman"/>
                <a:cs typeface="Times New Roman"/>
              </a:rPr>
              <a:t> </a:t>
            </a:r>
            <a:r>
              <a:rPr sz="1000" b="1" i="1" spc="-10" dirty="0">
                <a:latin typeface="Times New Roman"/>
                <a:cs typeface="Times New Roman"/>
              </a:rPr>
              <a:t>Management</a:t>
            </a:r>
            <a:r>
              <a:rPr sz="1000" b="1" i="1" spc="-30" dirty="0">
                <a:latin typeface="Times New Roman"/>
                <a:cs typeface="Times New Roman"/>
              </a:rPr>
              <a:t> </a:t>
            </a:r>
            <a:r>
              <a:rPr sz="1000" b="1" i="1" dirty="0">
                <a:latin typeface="Times New Roman"/>
                <a:cs typeface="Times New Roman"/>
              </a:rPr>
              <a:t>System</a:t>
            </a:r>
            <a:r>
              <a:rPr sz="1000" b="1" i="1" spc="-30" dirty="0">
                <a:latin typeface="Times New Roman"/>
                <a:cs typeface="Times New Roman"/>
              </a:rPr>
              <a:t> </a:t>
            </a:r>
            <a:r>
              <a:rPr sz="1000" b="1" i="1" dirty="0">
                <a:latin typeface="Times New Roman"/>
                <a:cs typeface="Times New Roman"/>
              </a:rPr>
              <a:t>for</a:t>
            </a:r>
            <a:r>
              <a:rPr sz="1000" b="1" i="1" spc="-30" dirty="0">
                <a:latin typeface="Times New Roman"/>
                <a:cs typeface="Times New Roman"/>
              </a:rPr>
              <a:t> </a:t>
            </a:r>
            <a:r>
              <a:rPr sz="1000" b="1" i="1" spc="-10" dirty="0">
                <a:latin typeface="Times New Roman"/>
                <a:cs typeface="Times New Roman"/>
              </a:rPr>
              <a:t>Sustainable</a:t>
            </a:r>
            <a:r>
              <a:rPr sz="1000" b="1" i="1" spc="-30" dirty="0">
                <a:latin typeface="Times New Roman"/>
                <a:cs typeface="Times New Roman"/>
              </a:rPr>
              <a:t> </a:t>
            </a:r>
            <a:r>
              <a:rPr sz="1000" b="1" i="1" dirty="0">
                <a:latin typeface="Times New Roman"/>
                <a:cs typeface="Times New Roman"/>
              </a:rPr>
              <a:t>Disposal</a:t>
            </a:r>
            <a:r>
              <a:rPr sz="1000" b="1" i="1" spc="-30" dirty="0">
                <a:latin typeface="Times New Roman"/>
                <a:cs typeface="Times New Roman"/>
              </a:rPr>
              <a:t> </a:t>
            </a:r>
            <a:r>
              <a:rPr sz="1000" b="1" i="1" dirty="0">
                <a:latin typeface="Times New Roman"/>
                <a:cs typeface="Times New Roman"/>
              </a:rPr>
              <a:t>”</a:t>
            </a: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to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express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our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deep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regards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towards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those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spc="-25" dirty="0">
                <a:latin typeface="Times New Roman"/>
                <a:cs typeface="Times New Roman"/>
              </a:rPr>
              <a:t>who </a:t>
            </a:r>
            <a:r>
              <a:rPr sz="1000" i="1" dirty="0">
                <a:latin typeface="Times New Roman"/>
                <a:cs typeface="Times New Roman"/>
              </a:rPr>
              <a:t>have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offered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their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valuable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time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guidance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in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our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hour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of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need.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i="1" dirty="0">
                <a:latin typeface="Times New Roman"/>
                <a:cs typeface="Times New Roman"/>
              </a:rPr>
              <a:t>We</a:t>
            </a:r>
            <a:r>
              <a:rPr sz="1000" i="1" spc="-4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would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like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to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take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this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opportunity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to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thank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our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internal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guide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b="1" i="1" dirty="0">
                <a:latin typeface="Times New Roman"/>
                <a:cs typeface="Times New Roman"/>
              </a:rPr>
              <a:t>Dr.</a:t>
            </a:r>
            <a:r>
              <a:rPr sz="1000" b="1" i="1" spc="-25" dirty="0">
                <a:latin typeface="Times New Roman"/>
                <a:cs typeface="Times New Roman"/>
              </a:rPr>
              <a:t> </a:t>
            </a:r>
            <a:r>
              <a:rPr sz="1000" b="1" i="1" dirty="0">
                <a:latin typeface="Times New Roman"/>
                <a:cs typeface="Times New Roman"/>
              </a:rPr>
              <a:t>Vinod</a:t>
            </a:r>
            <a:r>
              <a:rPr sz="1000" b="1" i="1" spc="-30" dirty="0">
                <a:latin typeface="Times New Roman"/>
                <a:cs typeface="Times New Roman"/>
              </a:rPr>
              <a:t> </a:t>
            </a:r>
            <a:r>
              <a:rPr sz="1000" b="1" i="1" dirty="0">
                <a:latin typeface="Times New Roman"/>
                <a:cs typeface="Times New Roman"/>
              </a:rPr>
              <a:t>Wadne</a:t>
            </a:r>
            <a:r>
              <a:rPr sz="1000" b="1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for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giving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us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all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the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20" dirty="0">
                <a:latin typeface="Times New Roman"/>
                <a:cs typeface="Times New Roman"/>
              </a:rPr>
              <a:t>help</a:t>
            </a:r>
            <a:endParaRPr sz="1000">
              <a:latin typeface="Times New Roman"/>
              <a:cs typeface="Times New Roman"/>
            </a:endParaRPr>
          </a:p>
          <a:p>
            <a:pPr marL="62865">
              <a:lnSpc>
                <a:spcPct val="100000"/>
              </a:lnSpc>
              <a:spcBef>
                <a:spcPts val="1025"/>
              </a:spcBef>
            </a:pP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guidance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we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needed.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We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are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really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grateful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for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her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kind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support.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Her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valuable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suggestions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were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very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helpful.</a:t>
            </a:r>
            <a:endParaRPr sz="1000">
              <a:latin typeface="Times New Roman"/>
              <a:cs typeface="Times New Roman"/>
            </a:endParaRPr>
          </a:p>
          <a:p>
            <a:pPr marL="62865" marR="199390" indent="188595">
              <a:lnSpc>
                <a:spcPct val="186100"/>
              </a:lnSpc>
              <a:spcBef>
                <a:spcPts val="1100"/>
              </a:spcBef>
            </a:pPr>
            <a:r>
              <a:rPr sz="1000" i="1" dirty="0">
                <a:latin typeface="Times New Roman"/>
                <a:cs typeface="Times New Roman"/>
              </a:rPr>
              <a:t>We</a:t>
            </a:r>
            <a:r>
              <a:rPr sz="1000" i="1" spc="-4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are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also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grateful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to</a:t>
            </a:r>
            <a:r>
              <a:rPr sz="1000" i="1" spc="-100" dirty="0">
                <a:latin typeface="Times New Roman"/>
                <a:cs typeface="Times New Roman"/>
              </a:rPr>
              <a:t> </a:t>
            </a:r>
            <a:r>
              <a:rPr sz="1500" b="1" i="1" baseline="2777" dirty="0">
                <a:latin typeface="Times New Roman"/>
                <a:cs typeface="Times New Roman"/>
              </a:rPr>
              <a:t>Dr.</a:t>
            </a:r>
            <a:r>
              <a:rPr sz="1500" b="1" i="1" spc="-30" baseline="2777" dirty="0">
                <a:latin typeface="Times New Roman"/>
                <a:cs typeface="Times New Roman"/>
              </a:rPr>
              <a:t> </a:t>
            </a:r>
            <a:r>
              <a:rPr sz="1500" b="1" i="1" baseline="2777" dirty="0">
                <a:latin typeface="Times New Roman"/>
                <a:cs typeface="Times New Roman"/>
              </a:rPr>
              <a:t>Vinod</a:t>
            </a:r>
            <a:r>
              <a:rPr sz="1500" b="1" i="1" spc="-30" baseline="2777" dirty="0">
                <a:latin typeface="Times New Roman"/>
                <a:cs typeface="Times New Roman"/>
              </a:rPr>
              <a:t> </a:t>
            </a:r>
            <a:r>
              <a:rPr sz="1500" b="1" i="1" spc="-97" baseline="2777" dirty="0">
                <a:latin typeface="Times New Roman"/>
                <a:cs typeface="Times New Roman"/>
              </a:rPr>
              <a:t>Wadne</a:t>
            </a:r>
            <a:r>
              <a:rPr sz="1500" i="1" spc="-97" baseline="2777" dirty="0">
                <a:latin typeface="Times New Roman"/>
                <a:cs typeface="Times New Roman"/>
              </a:rPr>
              <a:t>,</a:t>
            </a:r>
            <a:r>
              <a:rPr sz="1500" i="1" baseline="2777" dirty="0">
                <a:latin typeface="Times New Roman"/>
                <a:cs typeface="Times New Roman"/>
              </a:rPr>
              <a:t> Head</a:t>
            </a:r>
            <a:r>
              <a:rPr sz="1500" i="1" spc="-22" baseline="2777" dirty="0">
                <a:latin typeface="Times New Roman"/>
                <a:cs typeface="Times New Roman"/>
              </a:rPr>
              <a:t> </a:t>
            </a:r>
            <a:r>
              <a:rPr sz="1500" i="1" baseline="2777" dirty="0">
                <a:latin typeface="Times New Roman"/>
                <a:cs typeface="Times New Roman"/>
              </a:rPr>
              <a:t>of</a:t>
            </a:r>
            <a:r>
              <a:rPr sz="1500" i="1" spc="-30" baseline="2777" dirty="0">
                <a:latin typeface="Times New Roman"/>
                <a:cs typeface="Times New Roman"/>
              </a:rPr>
              <a:t> </a:t>
            </a:r>
            <a:r>
              <a:rPr sz="1500" i="1" baseline="2777" dirty="0">
                <a:latin typeface="Times New Roman"/>
                <a:cs typeface="Times New Roman"/>
              </a:rPr>
              <a:t>Computer</a:t>
            </a:r>
            <a:r>
              <a:rPr sz="1500" i="1" spc="-22" baseline="2777" dirty="0">
                <a:latin typeface="Times New Roman"/>
                <a:cs typeface="Times New Roman"/>
              </a:rPr>
              <a:t> </a:t>
            </a:r>
            <a:r>
              <a:rPr sz="1500" i="1" baseline="2777" dirty="0">
                <a:latin typeface="Times New Roman"/>
                <a:cs typeface="Times New Roman"/>
              </a:rPr>
              <a:t>Engineering</a:t>
            </a:r>
            <a:r>
              <a:rPr sz="1500" i="1" spc="-22" baseline="2777" dirty="0">
                <a:latin typeface="Times New Roman"/>
                <a:cs typeface="Times New Roman"/>
              </a:rPr>
              <a:t> </a:t>
            </a:r>
            <a:r>
              <a:rPr sz="1500" i="1" baseline="2777" dirty="0">
                <a:latin typeface="Times New Roman"/>
                <a:cs typeface="Times New Roman"/>
              </a:rPr>
              <a:t>Department,</a:t>
            </a:r>
            <a:r>
              <a:rPr sz="1500" i="1" spc="-22" baseline="2777" dirty="0">
                <a:latin typeface="Times New Roman"/>
                <a:cs typeface="Times New Roman"/>
              </a:rPr>
              <a:t> </a:t>
            </a:r>
            <a:r>
              <a:rPr sz="1500" i="1" baseline="2777" dirty="0">
                <a:latin typeface="Times New Roman"/>
                <a:cs typeface="Times New Roman"/>
              </a:rPr>
              <a:t>ICOER</a:t>
            </a:r>
            <a:r>
              <a:rPr sz="1500" i="1" spc="-30" baseline="2777" dirty="0">
                <a:latin typeface="Times New Roman"/>
                <a:cs typeface="Times New Roman"/>
              </a:rPr>
              <a:t> </a:t>
            </a:r>
            <a:r>
              <a:rPr sz="1500" i="1" baseline="2777" dirty="0">
                <a:latin typeface="Times New Roman"/>
                <a:cs typeface="Times New Roman"/>
              </a:rPr>
              <a:t>for</a:t>
            </a:r>
            <a:r>
              <a:rPr sz="1500" i="1" spc="-22" baseline="2777" dirty="0">
                <a:latin typeface="Times New Roman"/>
                <a:cs typeface="Times New Roman"/>
              </a:rPr>
              <a:t> </a:t>
            </a:r>
            <a:r>
              <a:rPr sz="1500" i="1" baseline="2777" dirty="0">
                <a:latin typeface="Times New Roman"/>
                <a:cs typeface="Times New Roman"/>
              </a:rPr>
              <a:t>his</a:t>
            </a:r>
            <a:r>
              <a:rPr sz="1500" i="1" spc="-22" baseline="2777" dirty="0">
                <a:latin typeface="Times New Roman"/>
                <a:cs typeface="Times New Roman"/>
              </a:rPr>
              <a:t> </a:t>
            </a:r>
            <a:r>
              <a:rPr sz="1500" i="1" spc="-15" baseline="2777" dirty="0">
                <a:latin typeface="Times New Roman"/>
                <a:cs typeface="Times New Roman"/>
              </a:rPr>
              <a:t>indis- </a:t>
            </a:r>
            <a:r>
              <a:rPr sz="1000" i="1" dirty="0">
                <a:latin typeface="Times New Roman"/>
                <a:cs typeface="Times New Roman"/>
              </a:rPr>
              <a:t>pensable</a:t>
            </a:r>
            <a:r>
              <a:rPr sz="1000" i="1" spc="-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support,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suggestions.</a:t>
            </a:r>
            <a:endParaRPr sz="1000">
              <a:latin typeface="Times New Roman"/>
              <a:cs typeface="Times New Roman"/>
            </a:endParaRPr>
          </a:p>
          <a:p>
            <a:pPr marL="62865" marR="214629" indent="188595">
              <a:lnSpc>
                <a:spcPct val="187100"/>
              </a:lnSpc>
              <a:spcBef>
                <a:spcPts val="1075"/>
              </a:spcBef>
            </a:pPr>
            <a:r>
              <a:rPr sz="1000" i="1" dirty="0">
                <a:latin typeface="Times New Roman"/>
                <a:cs typeface="Times New Roman"/>
              </a:rPr>
              <a:t>We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are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also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glad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to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express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our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gratitude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thanks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to</a:t>
            </a:r>
            <a:r>
              <a:rPr sz="1000" i="1" spc="-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our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Principal</a:t>
            </a:r>
            <a:r>
              <a:rPr sz="1000" i="1" spc="65" dirty="0">
                <a:latin typeface="Times New Roman"/>
                <a:cs typeface="Times New Roman"/>
              </a:rPr>
              <a:t> </a:t>
            </a:r>
            <a:r>
              <a:rPr sz="1500" b="1" i="1" baseline="2777" dirty="0">
                <a:latin typeface="Times New Roman"/>
                <a:cs typeface="Times New Roman"/>
              </a:rPr>
              <a:t>Dr.</a:t>
            </a:r>
            <a:r>
              <a:rPr sz="1500" b="1" i="1" spc="-22" baseline="2777" dirty="0">
                <a:latin typeface="Times New Roman"/>
                <a:cs typeface="Times New Roman"/>
              </a:rPr>
              <a:t> </a:t>
            </a:r>
            <a:r>
              <a:rPr sz="1500" b="1" i="1" baseline="2777" dirty="0">
                <a:latin typeface="Times New Roman"/>
                <a:cs typeface="Times New Roman"/>
              </a:rPr>
              <a:t>R.</a:t>
            </a:r>
            <a:r>
              <a:rPr sz="1500" b="1" i="1" spc="-22" baseline="2777" dirty="0">
                <a:latin typeface="Times New Roman"/>
                <a:cs typeface="Times New Roman"/>
              </a:rPr>
              <a:t> </a:t>
            </a:r>
            <a:r>
              <a:rPr sz="1500" b="1" i="1" baseline="2777" dirty="0">
                <a:latin typeface="Times New Roman"/>
                <a:cs typeface="Times New Roman"/>
              </a:rPr>
              <a:t>S.</a:t>
            </a:r>
            <a:r>
              <a:rPr sz="1500" b="1" i="1" spc="-22" baseline="2777" dirty="0">
                <a:latin typeface="Times New Roman"/>
                <a:cs typeface="Times New Roman"/>
              </a:rPr>
              <a:t> </a:t>
            </a:r>
            <a:r>
              <a:rPr sz="1500" b="1" i="1" baseline="2777" dirty="0">
                <a:latin typeface="Times New Roman"/>
                <a:cs typeface="Times New Roman"/>
              </a:rPr>
              <a:t>Deshpande </a:t>
            </a:r>
            <a:r>
              <a:rPr sz="1500" i="1" baseline="2777" dirty="0">
                <a:latin typeface="Times New Roman"/>
                <a:cs typeface="Times New Roman"/>
              </a:rPr>
              <a:t>for</a:t>
            </a:r>
            <a:r>
              <a:rPr sz="1500" i="1" spc="-22" baseline="2777" dirty="0">
                <a:latin typeface="Times New Roman"/>
                <a:cs typeface="Times New Roman"/>
              </a:rPr>
              <a:t> </a:t>
            </a:r>
            <a:r>
              <a:rPr sz="1500" i="1" baseline="2777" dirty="0">
                <a:latin typeface="Times New Roman"/>
                <a:cs typeface="Times New Roman"/>
              </a:rPr>
              <a:t>his</a:t>
            </a:r>
            <a:r>
              <a:rPr sz="1500" i="1" spc="-22" baseline="2777" dirty="0">
                <a:latin typeface="Times New Roman"/>
                <a:cs typeface="Times New Roman"/>
              </a:rPr>
              <a:t> </a:t>
            </a:r>
            <a:r>
              <a:rPr sz="1500" i="1" spc="-15" baseline="2777" dirty="0">
                <a:latin typeface="Times New Roman"/>
                <a:cs typeface="Times New Roman"/>
              </a:rPr>
              <a:t>constant </a:t>
            </a:r>
            <a:r>
              <a:rPr sz="1000" i="1" dirty="0">
                <a:latin typeface="Times New Roman"/>
                <a:cs typeface="Times New Roman"/>
              </a:rPr>
              <a:t>inspiration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encouragement.</a:t>
            </a:r>
            <a:endParaRPr sz="1000">
              <a:latin typeface="Times New Roman"/>
              <a:cs typeface="Times New Roman"/>
            </a:endParaRPr>
          </a:p>
          <a:p>
            <a:pPr marL="62865" marR="5080" indent="188595">
              <a:lnSpc>
                <a:spcPct val="187100"/>
              </a:lnSpc>
              <a:spcBef>
                <a:spcPts val="1080"/>
              </a:spcBef>
            </a:pPr>
            <a:r>
              <a:rPr sz="1000" i="1" dirty="0">
                <a:latin typeface="Times New Roman"/>
                <a:cs typeface="Times New Roman"/>
              </a:rPr>
              <a:t>Finally,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we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would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like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to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express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once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again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our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gratitude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thanks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to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all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those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who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are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involved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directly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25" dirty="0">
                <a:latin typeface="Times New Roman"/>
                <a:cs typeface="Times New Roman"/>
              </a:rPr>
              <a:t>and </a:t>
            </a:r>
            <a:r>
              <a:rPr sz="1000" i="1" dirty="0">
                <a:latin typeface="Times New Roman"/>
                <a:cs typeface="Times New Roman"/>
              </a:rPr>
              <a:t>indirectly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in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achieving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our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project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success.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1190"/>
              </a:lnSpc>
            </a:pPr>
            <a:r>
              <a:rPr spc="-25" dirty="0"/>
              <a:t>iii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81153" y="1181821"/>
          <a:ext cx="6255385" cy="4290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8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45">
                <a:tc>
                  <a:txBody>
                    <a:bodyPr/>
                    <a:lstStyle/>
                    <a:p>
                      <a:pPr marL="133350">
                        <a:lnSpc>
                          <a:spcPts val="1090"/>
                        </a:lnSpc>
                      </a:pPr>
                      <a:r>
                        <a:rPr sz="1000" b="1" spc="-10" dirty="0">
                          <a:latin typeface="Times New Roman"/>
                          <a:cs typeface="Times New Roman"/>
                          <a:hlinkClick r:id="rId2" action="ppaction://hlinksldjump"/>
                        </a:rPr>
                        <a:t>Abstract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78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95"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000" b="1" spc="-10" dirty="0">
                          <a:latin typeface="Times New Roman"/>
                          <a:cs typeface="Times New Roman"/>
                          <a:hlinkClick r:id="rId3" action="ppaction://hlinksldjump"/>
                        </a:rPr>
                        <a:t>Acknowledgement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000" b="1" spc="-25" dirty="0">
                          <a:latin typeface="Times New Roman"/>
                          <a:cs typeface="Times New Roman"/>
                        </a:rPr>
                        <a:t>ii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190"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000" b="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0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SYNOPSIS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0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  <a:tabLst>
                          <a:tab pos="322580" algn="l"/>
                        </a:tabLst>
                      </a:pPr>
                      <a:r>
                        <a:rPr sz="1500" spc="-37" baseline="2777" dirty="0">
                          <a:latin typeface="Times New Roman"/>
                          <a:cs typeface="Times New Roman"/>
                        </a:rPr>
                        <a:t>1.1</a:t>
                      </a:r>
                      <a:r>
                        <a:rPr sz="1500" baseline="2777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Project</a:t>
                      </a:r>
                      <a:r>
                        <a:rPr sz="1000" spc="345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Title</a:t>
                      </a:r>
                      <a:r>
                        <a:rPr sz="1000" spc="3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................................................................................................................................................</a:t>
                      </a:r>
                      <a:r>
                        <a:rPr sz="1000" spc="3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618490" algn="l"/>
                        </a:tabLst>
                      </a:pPr>
                      <a:r>
                        <a:rPr sz="1000" spc="-25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1.2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Project</a:t>
                      </a:r>
                      <a:r>
                        <a:rPr sz="1000" spc="-5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Guide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.1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1.3</a:t>
                      </a:r>
                      <a:r>
                        <a:rPr sz="1000" spc="-1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Technical</a:t>
                      </a:r>
                      <a:r>
                        <a:rPr sz="1000" spc="-1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Keywords</a:t>
                      </a:r>
                      <a:r>
                        <a:rPr sz="1000" spc="-5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(As</a:t>
                      </a:r>
                      <a:r>
                        <a:rPr sz="1000" spc="-1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per</a:t>
                      </a:r>
                      <a:r>
                        <a:rPr sz="1000" spc="-5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ACM</a:t>
                      </a:r>
                      <a:r>
                        <a:rPr sz="1000" spc="-15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Keywords)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.1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1.4</a:t>
                      </a:r>
                      <a:r>
                        <a:rPr sz="10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Problem</a:t>
                      </a:r>
                      <a:r>
                        <a:rPr sz="1000" spc="-5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Statement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.1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1.5</a:t>
                      </a:r>
                      <a:r>
                        <a:rPr sz="10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Abstract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Goals</a:t>
                      </a:r>
                      <a:r>
                        <a:rPr sz="1000" spc="7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and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18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.1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1.6</a:t>
                      </a:r>
                      <a:r>
                        <a:rPr sz="10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4" action="ppaction://hlinksldjump"/>
                        </a:rPr>
                        <a:t>Objectives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Relevant</a:t>
                      </a:r>
                      <a:r>
                        <a:rPr sz="1000" spc="35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mathematics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18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.1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1.7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associated</a:t>
                      </a:r>
                      <a:r>
                        <a:rPr sz="1000" spc="5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with</a:t>
                      </a:r>
                      <a:r>
                        <a:rPr sz="1000" spc="55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the</a:t>
                      </a:r>
                      <a:r>
                        <a:rPr sz="1000" spc="5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Project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Names</a:t>
                      </a:r>
                      <a:r>
                        <a:rPr sz="1000" spc="5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of</a:t>
                      </a:r>
                      <a:r>
                        <a:rPr sz="1000" spc="55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Conferences</a:t>
                      </a:r>
                      <a:r>
                        <a:rPr sz="1000" spc="5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 </a:t>
                      </a:r>
                      <a:r>
                        <a:rPr sz="1000" spc="-5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/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18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.2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1.8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Journals</a:t>
                      </a:r>
                      <a:r>
                        <a:rPr sz="1000" spc="229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where</a:t>
                      </a:r>
                      <a:r>
                        <a:rPr sz="1000" spc="235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papers</a:t>
                      </a:r>
                      <a:r>
                        <a:rPr sz="1000" spc="229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can</a:t>
                      </a:r>
                      <a:r>
                        <a:rPr sz="1000" spc="229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be</a:t>
                      </a:r>
                      <a:r>
                        <a:rPr sz="1000" spc="229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published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Review</a:t>
                      </a:r>
                      <a:r>
                        <a:rPr sz="1000" spc="229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of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18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.2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1.9</a:t>
                      </a:r>
                      <a:r>
                        <a:rPr sz="10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Conference/Journal</a:t>
                      </a:r>
                      <a:r>
                        <a:rPr sz="1000" spc="-5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Papers</a:t>
                      </a:r>
                      <a:r>
                        <a:rPr sz="1000" spc="-5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supporting</a:t>
                      </a:r>
                      <a:r>
                        <a:rPr sz="1000" spc="-5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Project idea</a:t>
                      </a:r>
                      <a:r>
                        <a:rPr sz="1000" spc="-5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5" action="ppaction://hlinksldjump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18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.2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  <a:hlinkClick r:id="rId6" action="ppaction://hlinksldjump"/>
                        </a:rPr>
                        <a:t>1.10</a:t>
                      </a:r>
                      <a:r>
                        <a:rPr sz="1000" spc="-5" dirty="0">
                          <a:latin typeface="Times New Roman"/>
                          <a:cs typeface="Times New Roman"/>
                          <a:hlinkClick r:id="rId6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6" action="ppaction://hlinksldjump"/>
                        </a:rPr>
                        <a:t>Plan</a:t>
                      </a:r>
                      <a:r>
                        <a:rPr sz="1000" spc="-10" dirty="0">
                          <a:latin typeface="Times New Roman"/>
                          <a:cs typeface="Times New Roman"/>
                          <a:hlinkClick r:id="rId6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6" action="ppaction://hlinksldjump"/>
                        </a:rPr>
                        <a:t>of</a:t>
                      </a:r>
                      <a:r>
                        <a:rPr sz="1000" spc="-5" dirty="0">
                          <a:latin typeface="Times New Roman"/>
                          <a:cs typeface="Times New Roman"/>
                          <a:hlinkClick r:id="rId6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6" action="ppaction://hlinksldjump"/>
                        </a:rPr>
                        <a:t>Project</a:t>
                      </a:r>
                      <a:r>
                        <a:rPr sz="1000" spc="-5" dirty="0">
                          <a:latin typeface="Times New Roman"/>
                          <a:cs typeface="Times New Roman"/>
                          <a:hlinkClick r:id="rId6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6" action="ppaction://hlinksldjump"/>
                        </a:rPr>
                        <a:t>Execution:-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18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.5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7495"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000" b="1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2</a:t>
                      </a:r>
                      <a:r>
                        <a:rPr sz="1000" b="1" spc="-5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TECHNICALKEYWORDS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971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0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97155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618490" algn="l"/>
                        </a:tabLst>
                      </a:pPr>
                      <a:r>
                        <a:rPr sz="1000" spc="-25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2.1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Area</a:t>
                      </a:r>
                      <a:r>
                        <a:rPr sz="1000" spc="-5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of</a:t>
                      </a:r>
                      <a:r>
                        <a:rPr sz="1000" spc="-5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project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.6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45"/>
                        </a:spcBef>
                        <a:tabLst>
                          <a:tab pos="618490" algn="l"/>
                        </a:tabLst>
                      </a:pPr>
                      <a:r>
                        <a:rPr sz="1000" spc="-25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2.2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Technical</a:t>
                      </a:r>
                      <a:r>
                        <a:rPr sz="1000" spc="-10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Keywords</a:t>
                      </a:r>
                      <a:r>
                        <a:rPr sz="1000" spc="-10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(As</a:t>
                      </a:r>
                      <a:r>
                        <a:rPr sz="1000" spc="-5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per</a:t>
                      </a:r>
                      <a:r>
                        <a:rPr sz="1000" spc="-10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ACM</a:t>
                      </a:r>
                      <a:r>
                        <a:rPr sz="1000" spc="-5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  <a:hlinkClick r:id="rId7" action="ppaction://hlinksldjump"/>
                        </a:rPr>
                        <a:t>Keywords)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.6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000" b="1" dirty="0">
                          <a:latin typeface="Times New Roman"/>
                          <a:cs typeface="Times New Roman"/>
                          <a:hlinkClick r:id="rId8" action="ppaction://hlinksldjump"/>
                        </a:rPr>
                        <a:t>3</a:t>
                      </a:r>
                      <a:r>
                        <a:rPr sz="1000" b="1" spc="-5" dirty="0">
                          <a:latin typeface="Times New Roman"/>
                          <a:cs typeface="Times New Roman"/>
                          <a:hlinkClick r:id="rId8" action="ppaction://hlinksldjump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  <a:hlinkClick r:id="rId8" action="ppaction://hlinksldjump"/>
                        </a:rPr>
                        <a:t>INTRODUCTION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0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1293495" algn="l"/>
                          <a:tab pos="2233295" algn="l"/>
                        </a:tabLst>
                      </a:pPr>
                      <a:r>
                        <a:rPr sz="1000" spc="-25" dirty="0">
                          <a:latin typeface="Times New Roman"/>
                          <a:cs typeface="Times New Roman"/>
                          <a:hlinkClick r:id="rId8" action="ppaction://hlinksldjump"/>
                        </a:rPr>
                        <a:t>3.1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00" spc="-25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3.2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00" spc="-340" dirty="0">
                          <a:latin typeface="Times New Roman"/>
                          <a:cs typeface="Times New Roman"/>
                          <a:hlinkClick r:id="rId8" action="ppaction://hlinksldjump"/>
                        </a:rPr>
                        <a:t>P</a:t>
                      </a:r>
                      <a:r>
                        <a:rPr sz="1000" spc="-550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M</a:t>
                      </a:r>
                      <a:r>
                        <a:rPr sz="1000" spc="5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r</a:t>
                      </a:r>
                      <a:r>
                        <a:rPr sz="1000" b="1" spc="5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o</a:t>
                      </a:r>
                      <a:r>
                        <a:rPr sz="1000" spc="-65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j</a:t>
                      </a:r>
                      <a:r>
                        <a:rPr sz="1000" spc="-204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t</a:t>
                      </a:r>
                      <a:r>
                        <a:rPr sz="1000" spc="-235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e</a:t>
                      </a:r>
                      <a:r>
                        <a:rPr sz="1000" spc="-40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i</a:t>
                      </a:r>
                      <a:r>
                        <a:rPr sz="1000" spc="-405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c</a:t>
                      </a:r>
                      <a:r>
                        <a:rPr sz="1000" spc="-105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v</a:t>
                      </a:r>
                      <a:r>
                        <a:rPr sz="1000" spc="-175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t</a:t>
                      </a:r>
                      <a:r>
                        <a:rPr sz="1000" spc="-20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a</a:t>
                      </a:r>
                      <a:r>
                        <a:rPr sz="1000" spc="-325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I</a:t>
                      </a:r>
                      <a:r>
                        <a:rPr sz="1000" spc="5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t</a:t>
                      </a:r>
                      <a:r>
                        <a:rPr sz="1000" spc="-235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i</a:t>
                      </a:r>
                      <a:r>
                        <a:rPr sz="1000" spc="-260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d</a:t>
                      </a:r>
                      <a:r>
                        <a:rPr sz="1000" spc="-240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o</a:t>
                      </a:r>
                      <a:r>
                        <a:rPr sz="1000" spc="-204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e</a:t>
                      </a:r>
                      <a:r>
                        <a:rPr sz="1000" spc="-295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n</a:t>
                      </a:r>
                      <a:r>
                        <a:rPr sz="1000" spc="5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a</a:t>
                      </a:r>
                      <a:r>
                        <a:rPr sz="1000" b="1" spc="5" dirty="0">
                          <a:latin typeface="Times New Roman"/>
                          <a:cs typeface="Times New Roman"/>
                        </a:rPr>
                        <a:t>................................................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.7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LiteratureSurvey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............................................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.8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327025">
                        <a:lnSpc>
                          <a:spcPts val="1115"/>
                        </a:lnSpc>
                        <a:spcBef>
                          <a:spcPts val="135"/>
                        </a:spcBef>
                        <a:tabLst>
                          <a:tab pos="4357370" algn="l"/>
                        </a:tabLst>
                      </a:pPr>
                      <a:r>
                        <a:rPr sz="1000" spc="-25" dirty="0">
                          <a:latin typeface="Times New Roman"/>
                          <a:cs typeface="Times New Roman"/>
                          <a:hlinkClick r:id="rId9" action="ppaction://hlinksldjump"/>
                        </a:rPr>
                        <a:t>3.3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.8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06923" y="7985714"/>
            <a:ext cx="4912995" cy="7823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01295" indent="-188595">
              <a:lnSpc>
                <a:spcPct val="100000"/>
              </a:lnSpc>
              <a:spcBef>
                <a:spcPts val="420"/>
              </a:spcBef>
              <a:buAutoNum type="arabicPlain" startAt="5"/>
              <a:tabLst>
                <a:tab pos="201295" algn="l"/>
              </a:tabLst>
            </a:pPr>
            <a:r>
              <a:rPr sz="1000" b="1" dirty="0">
                <a:latin typeface="Times New Roman"/>
                <a:cs typeface="Times New Roman"/>
                <a:hlinkClick r:id="rId10" action="ppaction://hlinksldjump"/>
              </a:rPr>
              <a:t>Project</a:t>
            </a:r>
            <a:r>
              <a:rPr sz="1000" b="1" spc="-55" dirty="0">
                <a:latin typeface="Times New Roman"/>
                <a:cs typeface="Times New Roman"/>
                <a:hlinkClick r:id="rId10" action="ppaction://hlinksldjump"/>
              </a:rPr>
              <a:t> </a:t>
            </a:r>
            <a:r>
              <a:rPr sz="1000" b="1" spc="-20" dirty="0">
                <a:latin typeface="Times New Roman"/>
                <a:cs typeface="Times New Roman"/>
                <a:hlinkClick r:id="rId10" action="ppaction://hlinksldjump"/>
              </a:rPr>
              <a:t>Plan</a:t>
            </a:r>
            <a:endParaRPr sz="1000">
              <a:latin typeface="Times New Roman"/>
              <a:cs typeface="Times New Roman"/>
            </a:endParaRPr>
          </a:p>
          <a:p>
            <a:pPr marL="330835" lvl="1" indent="-19177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330835" algn="l"/>
              </a:tabLst>
            </a:pPr>
            <a:r>
              <a:rPr sz="1000" spc="-10" dirty="0">
                <a:latin typeface="Times New Roman"/>
                <a:cs typeface="Times New Roman"/>
                <a:hlinkClick r:id="rId10" action="ppaction://hlinksldjump"/>
              </a:rPr>
              <a:t>5.</a:t>
            </a:r>
            <a:r>
              <a:rPr sz="1000" spc="-484" dirty="0">
                <a:latin typeface="Times New Roman"/>
                <a:cs typeface="Times New Roman"/>
                <a:hlinkClick r:id="rId10" action="ppaction://hlinksldjump"/>
              </a:rPr>
              <a:t>1</a:t>
            </a:r>
            <a:r>
              <a:rPr sz="1000" spc="-100" dirty="0">
                <a:latin typeface="Times New Roman"/>
                <a:cs typeface="Times New Roman"/>
                <a:hlinkClick r:id="rId10" action="ppaction://hlinksldjump"/>
              </a:rPr>
              <a:t>P</a:t>
            </a:r>
            <a:r>
              <a:rPr sz="1000" spc="-180" dirty="0">
                <a:latin typeface="Times New Roman"/>
                <a:cs typeface="Times New Roman"/>
                <a:hlinkClick r:id="rId10" action="ppaction://hlinksldjump"/>
              </a:rPr>
              <a:t>.</a:t>
            </a:r>
            <a:r>
              <a:rPr sz="1000" spc="-185" dirty="0">
                <a:latin typeface="Times New Roman"/>
                <a:cs typeface="Times New Roman"/>
                <a:hlinkClick r:id="rId10" action="ppaction://hlinksldjump"/>
              </a:rPr>
              <a:t>r</a:t>
            </a:r>
            <a:r>
              <a:rPr sz="1000" spc="-345" dirty="0">
                <a:latin typeface="Times New Roman"/>
                <a:cs typeface="Times New Roman"/>
                <a:hlinkClick r:id="rId10" action="ppaction://hlinksldjump"/>
              </a:rPr>
              <a:t>1</a:t>
            </a:r>
            <a:r>
              <a:rPr sz="1000" spc="-10" dirty="0">
                <a:latin typeface="Times New Roman"/>
                <a:cs typeface="Times New Roman"/>
                <a:hlinkClick r:id="rId10" action="ppaction://hlinksldjump"/>
              </a:rPr>
              <a:t>o</a:t>
            </a:r>
            <a:r>
              <a:rPr sz="1000" spc="-195" dirty="0">
                <a:latin typeface="Times New Roman"/>
                <a:cs typeface="Times New Roman"/>
                <a:hlinkClick r:id="rId10" action="ppaction://hlinksldjump"/>
              </a:rPr>
              <a:t>j</a:t>
            </a:r>
            <a:r>
              <a:rPr sz="1000" spc="-330" dirty="0">
                <a:latin typeface="Times New Roman"/>
                <a:cs typeface="Times New Roman"/>
                <a:hlinkClick r:id="rId10" action="ppaction://hlinksldjump"/>
              </a:rPr>
              <a:t>5</a:t>
            </a:r>
            <a:r>
              <a:rPr sz="1000" spc="-145" dirty="0">
                <a:latin typeface="Times New Roman"/>
                <a:cs typeface="Times New Roman"/>
                <a:hlinkClick r:id="rId10" action="ppaction://hlinksldjump"/>
              </a:rPr>
              <a:t>e</a:t>
            </a:r>
            <a:r>
              <a:rPr sz="1000" spc="-140" dirty="0">
                <a:latin typeface="Times New Roman"/>
                <a:cs typeface="Times New Roman"/>
                <a:hlinkClick r:id="rId10" action="ppaction://hlinksldjump"/>
              </a:rPr>
              <a:t>.</a:t>
            </a:r>
            <a:r>
              <a:rPr sz="1000" spc="-340" dirty="0">
                <a:latin typeface="Times New Roman"/>
                <a:cs typeface="Times New Roman"/>
                <a:hlinkClick r:id="rId10" action="ppaction://hlinksldjump"/>
              </a:rPr>
              <a:t>c</a:t>
            </a:r>
            <a:r>
              <a:rPr sz="1000" spc="-195" dirty="0">
                <a:latin typeface="Times New Roman"/>
                <a:cs typeface="Times New Roman"/>
                <a:hlinkClick r:id="rId10" action="ppaction://hlinksldjump"/>
              </a:rPr>
              <a:t>1</a:t>
            </a:r>
            <a:r>
              <a:rPr sz="1000" spc="-110" dirty="0">
                <a:latin typeface="Times New Roman"/>
                <a:cs typeface="Times New Roman"/>
                <a:hlinkClick r:id="rId10" action="ppaction://hlinksldjump"/>
              </a:rPr>
              <a:t>t</a:t>
            </a:r>
            <a:r>
              <a:rPr sz="1000" spc="-10" dirty="0">
                <a:latin typeface="Times New Roman"/>
                <a:cs typeface="Times New Roman"/>
                <a:hlinkClick r:id="rId10" action="ppaction://hlinksldjump"/>
              </a:rPr>
              <a:t>.</a:t>
            </a:r>
            <a:r>
              <a:rPr sz="1000" spc="-415" dirty="0">
                <a:latin typeface="Times New Roman"/>
                <a:cs typeface="Times New Roman"/>
                <a:hlinkClick r:id="rId10" action="ppaction://hlinksldjump"/>
              </a:rPr>
              <a:t>2</a:t>
            </a:r>
            <a:r>
              <a:rPr sz="1000" spc="-10" dirty="0">
                <a:latin typeface="Times New Roman"/>
                <a:cs typeface="Times New Roman"/>
                <a:hlinkClick r:id="rId10" action="ppaction://hlinksldjump"/>
              </a:rPr>
              <a:t>E</a:t>
            </a:r>
            <a:r>
              <a:rPr sz="1000" spc="-345" dirty="0">
                <a:latin typeface="Times New Roman"/>
                <a:cs typeface="Times New Roman"/>
                <a:hlinkClick r:id="rId10" action="ppaction://hlinksldjump"/>
              </a:rPr>
              <a:t>s</a:t>
            </a:r>
            <a:r>
              <a:rPr sz="1000" spc="-185" dirty="0">
                <a:latin typeface="Times New Roman"/>
                <a:cs typeface="Times New Roman"/>
                <a:hlinkClick r:id="rId11" action="ppaction://hlinksldjump"/>
              </a:rPr>
              <a:t>5</a:t>
            </a:r>
            <a:r>
              <a:rPr sz="1000" spc="-120" dirty="0">
                <a:latin typeface="Times New Roman"/>
                <a:cs typeface="Times New Roman"/>
                <a:hlinkClick r:id="rId11" action="ppaction://hlinksldjump"/>
              </a:rPr>
              <a:t>t</a:t>
            </a:r>
            <a:r>
              <a:rPr sz="1000" spc="-155" dirty="0">
                <a:latin typeface="Times New Roman"/>
                <a:cs typeface="Times New Roman"/>
                <a:hlinkClick r:id="rId11" action="ppaction://hlinksldjump"/>
              </a:rPr>
              <a:t>.</a:t>
            </a:r>
            <a:r>
              <a:rPr sz="1000" spc="-150" dirty="0">
                <a:latin typeface="Times New Roman"/>
                <a:cs typeface="Times New Roman"/>
                <a:hlinkClick r:id="rId11" action="ppaction://hlinksldjump"/>
              </a:rPr>
              <a:t>i</a:t>
            </a:r>
            <a:r>
              <a:rPr sz="1000" spc="-375" dirty="0">
                <a:latin typeface="Times New Roman"/>
                <a:cs typeface="Times New Roman"/>
                <a:hlinkClick r:id="rId11" action="ppaction://hlinksldjump"/>
              </a:rPr>
              <a:t>2</a:t>
            </a:r>
            <a:r>
              <a:rPr sz="1000" spc="-160" dirty="0">
                <a:latin typeface="Times New Roman"/>
                <a:cs typeface="Times New Roman"/>
                <a:hlinkClick r:id="rId11" action="ppaction://hlinksldjump"/>
              </a:rPr>
              <a:t>m</a:t>
            </a:r>
            <a:r>
              <a:rPr sz="1000" spc="-525" dirty="0">
                <a:latin typeface="Times New Roman"/>
                <a:cs typeface="Times New Roman"/>
                <a:hlinkClick r:id="rId11" action="ppaction://hlinksldjump"/>
              </a:rPr>
              <a:t>R</a:t>
            </a:r>
            <a:r>
              <a:rPr sz="1000" spc="-10" dirty="0">
                <a:latin typeface="Times New Roman"/>
                <a:cs typeface="Times New Roman"/>
                <a:hlinkClick r:id="rId11" action="ppaction://hlinksldjump"/>
              </a:rPr>
              <a:t>a</a:t>
            </a:r>
            <a:r>
              <a:rPr sz="1000" spc="-215" dirty="0">
                <a:latin typeface="Times New Roman"/>
                <a:cs typeface="Times New Roman"/>
                <a:hlinkClick r:id="rId11" action="ppaction://hlinksldjump"/>
              </a:rPr>
              <a:t>t</a:t>
            </a:r>
            <a:r>
              <a:rPr sz="1000" spc="-85" dirty="0">
                <a:latin typeface="Times New Roman"/>
                <a:cs typeface="Times New Roman"/>
                <a:hlinkClick r:id="rId11" action="ppaction://hlinksldjump"/>
              </a:rPr>
              <a:t>i</a:t>
            </a:r>
            <a:r>
              <a:rPr sz="1000" spc="-395" dirty="0">
                <a:latin typeface="Times New Roman"/>
                <a:cs typeface="Times New Roman"/>
                <a:hlinkClick r:id="rId11" action="ppaction://hlinksldjump"/>
              </a:rPr>
              <a:t>e</a:t>
            </a:r>
            <a:r>
              <a:rPr sz="1000" spc="-30" dirty="0">
                <a:latin typeface="Times New Roman"/>
                <a:cs typeface="Times New Roman"/>
                <a:hlinkClick r:id="rId11" action="ppaction://hlinksldjump"/>
              </a:rPr>
              <a:t>s</a:t>
            </a:r>
            <a:r>
              <a:rPr sz="1000" spc="-385" dirty="0">
                <a:latin typeface="Times New Roman"/>
                <a:cs typeface="Times New Roman"/>
                <a:hlinkClick r:id="rId11" action="ppaction://hlinksldjump"/>
              </a:rPr>
              <a:t>s</a:t>
            </a:r>
            <a:r>
              <a:rPr sz="1000" spc="-10" dirty="0">
                <a:latin typeface="Times New Roman"/>
                <a:cs typeface="Times New Roman"/>
                <a:hlinkClick r:id="rId11" action="ppaction://hlinksldjump"/>
              </a:rPr>
              <a:t>k</a:t>
            </a:r>
            <a:r>
              <a:rPr sz="1000" spc="-120" dirty="0">
                <a:latin typeface="Times New Roman"/>
                <a:cs typeface="Times New Roman"/>
                <a:hlinkClick r:id="rId11" action="ppaction://hlinksldjump"/>
              </a:rPr>
              <a:t> .</a:t>
            </a:r>
            <a:r>
              <a:rPr sz="1000" spc="-545" dirty="0">
                <a:latin typeface="Times New Roman"/>
                <a:cs typeface="Times New Roman"/>
                <a:hlinkClick r:id="rId11" action="ppaction://hlinksldjump"/>
              </a:rPr>
              <a:t>M</a:t>
            </a:r>
            <a:r>
              <a:rPr sz="1000" spc="-5" dirty="0">
                <a:latin typeface="Times New Roman"/>
                <a:cs typeface="Times New Roman"/>
                <a:hlinkClick r:id="rId11" action="ppaction://hlinksldjump"/>
              </a:rPr>
              <a:t>.</a:t>
            </a:r>
            <a:r>
              <a:rPr sz="1000" spc="20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180" dirty="0">
                <a:latin typeface="Times New Roman"/>
                <a:cs typeface="Times New Roman"/>
                <a:hlinkClick r:id="rId11" action="ppaction://hlinksldjump"/>
              </a:rPr>
              <a:t>.an.</a:t>
            </a:r>
            <a:r>
              <a:rPr sz="1000" spc="-1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220" dirty="0">
                <a:latin typeface="Times New Roman"/>
                <a:cs typeface="Times New Roman"/>
                <a:hlinkClick r:id="rId11" action="ppaction://hlinksldjump"/>
              </a:rPr>
              <a:t>a.</a:t>
            </a:r>
            <a:r>
              <a:rPr sz="1000" spc="-70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220" dirty="0">
                <a:latin typeface="Times New Roman"/>
                <a:cs typeface="Times New Roman"/>
                <a:hlinkClick r:id="rId11" action="ppaction://hlinksldjump"/>
              </a:rPr>
              <a:t>g.</a:t>
            </a:r>
            <a:r>
              <a:rPr sz="1000" spc="-7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195" dirty="0">
                <a:latin typeface="Times New Roman"/>
                <a:cs typeface="Times New Roman"/>
                <a:hlinkClick r:id="rId11" action="ppaction://hlinksldjump"/>
              </a:rPr>
              <a:t>e.</a:t>
            </a:r>
            <a:r>
              <a:rPr sz="1000" spc="-140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645" dirty="0">
                <a:latin typeface="Times New Roman"/>
                <a:cs typeface="Times New Roman"/>
                <a:hlinkClick r:id="rId11" action="ppaction://hlinksldjump"/>
              </a:rPr>
              <a:t>m</a:t>
            </a:r>
            <a:r>
              <a:rPr sz="1000" spc="-10" dirty="0">
                <a:latin typeface="Times New Roman"/>
                <a:cs typeface="Times New Roman"/>
                <a:hlinkClick r:id="rId11" action="ppaction://hlinksldjump"/>
              </a:rPr>
              <a:t>.</a:t>
            </a:r>
            <a:r>
              <a:rPr sz="1000" spc="2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114" dirty="0">
                <a:latin typeface="Times New Roman"/>
                <a:cs typeface="Times New Roman"/>
                <a:hlinkClick r:id="rId11" action="ppaction://hlinksldjump"/>
              </a:rPr>
              <a:t>.e.n.t</a:t>
            </a:r>
            <a:r>
              <a:rPr sz="1000" spc="-9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170" dirty="0">
                <a:latin typeface="Times New Roman"/>
                <a:cs typeface="Times New Roman"/>
                <a:hlinkClick r:id="rId11" action="ppaction://hlinksldjump"/>
              </a:rPr>
              <a:t>.w.</a:t>
            </a:r>
            <a:r>
              <a:rPr sz="1000" spc="-160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140" dirty="0">
                <a:latin typeface="Times New Roman"/>
                <a:cs typeface="Times New Roman"/>
                <a:hlinkClick r:id="rId11" action="ppaction://hlinksldjump"/>
              </a:rPr>
              <a:t>i.th.</a:t>
            </a:r>
            <a:r>
              <a:rPr sz="1000" spc="2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145" dirty="0">
                <a:latin typeface="Times New Roman"/>
                <a:cs typeface="Times New Roman"/>
                <a:hlinkClick r:id="rId11" action="ppaction://hlinksldjump"/>
              </a:rPr>
              <a:t>.re.</a:t>
            </a:r>
            <a:r>
              <a:rPr sz="1000" spc="-5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170" dirty="0">
                <a:latin typeface="Times New Roman"/>
                <a:cs typeface="Times New Roman"/>
                <a:hlinkClick r:id="rId11" action="ppaction://hlinksldjump"/>
              </a:rPr>
              <a:t>s.</a:t>
            </a:r>
            <a:r>
              <a:rPr sz="1000" spc="-17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170" dirty="0">
                <a:latin typeface="Times New Roman"/>
                <a:cs typeface="Times New Roman"/>
                <a:hlinkClick r:id="rId11" action="ppaction://hlinksldjump"/>
              </a:rPr>
              <a:t>p.</a:t>
            </a:r>
            <a:r>
              <a:rPr sz="1000" spc="-17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280" dirty="0">
                <a:latin typeface="Times New Roman"/>
                <a:cs typeface="Times New Roman"/>
                <a:hlinkClick r:id="rId11" action="ppaction://hlinksldjump"/>
              </a:rPr>
              <a:t>e</a:t>
            </a:r>
            <a:r>
              <a:rPr sz="1000" spc="5" dirty="0">
                <a:latin typeface="Times New Roman"/>
                <a:cs typeface="Times New Roman"/>
                <a:hlinkClick r:id="rId11" action="ppaction://hlinksldjump"/>
              </a:rPr>
              <a:t>.</a:t>
            </a:r>
            <a:r>
              <a:rPr sz="1000" spc="-220" dirty="0">
                <a:latin typeface="Times New Roman"/>
                <a:cs typeface="Times New Roman"/>
                <a:hlinkClick r:id="rId11" action="ppaction://hlinksldjump"/>
              </a:rPr>
              <a:t>c</a:t>
            </a:r>
            <a:r>
              <a:rPr sz="1000" spc="-55" dirty="0">
                <a:latin typeface="Times New Roman"/>
                <a:cs typeface="Times New Roman"/>
                <a:hlinkClick r:id="rId11" action="ppaction://hlinksldjump"/>
              </a:rPr>
              <a:t>.</a:t>
            </a:r>
            <a:r>
              <a:rPr sz="1000" spc="10" dirty="0">
                <a:latin typeface="Times New Roman"/>
                <a:cs typeface="Times New Roman"/>
                <a:hlinkClick r:id="rId11" action="ppaction://hlinksldjump"/>
              </a:rPr>
              <a:t>t</a:t>
            </a:r>
            <a:r>
              <a:rPr sz="1000" spc="-15" dirty="0">
                <a:latin typeface="Times New Roman"/>
                <a:cs typeface="Times New Roman"/>
                <a:hlinkClick r:id="rId11" action="ppaction://hlinksldjump"/>
              </a:rPr>
              <a:t>.</a:t>
            </a:r>
            <a:r>
              <a:rPr sz="1000" spc="-35" dirty="0">
                <a:latin typeface="Times New Roman"/>
                <a:cs typeface="Times New Roman"/>
                <a:hlinkClick r:id="rId11" action="ppaction://hlinksldjump"/>
              </a:rPr>
              <a:t>t</a:t>
            </a:r>
            <a:r>
              <a:rPr sz="1000" spc="-235" dirty="0">
                <a:latin typeface="Times New Roman"/>
                <a:cs typeface="Times New Roman"/>
                <a:hlinkClick r:id="rId11" action="ppaction://hlinksldjump"/>
              </a:rPr>
              <a:t>.</a:t>
            </a:r>
            <a:r>
              <a:rPr sz="1000" spc="-40" dirty="0">
                <a:latin typeface="Times New Roman"/>
                <a:cs typeface="Times New Roman"/>
                <a:hlinkClick r:id="rId11" action="ppaction://hlinksldjump"/>
              </a:rPr>
              <a:t>o</a:t>
            </a:r>
            <a:r>
              <a:rPr sz="1000" spc="35" dirty="0">
                <a:latin typeface="Times New Roman"/>
                <a:cs typeface="Times New Roman"/>
                <a:hlinkClick r:id="rId11" action="ppaction://hlinksldjump"/>
              </a:rPr>
              <a:t>.</a:t>
            </a:r>
            <a:r>
              <a:rPr sz="1000" spc="-530" dirty="0">
                <a:latin typeface="Times New Roman"/>
                <a:cs typeface="Times New Roman"/>
                <a:hlinkClick r:id="rId11" action="ppaction://hlinksldjump"/>
              </a:rPr>
              <a:t>N</a:t>
            </a:r>
            <a:r>
              <a:rPr sz="1000" spc="-5" dirty="0">
                <a:latin typeface="Times New Roman"/>
                <a:cs typeface="Times New Roman"/>
                <a:hlinkClick r:id="rId11" action="ppaction://hlinksldjump"/>
              </a:rPr>
              <a:t>.</a:t>
            </a:r>
            <a:r>
              <a:rPr sz="1000" spc="20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105" dirty="0">
                <a:latin typeface="Times New Roman"/>
                <a:cs typeface="Times New Roman"/>
                <a:hlinkClick r:id="rId11" action="ppaction://hlinksldjump"/>
              </a:rPr>
              <a:t>.P.</a:t>
            </a:r>
            <a:r>
              <a:rPr sz="1000" spc="-16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565" dirty="0">
                <a:latin typeface="Times New Roman"/>
                <a:cs typeface="Times New Roman"/>
                <a:hlinkClick r:id="rId11" action="ppaction://hlinksldjump"/>
              </a:rPr>
              <a:t>H</a:t>
            </a:r>
            <a:r>
              <a:rPr sz="1000" dirty="0">
                <a:latin typeface="Times New Roman"/>
                <a:cs typeface="Times New Roman"/>
                <a:hlinkClick r:id="rId11" action="ppaction://hlinksldjump"/>
              </a:rPr>
              <a:t>.</a:t>
            </a:r>
            <a:r>
              <a:rPr sz="1000" spc="20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145" dirty="0">
                <a:latin typeface="Times New Roman"/>
                <a:cs typeface="Times New Roman"/>
                <a:hlinkClick r:id="rId11" action="ppaction://hlinksldjump"/>
              </a:rPr>
              <a:t>.ar.</a:t>
            </a:r>
            <a:r>
              <a:rPr sz="1000" spc="-16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175" dirty="0">
                <a:latin typeface="Times New Roman"/>
                <a:cs typeface="Times New Roman"/>
                <a:hlinkClick r:id="rId11" action="ppaction://hlinksldjump"/>
              </a:rPr>
              <a:t>d.</a:t>
            </a:r>
            <a:r>
              <a:rPr sz="1000" spc="20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155" dirty="0">
                <a:latin typeface="Times New Roman"/>
                <a:cs typeface="Times New Roman"/>
                <a:hlinkClick r:id="rId11" action="ppaction://hlinksldjump"/>
              </a:rPr>
              <a:t>.c.an.</a:t>
            </a:r>
            <a:r>
              <a:rPr sz="1000" spc="-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225" dirty="0">
                <a:latin typeface="Times New Roman"/>
                <a:cs typeface="Times New Roman"/>
                <a:hlinkClick r:id="rId11" action="ppaction://hlinksldjump"/>
              </a:rPr>
              <a:t>a.</a:t>
            </a:r>
            <a:r>
              <a:rPr sz="1000" spc="-70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114" dirty="0">
                <a:latin typeface="Times New Roman"/>
                <a:cs typeface="Times New Roman"/>
                <a:hlinkClick r:id="rId11" action="ppaction://hlinksldjump"/>
              </a:rPr>
              <a:t>l.y.s.is.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.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.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.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.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.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.</a:t>
            </a:r>
            <a:r>
              <a:rPr sz="1000" b="1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R="780415" algn="r">
              <a:lnSpc>
                <a:spcPct val="100000"/>
              </a:lnSpc>
              <a:spcBef>
                <a:spcPts val="290"/>
              </a:spcBef>
            </a:pPr>
            <a:r>
              <a:rPr sz="1500" baseline="2777" dirty="0">
                <a:latin typeface="Times New Roman"/>
                <a:cs typeface="Times New Roman"/>
              </a:rPr>
              <a:t>.</a:t>
            </a:r>
            <a:r>
              <a:rPr sz="1500" spc="-7" baseline="2777" dirty="0">
                <a:latin typeface="Times New Roman"/>
                <a:cs typeface="Times New Roman"/>
              </a:rPr>
              <a:t> </a:t>
            </a:r>
            <a:r>
              <a:rPr sz="1500" baseline="2777" dirty="0">
                <a:latin typeface="Times New Roman"/>
                <a:cs typeface="Times New Roman"/>
              </a:rPr>
              <a:t>.</a:t>
            </a:r>
            <a:r>
              <a:rPr sz="1500" spc="-7" baseline="2777" dirty="0">
                <a:latin typeface="Times New Roman"/>
                <a:cs typeface="Times New Roman"/>
              </a:rPr>
              <a:t> </a:t>
            </a:r>
            <a:r>
              <a:rPr sz="1500" baseline="2777" dirty="0">
                <a:latin typeface="Times New Roman"/>
                <a:cs typeface="Times New Roman"/>
              </a:rPr>
              <a:t>. .</a:t>
            </a:r>
            <a:r>
              <a:rPr sz="1500" spc="-7" baseline="2777" dirty="0">
                <a:latin typeface="Times New Roman"/>
                <a:cs typeface="Times New Roman"/>
              </a:rPr>
              <a:t> </a:t>
            </a:r>
            <a:r>
              <a:rPr sz="1500" baseline="2777" dirty="0">
                <a:latin typeface="Times New Roman"/>
                <a:cs typeface="Times New Roman"/>
              </a:rPr>
              <a:t>. .</a:t>
            </a:r>
            <a:r>
              <a:rPr sz="1500" spc="-7" baseline="2777" dirty="0">
                <a:latin typeface="Times New Roman"/>
                <a:cs typeface="Times New Roman"/>
              </a:rPr>
              <a:t> </a:t>
            </a:r>
            <a:r>
              <a:rPr sz="1500" spc="-225" baseline="2777" dirty="0">
                <a:latin typeface="Times New Roman"/>
                <a:cs typeface="Times New Roman"/>
              </a:rPr>
              <a:t>.</a:t>
            </a:r>
            <a:r>
              <a:rPr sz="1000" spc="-150" dirty="0">
                <a:latin typeface="Times New Roman"/>
                <a:cs typeface="Times New Roman"/>
                <a:hlinkClick r:id="rId10" action="ppaction://hlinksldjump"/>
              </a:rPr>
              <a:t>R</a:t>
            </a:r>
            <a:r>
              <a:rPr sz="1500" spc="-225" baseline="2777" dirty="0">
                <a:latin typeface="Times New Roman"/>
                <a:cs typeface="Times New Roman"/>
                <a:hlinkClick r:id="rId10" action="ppaction://hlinksldjump"/>
              </a:rPr>
              <a:t>. </a:t>
            </a:r>
            <a:r>
              <a:rPr sz="1000" spc="-30" dirty="0">
                <a:latin typeface="Times New Roman"/>
                <a:cs typeface="Times New Roman"/>
                <a:hlinkClick r:id="rId10" action="ppaction://hlinksldjump"/>
              </a:rPr>
              <a:t>e</a:t>
            </a:r>
            <a:r>
              <a:rPr sz="1500" spc="-44" baseline="2777" dirty="0">
                <a:latin typeface="Times New Roman"/>
                <a:cs typeface="Times New Roman"/>
                <a:hlinkClick r:id="rId10" action="ppaction://hlinksldjump"/>
              </a:rPr>
              <a:t>.</a:t>
            </a:r>
            <a:r>
              <a:rPr sz="1000" spc="-30" dirty="0">
                <a:latin typeface="Times New Roman"/>
                <a:cs typeface="Times New Roman"/>
                <a:hlinkClick r:id="rId10" action="ppaction://hlinksldjump"/>
              </a:rPr>
              <a:t>conciled</a:t>
            </a:r>
            <a:r>
              <a:rPr sz="1000" dirty="0">
                <a:latin typeface="Times New Roman"/>
                <a:cs typeface="Times New Roman"/>
                <a:hlinkClick r:id="rId10" action="ppaction://hlinksldjump"/>
              </a:rPr>
              <a:t> Estimates</a:t>
            </a:r>
            <a:r>
              <a:rPr sz="1000" spc="-5" dirty="0">
                <a:latin typeface="Times New Roman"/>
                <a:cs typeface="Times New Roman"/>
                <a:hlinkClick r:id="rId10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0" action="ppaction://hlinksldjump"/>
              </a:rPr>
              <a:t>.</a:t>
            </a:r>
            <a:r>
              <a:rPr sz="1000" dirty="0">
                <a:latin typeface="Times New Roman"/>
                <a:cs typeface="Times New Roman"/>
              </a:rPr>
              <a:t>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R="836294" algn="r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latin typeface="Times New Roman"/>
                <a:cs typeface="Times New Roman"/>
                <a:hlinkClick r:id="rId10" action="ppaction://hlinksldjump"/>
              </a:rPr>
              <a:t>Project</a:t>
            </a:r>
            <a:r>
              <a:rPr sz="1000" spc="-5" dirty="0">
                <a:latin typeface="Times New Roman"/>
                <a:cs typeface="Times New Roman"/>
                <a:hlinkClick r:id="rId10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0" action="ppaction://hlinksldjump"/>
              </a:rPr>
              <a:t>Resources</a:t>
            </a:r>
            <a:r>
              <a:rPr sz="1000" spc="-5" dirty="0">
                <a:latin typeface="Times New Roman"/>
                <a:cs typeface="Times New Roman"/>
                <a:hlinkClick r:id="rId10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0" action="ppaction://hlinksldjump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8062" y="8948653"/>
            <a:ext cx="4582160" cy="76835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441959" lvl="2" indent="-40386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41959" algn="l"/>
              </a:tabLst>
            </a:pPr>
            <a:r>
              <a:rPr sz="1000" dirty="0">
                <a:latin typeface="Times New Roman"/>
                <a:cs typeface="Times New Roman"/>
                <a:hlinkClick r:id="rId11" action="ppaction://hlinksldjump"/>
              </a:rPr>
              <a:t>Risk</a:t>
            </a:r>
            <a:r>
              <a:rPr sz="1000" spc="-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1" action="ppaction://hlinksldjump"/>
              </a:rPr>
              <a:t>Identification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441959" lvl="2" indent="-403860">
              <a:lnSpc>
                <a:spcPct val="100000"/>
              </a:lnSpc>
              <a:spcBef>
                <a:spcPts val="225"/>
              </a:spcBef>
              <a:buAutoNum type="arabicPeriod"/>
              <a:tabLst>
                <a:tab pos="441959" algn="l"/>
              </a:tabLst>
            </a:pPr>
            <a:r>
              <a:rPr sz="1000" dirty="0">
                <a:latin typeface="Times New Roman"/>
                <a:cs typeface="Times New Roman"/>
                <a:hlinkClick r:id="rId12" action="ppaction://hlinksldjump"/>
              </a:rPr>
              <a:t>Risk</a:t>
            </a:r>
            <a:r>
              <a:rPr sz="1000" spc="-5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2" action="ppaction://hlinksldjump"/>
              </a:rPr>
              <a:t>Analysis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441959" lvl="2" indent="-403860">
              <a:lnSpc>
                <a:spcPct val="100000"/>
              </a:lnSpc>
              <a:spcBef>
                <a:spcPts val="225"/>
              </a:spcBef>
              <a:buAutoNum type="arabicPeriod"/>
              <a:tabLst>
                <a:tab pos="441959" algn="l"/>
              </a:tabLst>
            </a:pPr>
            <a:r>
              <a:rPr sz="1000" dirty="0">
                <a:latin typeface="Times New Roman"/>
                <a:cs typeface="Times New Roman"/>
                <a:hlinkClick r:id="rId12" action="ppaction://hlinksldjump"/>
              </a:rPr>
              <a:t>Overview</a:t>
            </a:r>
            <a:r>
              <a:rPr sz="1000" spc="-15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2" action="ppaction://hlinksldjump"/>
              </a:rPr>
              <a:t>of</a:t>
            </a:r>
            <a:r>
              <a:rPr sz="1000" spc="-10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2" action="ppaction://hlinksldjump"/>
              </a:rPr>
              <a:t>Risk</a:t>
            </a:r>
            <a:r>
              <a:rPr sz="1000" spc="-10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2" action="ppaction://hlinksldjump"/>
              </a:rPr>
              <a:t>Mitigation,</a:t>
            </a:r>
            <a:r>
              <a:rPr sz="1000" spc="-10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2" action="ppaction://hlinksldjump"/>
              </a:rPr>
              <a:t>Monitoring,</a:t>
            </a:r>
            <a:r>
              <a:rPr sz="1000" spc="-10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2" action="ppaction://hlinksldjump"/>
              </a:rPr>
              <a:t>Management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70"/>
              </a:spcBef>
              <a:tabLst>
                <a:tab pos="328930" algn="l"/>
              </a:tabLst>
            </a:pPr>
            <a:r>
              <a:rPr sz="1500" spc="-37" baseline="8333" dirty="0">
                <a:latin typeface="Times New Roman"/>
                <a:cs typeface="Times New Roman"/>
                <a:hlinkClick r:id="rId13" action="ppaction://hlinksldjump"/>
              </a:rPr>
              <a:t>5.3</a:t>
            </a:r>
            <a:r>
              <a:rPr sz="1500" baseline="8333" dirty="0">
                <a:latin typeface="Times New Roman"/>
                <a:cs typeface="Times New Roman"/>
              </a:rPr>
              <a:t>	</a:t>
            </a:r>
            <a:r>
              <a:rPr sz="1000" spc="-10" dirty="0">
                <a:latin typeface="Times New Roman"/>
                <a:cs typeface="Times New Roman"/>
                <a:hlinkClick r:id="rId13" action="ppaction://hlinksldjump"/>
              </a:rPr>
              <a:t>Project Schedule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6923" y="5587682"/>
            <a:ext cx="5012690" cy="97790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01295" indent="-188595">
              <a:lnSpc>
                <a:spcPct val="100000"/>
              </a:lnSpc>
              <a:spcBef>
                <a:spcPts val="415"/>
              </a:spcBef>
              <a:buAutoNum type="arabicPlain" startAt="4"/>
              <a:tabLst>
                <a:tab pos="201295" algn="l"/>
              </a:tabLst>
            </a:pPr>
            <a:r>
              <a:rPr sz="1000" b="1" dirty="0">
                <a:latin typeface="Times New Roman"/>
                <a:cs typeface="Times New Roman"/>
                <a:hlinkClick r:id="rId14" action="ppaction://hlinksldjump"/>
              </a:rPr>
              <a:t>PROBLEMDEFINITION</a:t>
            </a:r>
            <a:r>
              <a:rPr sz="1000" b="1" spc="-45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000" b="1" dirty="0">
                <a:latin typeface="Times New Roman"/>
                <a:cs typeface="Times New Roman"/>
                <a:hlinkClick r:id="rId14" action="ppaction://hlinksldjump"/>
              </a:rPr>
              <a:t>AND</a:t>
            </a:r>
            <a:r>
              <a:rPr sz="1000" b="1" spc="-40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000" b="1" spc="-20" dirty="0">
                <a:latin typeface="Times New Roman"/>
                <a:cs typeface="Times New Roman"/>
                <a:hlinkClick r:id="rId14" action="ppaction://hlinksldjump"/>
              </a:rPr>
              <a:t>SCOPE</a:t>
            </a:r>
            <a:endParaRPr sz="1000">
              <a:latin typeface="Times New Roman"/>
              <a:cs typeface="Times New Roman"/>
            </a:endParaRPr>
          </a:p>
          <a:p>
            <a:pPr marL="328930" lvl="1" indent="-189865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328930" algn="l"/>
              </a:tabLst>
            </a:pPr>
            <a:r>
              <a:rPr sz="1000" spc="-10" dirty="0">
                <a:latin typeface="Times New Roman"/>
                <a:cs typeface="Times New Roman"/>
                <a:hlinkClick r:id="rId14" action="ppaction://hlinksldjump"/>
              </a:rPr>
              <a:t>4.</a:t>
            </a:r>
            <a:r>
              <a:rPr sz="1000" spc="-470" dirty="0">
                <a:latin typeface="Times New Roman"/>
                <a:cs typeface="Times New Roman"/>
                <a:hlinkClick r:id="rId14" action="ppaction://hlinksldjump"/>
              </a:rPr>
              <a:t>1</a:t>
            </a:r>
            <a:r>
              <a:rPr sz="1000" spc="-114" dirty="0">
                <a:latin typeface="Times New Roman"/>
                <a:cs typeface="Times New Roman"/>
                <a:hlinkClick r:id="rId14" action="ppaction://hlinksldjump"/>
              </a:rPr>
              <a:t>P</a:t>
            </a:r>
            <a:r>
              <a:rPr sz="1000" spc="-165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000" spc="-200" dirty="0">
                <a:latin typeface="Times New Roman"/>
                <a:cs typeface="Times New Roman"/>
                <a:hlinkClick r:id="rId14" action="ppaction://hlinksldjump"/>
              </a:rPr>
              <a:t>r</a:t>
            </a:r>
            <a:r>
              <a:rPr sz="1000" spc="-330" dirty="0">
                <a:latin typeface="Times New Roman"/>
                <a:cs typeface="Times New Roman"/>
                <a:hlinkClick r:id="rId14" action="ppaction://hlinksldjump"/>
              </a:rPr>
              <a:t>1</a:t>
            </a:r>
            <a:r>
              <a:rPr sz="1000" spc="-10" dirty="0">
                <a:latin typeface="Times New Roman"/>
                <a:cs typeface="Times New Roman"/>
                <a:hlinkClick r:id="rId14" action="ppaction://hlinksldjump"/>
              </a:rPr>
              <a:t>o</a:t>
            </a:r>
            <a:r>
              <a:rPr sz="1000" spc="-450" dirty="0">
                <a:latin typeface="Times New Roman"/>
                <a:cs typeface="Times New Roman"/>
                <a:hlinkClick r:id="rId14" action="ppaction://hlinksldjump"/>
              </a:rPr>
              <a:t>b</a:t>
            </a:r>
            <a:r>
              <a:rPr sz="1000" spc="-85" dirty="0">
                <a:latin typeface="Times New Roman"/>
                <a:cs typeface="Times New Roman"/>
                <a:hlinkClick r:id="rId14" action="ppaction://hlinksldjump"/>
              </a:rPr>
              <a:t>4</a:t>
            </a:r>
            <a:r>
              <a:rPr sz="1000" spc="-220" dirty="0">
                <a:latin typeface="Times New Roman"/>
                <a:cs typeface="Times New Roman"/>
                <a:hlinkClick r:id="rId14" action="ppaction://hlinksldjump"/>
              </a:rPr>
              <a:t>l</a:t>
            </a:r>
            <a:r>
              <a:rPr sz="1000" spc="-55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000" spc="-425" dirty="0">
                <a:latin typeface="Times New Roman"/>
                <a:cs typeface="Times New Roman"/>
                <a:hlinkClick r:id="rId14" action="ppaction://hlinksldjump"/>
              </a:rPr>
              <a:t>e</a:t>
            </a:r>
            <a:r>
              <a:rPr sz="1000" spc="-110" dirty="0">
                <a:latin typeface="Times New Roman"/>
                <a:cs typeface="Times New Roman"/>
                <a:hlinkClick r:id="rId14" action="ppaction://hlinksldjump"/>
              </a:rPr>
              <a:t>1</a:t>
            </a:r>
            <a:r>
              <a:rPr sz="1000" spc="-690" dirty="0">
                <a:latin typeface="Times New Roman"/>
                <a:cs typeface="Times New Roman"/>
                <a:hlinkClick r:id="rId14" action="ppaction://hlinksldjump"/>
              </a:rPr>
              <a:t>m</a:t>
            </a:r>
            <a:r>
              <a:rPr sz="1000" spc="-10" dirty="0">
                <a:latin typeface="Times New Roman"/>
                <a:cs typeface="Times New Roman"/>
                <a:hlinkClick r:id="rId14" action="ppaction://hlinksldjump"/>
              </a:rPr>
              <a:t>.2</a:t>
            </a:r>
            <a:r>
              <a:rPr sz="1000" spc="-55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000" spc="-495" dirty="0">
                <a:latin typeface="Times New Roman"/>
                <a:cs typeface="Times New Roman"/>
                <a:hlinkClick r:id="rId14" action="ppaction://hlinksldjump"/>
              </a:rPr>
              <a:t>S</a:t>
            </a:r>
            <a:r>
              <a:rPr sz="1000" spc="-30" dirty="0">
                <a:latin typeface="Times New Roman"/>
                <a:cs typeface="Times New Roman"/>
                <a:hlinkClick r:id="rId14" action="ppaction://hlinksldjump"/>
              </a:rPr>
              <a:t>4</a:t>
            </a:r>
            <a:r>
              <a:rPr sz="1000" spc="-275" dirty="0">
                <a:latin typeface="Times New Roman"/>
                <a:cs typeface="Times New Roman"/>
                <a:hlinkClick r:id="rId14" action="ppaction://hlinksldjump"/>
              </a:rPr>
              <a:t>t</a:t>
            </a:r>
            <a:r>
              <a:rPr sz="1000" spc="-10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000" spc="-500" dirty="0">
                <a:latin typeface="Times New Roman"/>
                <a:cs typeface="Times New Roman"/>
                <a:hlinkClick r:id="rId14" action="ppaction://hlinksldjump"/>
              </a:rPr>
              <a:t>2</a:t>
            </a:r>
            <a:r>
              <a:rPr sz="1000" spc="-10" dirty="0">
                <a:latin typeface="Times New Roman"/>
                <a:cs typeface="Times New Roman"/>
                <a:hlinkClick r:id="rId14" action="ppaction://hlinksldjump"/>
              </a:rPr>
              <a:t>at</a:t>
            </a:r>
            <a:r>
              <a:rPr sz="1000" spc="-450" dirty="0">
                <a:latin typeface="Times New Roman"/>
                <a:cs typeface="Times New Roman"/>
                <a:hlinkClick r:id="rId14" action="ppaction://hlinksldjump"/>
              </a:rPr>
              <a:t>e</a:t>
            </a:r>
            <a:r>
              <a:rPr sz="1000" spc="-90" dirty="0">
                <a:latin typeface="Times New Roman"/>
                <a:cs typeface="Times New Roman"/>
                <a:hlinkClick r:id="rId14" action="ppaction://hlinksldjump"/>
              </a:rPr>
              <a:t>4</a:t>
            </a:r>
            <a:r>
              <a:rPr sz="1000" spc="-715" dirty="0">
                <a:latin typeface="Times New Roman"/>
                <a:cs typeface="Times New Roman"/>
                <a:hlinkClick r:id="rId14" action="ppaction://hlinksldjump"/>
              </a:rPr>
              <a:t>m</a:t>
            </a:r>
            <a:r>
              <a:rPr sz="1000" spc="-10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000" spc="-60" dirty="0">
                <a:latin typeface="Times New Roman"/>
                <a:cs typeface="Times New Roman"/>
                <a:hlinkClick r:id="rId14" action="ppaction://hlinksldjump"/>
              </a:rPr>
              <a:t>3</a:t>
            </a:r>
            <a:r>
              <a:rPr sz="1000" spc="-165" dirty="0">
                <a:latin typeface="Times New Roman"/>
                <a:cs typeface="Times New Roman"/>
                <a:hlinkClick r:id="rId14" action="ppaction://hlinksldjump"/>
              </a:rPr>
              <a:t>e</a:t>
            </a:r>
            <a:r>
              <a:rPr sz="1000" spc="-760" dirty="0">
                <a:latin typeface="Times New Roman"/>
                <a:cs typeface="Times New Roman"/>
                <a:hlinkClick r:id="rId14" action="ppaction://hlinksldjump"/>
              </a:rPr>
              <a:t>M</a:t>
            </a:r>
            <a:r>
              <a:rPr sz="1000" spc="-10" dirty="0">
                <a:latin typeface="Times New Roman"/>
                <a:cs typeface="Times New Roman"/>
                <a:hlinkClick r:id="rId14" action="ppaction://hlinksldjump"/>
              </a:rPr>
              <a:t>n</a:t>
            </a:r>
            <a:r>
              <a:rPr sz="1000" spc="-50" dirty="0">
                <a:latin typeface="Times New Roman"/>
                <a:cs typeface="Times New Roman"/>
                <a:hlinkClick r:id="rId14" action="ppaction://hlinksldjump"/>
              </a:rPr>
              <a:t>t</a:t>
            </a:r>
            <a:r>
              <a:rPr sz="1000" spc="-175" dirty="0">
                <a:latin typeface="Times New Roman"/>
                <a:cs typeface="Times New Roman"/>
                <a:hlinkClick r:id="rId14" action="ppaction://hlinksldjump"/>
              </a:rPr>
              <a:t>a</a:t>
            </a:r>
            <a:r>
              <a:rPr sz="1000" spc="-110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000" spc="-10" dirty="0">
                <a:latin typeface="Times New Roman"/>
                <a:cs typeface="Times New Roman"/>
                <a:hlinkClick r:id="rId14" action="ppaction://hlinksldjump"/>
              </a:rPr>
              <a:t>j</a:t>
            </a:r>
            <a:r>
              <a:rPr sz="1000" spc="-450" dirty="0">
                <a:latin typeface="Times New Roman"/>
                <a:cs typeface="Times New Roman"/>
                <a:hlinkClick r:id="rId14" action="ppaction://hlinksldjump"/>
              </a:rPr>
              <a:t>o</a:t>
            </a:r>
            <a:r>
              <a:rPr sz="1000" spc="-10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000" spc="-55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000" spc="-145" dirty="0">
                <a:latin typeface="Times New Roman"/>
                <a:cs typeface="Times New Roman"/>
                <a:hlinkClick r:id="rId14" action="ppaction://hlinksldjump"/>
              </a:rPr>
              <a:t>r.</a:t>
            </a:r>
            <a:r>
              <a:rPr sz="1000" spc="20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000" spc="-135" dirty="0">
                <a:latin typeface="Times New Roman"/>
                <a:cs typeface="Times New Roman"/>
                <a:hlinkClick r:id="rId14" action="ppaction://hlinksldjump"/>
              </a:rPr>
              <a:t>.C.o.n.s.tr.a.in.</a:t>
            </a:r>
            <a:r>
              <a:rPr sz="1000" spc="-95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000" spc="-90" dirty="0">
                <a:latin typeface="Times New Roman"/>
                <a:cs typeface="Times New Roman"/>
                <a:hlinkClick r:id="rId14" action="ppaction://hlinksldjump"/>
              </a:rPr>
              <a:t>t.s.</a:t>
            </a:r>
            <a:r>
              <a:rPr sz="1000" spc="-180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000" spc="-45" dirty="0">
                <a:latin typeface="Times New Roman"/>
                <a:cs typeface="Times New Roman"/>
              </a:rPr>
              <a:t>..</a:t>
            </a:r>
            <a:r>
              <a:rPr sz="1000" spc="-175" dirty="0">
                <a:latin typeface="Times New Roman"/>
                <a:cs typeface="Times New Roman"/>
              </a:rPr>
              <a:t> </a:t>
            </a:r>
            <a:r>
              <a:rPr sz="1000" spc="-45" dirty="0">
                <a:latin typeface="Times New Roman"/>
                <a:cs typeface="Times New Roman"/>
              </a:rPr>
              <a:t>..</a:t>
            </a:r>
            <a:r>
              <a:rPr sz="1000" spc="-170" dirty="0">
                <a:latin typeface="Times New Roman"/>
                <a:cs typeface="Times New Roman"/>
              </a:rPr>
              <a:t> </a:t>
            </a:r>
            <a:r>
              <a:rPr sz="1000" spc="-40" dirty="0">
                <a:latin typeface="Times New Roman"/>
                <a:cs typeface="Times New Roman"/>
              </a:rPr>
              <a:t>..</a:t>
            </a:r>
            <a:r>
              <a:rPr sz="1000" spc="-175" dirty="0">
                <a:latin typeface="Times New Roman"/>
                <a:cs typeface="Times New Roman"/>
              </a:rPr>
              <a:t> </a:t>
            </a:r>
            <a:r>
              <a:rPr sz="1000" spc="-40" dirty="0">
                <a:latin typeface="Times New Roman"/>
                <a:cs typeface="Times New Roman"/>
              </a:rPr>
              <a:t>..</a:t>
            </a:r>
            <a:r>
              <a:rPr sz="1000" spc="-175" dirty="0">
                <a:latin typeface="Times New Roman"/>
                <a:cs typeface="Times New Roman"/>
              </a:rPr>
              <a:t> </a:t>
            </a:r>
            <a:r>
              <a:rPr sz="1000" spc="-40" dirty="0">
                <a:latin typeface="Times New Roman"/>
                <a:cs typeface="Times New Roman"/>
              </a:rPr>
              <a:t>..</a:t>
            </a:r>
            <a:r>
              <a:rPr sz="1000" spc="-170" dirty="0">
                <a:latin typeface="Times New Roman"/>
                <a:cs typeface="Times New Roman"/>
              </a:rPr>
              <a:t> </a:t>
            </a:r>
            <a:r>
              <a:rPr sz="1000" spc="-40" dirty="0">
                <a:latin typeface="Times New Roman"/>
                <a:cs typeface="Times New Roman"/>
              </a:rPr>
              <a:t>..</a:t>
            </a:r>
            <a:r>
              <a:rPr sz="1000" spc="-170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..</a:t>
            </a:r>
            <a:r>
              <a:rPr sz="1000" spc="-16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..</a:t>
            </a:r>
            <a:r>
              <a:rPr sz="1000" spc="-16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..</a:t>
            </a:r>
            <a:r>
              <a:rPr sz="1000" spc="-16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..</a:t>
            </a:r>
            <a:r>
              <a:rPr sz="1000" spc="-160" dirty="0">
                <a:latin typeface="Times New Roman"/>
                <a:cs typeface="Times New Roman"/>
              </a:rPr>
              <a:t> </a:t>
            </a:r>
            <a:r>
              <a:rPr sz="1000" spc="-45" dirty="0">
                <a:latin typeface="Times New Roman"/>
                <a:cs typeface="Times New Roman"/>
              </a:rPr>
              <a:t>..</a:t>
            </a:r>
            <a:r>
              <a:rPr sz="1000" spc="-165" dirty="0">
                <a:latin typeface="Times New Roman"/>
                <a:cs typeface="Times New Roman"/>
              </a:rPr>
              <a:t> </a:t>
            </a:r>
            <a:r>
              <a:rPr sz="1000" spc="-45" dirty="0">
                <a:latin typeface="Times New Roman"/>
                <a:cs typeface="Times New Roman"/>
              </a:rPr>
              <a:t>..</a:t>
            </a:r>
            <a:r>
              <a:rPr sz="1000" spc="-155" dirty="0">
                <a:latin typeface="Times New Roman"/>
                <a:cs typeface="Times New Roman"/>
              </a:rPr>
              <a:t> </a:t>
            </a:r>
            <a:r>
              <a:rPr sz="1000" spc="-45" dirty="0">
                <a:latin typeface="Times New Roman"/>
                <a:cs typeface="Times New Roman"/>
              </a:rPr>
              <a:t>..</a:t>
            </a:r>
            <a:r>
              <a:rPr sz="1000" spc="-160" dirty="0">
                <a:latin typeface="Times New Roman"/>
                <a:cs typeface="Times New Roman"/>
              </a:rPr>
              <a:t> </a:t>
            </a:r>
            <a:r>
              <a:rPr sz="1000" spc="-55" dirty="0">
                <a:latin typeface="Times New Roman"/>
                <a:cs typeface="Times New Roman"/>
              </a:rPr>
              <a:t>..</a:t>
            </a:r>
            <a:r>
              <a:rPr sz="1000" spc="-160" dirty="0">
                <a:latin typeface="Times New Roman"/>
                <a:cs typeface="Times New Roman"/>
              </a:rPr>
              <a:t> </a:t>
            </a:r>
            <a:r>
              <a:rPr sz="1000" spc="-55" dirty="0">
                <a:latin typeface="Times New Roman"/>
                <a:cs typeface="Times New Roman"/>
              </a:rPr>
              <a:t>..</a:t>
            </a:r>
            <a:r>
              <a:rPr sz="1000" spc="-155" dirty="0">
                <a:latin typeface="Times New Roman"/>
                <a:cs typeface="Times New Roman"/>
              </a:rPr>
              <a:t> </a:t>
            </a:r>
            <a:r>
              <a:rPr sz="1000" spc="-55" dirty="0">
                <a:latin typeface="Times New Roman"/>
                <a:cs typeface="Times New Roman"/>
              </a:rPr>
              <a:t>..</a:t>
            </a:r>
            <a:r>
              <a:rPr sz="1000" spc="-155" dirty="0">
                <a:latin typeface="Times New Roman"/>
                <a:cs typeface="Times New Roman"/>
              </a:rPr>
              <a:t> </a:t>
            </a:r>
            <a:r>
              <a:rPr sz="1000" spc="-55" dirty="0">
                <a:latin typeface="Times New Roman"/>
                <a:cs typeface="Times New Roman"/>
              </a:rPr>
              <a:t>..</a:t>
            </a:r>
            <a:r>
              <a:rPr sz="1000" spc="-150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..</a:t>
            </a:r>
            <a:r>
              <a:rPr sz="1000" spc="-15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..</a:t>
            </a:r>
            <a:r>
              <a:rPr sz="1000" spc="-14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..</a:t>
            </a:r>
            <a:r>
              <a:rPr sz="1000" spc="-145" dirty="0">
                <a:latin typeface="Times New Roman"/>
                <a:cs typeface="Times New Roman"/>
              </a:rPr>
              <a:t> </a:t>
            </a:r>
            <a:r>
              <a:rPr sz="1000" spc="-60" dirty="0">
                <a:latin typeface="Times New Roman"/>
                <a:cs typeface="Times New Roman"/>
              </a:rPr>
              <a:t>..</a:t>
            </a:r>
            <a:r>
              <a:rPr sz="1000" spc="-150" dirty="0">
                <a:latin typeface="Times New Roman"/>
                <a:cs typeface="Times New Roman"/>
              </a:rPr>
              <a:t> </a:t>
            </a:r>
            <a:r>
              <a:rPr sz="1000" spc="-60" dirty="0">
                <a:latin typeface="Times New Roman"/>
                <a:cs typeface="Times New Roman"/>
              </a:rPr>
              <a:t>..</a:t>
            </a:r>
            <a:r>
              <a:rPr sz="1000" spc="-145" dirty="0">
                <a:latin typeface="Times New Roman"/>
                <a:cs typeface="Times New Roman"/>
              </a:rPr>
              <a:t> </a:t>
            </a:r>
            <a:r>
              <a:rPr sz="1000" spc="-60" dirty="0">
                <a:latin typeface="Times New Roman"/>
                <a:cs typeface="Times New Roman"/>
              </a:rPr>
              <a:t>..</a:t>
            </a:r>
            <a:r>
              <a:rPr sz="1000" spc="-14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..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.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.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.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.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.</a:t>
            </a:r>
            <a:r>
              <a:rPr sz="1000" b="1" spc="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.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.</a:t>
            </a:r>
            <a:r>
              <a:rPr sz="1000" b="1" spc="-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139065">
              <a:lnSpc>
                <a:spcPct val="100000"/>
              </a:lnSpc>
              <a:spcBef>
                <a:spcPts val="285"/>
              </a:spcBef>
            </a:pPr>
            <a:r>
              <a:rPr sz="1500" baseline="2777" dirty="0">
                <a:latin typeface="Times New Roman"/>
                <a:cs typeface="Times New Roman"/>
              </a:rPr>
              <a:t>.</a:t>
            </a:r>
            <a:r>
              <a:rPr sz="1500" spc="44" baseline="2777" dirty="0">
                <a:latin typeface="Times New Roman"/>
                <a:cs typeface="Times New Roman"/>
              </a:rPr>
              <a:t> </a:t>
            </a:r>
            <a:r>
              <a:rPr sz="1500" baseline="2777" dirty="0">
                <a:latin typeface="Times New Roman"/>
                <a:cs typeface="Times New Roman"/>
                <a:hlinkClick r:id="rId14" action="ppaction://hlinksldjump"/>
              </a:rPr>
              <a:t>4.4</a:t>
            </a:r>
            <a:r>
              <a:rPr sz="1500" spc="44" baseline="2777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500" spc="-15" baseline="2777" dirty="0">
                <a:latin typeface="Times New Roman"/>
                <a:cs typeface="Times New Roman"/>
                <a:hlinkClick r:id="rId14" action="ppaction://hlinksldjump"/>
              </a:rPr>
              <a:t>M</a:t>
            </a:r>
            <a:r>
              <a:rPr sz="1500" spc="-240" baseline="2777" dirty="0">
                <a:latin typeface="Times New Roman"/>
                <a:cs typeface="Times New Roman"/>
                <a:hlinkClick r:id="rId14" action="ppaction://hlinksldjump"/>
              </a:rPr>
              <a:t>e</a:t>
            </a:r>
            <a:r>
              <a:rPr sz="1000" spc="-595" dirty="0">
                <a:latin typeface="Times New Roman"/>
                <a:cs typeface="Times New Roman"/>
                <a:hlinkClick r:id="rId14" action="ppaction://hlinksldjump"/>
              </a:rPr>
              <a:t>G</a:t>
            </a:r>
            <a:r>
              <a:rPr sz="1500" spc="-15" baseline="2777" dirty="0">
                <a:latin typeface="Times New Roman"/>
                <a:cs typeface="Times New Roman"/>
                <a:hlinkClick r:id="rId14" action="ppaction://hlinksldjump"/>
              </a:rPr>
              <a:t>t</a:t>
            </a:r>
            <a:r>
              <a:rPr sz="1500" spc="-330" baseline="2777" dirty="0">
                <a:latin typeface="Times New Roman"/>
                <a:cs typeface="Times New Roman"/>
                <a:hlinkClick r:id="rId14" action="ppaction://hlinksldjump"/>
              </a:rPr>
              <a:t>h</a:t>
            </a:r>
            <a:r>
              <a:rPr sz="1000" b="1" spc="-20" dirty="0">
                <a:latin typeface="Times New Roman"/>
                <a:cs typeface="Times New Roman"/>
                <a:hlinkClick r:id="rId14" action="ppaction://hlinksldjump"/>
              </a:rPr>
              <a:t>o</a:t>
            </a:r>
            <a:r>
              <a:rPr sz="1000" spc="-254" dirty="0">
                <a:latin typeface="Times New Roman"/>
                <a:cs typeface="Times New Roman"/>
                <a:hlinkClick r:id="rId14" action="ppaction://hlinksldjump"/>
              </a:rPr>
              <a:t>a</a:t>
            </a:r>
            <a:r>
              <a:rPr sz="1500" spc="-419" baseline="2777" dirty="0">
                <a:latin typeface="Times New Roman"/>
                <a:cs typeface="Times New Roman"/>
                <a:hlinkClick r:id="rId14" action="ppaction://hlinksldjump"/>
              </a:rPr>
              <a:t>d</a:t>
            </a:r>
            <a:r>
              <a:rPr sz="1000" spc="-30" dirty="0">
                <a:latin typeface="Times New Roman"/>
                <a:cs typeface="Times New Roman"/>
                <a:hlinkClick r:id="rId14" action="ppaction://hlinksldjump"/>
              </a:rPr>
              <a:t>l</a:t>
            </a:r>
            <a:r>
              <a:rPr sz="1500" spc="-750" baseline="2777" dirty="0">
                <a:latin typeface="Times New Roman"/>
                <a:cs typeface="Times New Roman"/>
                <a:hlinkClick r:id="rId14" action="ppaction://hlinksldjump"/>
              </a:rPr>
              <a:t>o</a:t>
            </a:r>
            <a:r>
              <a:rPr sz="1000" spc="-10" dirty="0">
                <a:latin typeface="Times New Roman"/>
                <a:cs typeface="Times New Roman"/>
                <a:hlinkClick r:id="rId14" action="ppaction://hlinksldjump"/>
              </a:rPr>
              <a:t>s</a:t>
            </a:r>
            <a:r>
              <a:rPr sz="1000" spc="-145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500" spc="-300" baseline="2777" dirty="0">
                <a:latin typeface="Times New Roman"/>
                <a:cs typeface="Times New Roman"/>
                <a:hlinkClick r:id="rId14" action="ppaction://hlinksldjump"/>
              </a:rPr>
              <a:t>l</a:t>
            </a:r>
            <a:r>
              <a:rPr sz="1000" spc="-200" dirty="0">
                <a:latin typeface="Times New Roman"/>
                <a:cs typeface="Times New Roman"/>
                <a:hlinkClick r:id="rId14" action="ppaction://hlinksldjump"/>
              </a:rPr>
              <a:t>a</a:t>
            </a:r>
            <a:r>
              <a:rPr sz="1500" spc="-300" baseline="2777" dirty="0">
                <a:latin typeface="Times New Roman"/>
                <a:cs typeface="Times New Roman"/>
                <a:hlinkClick r:id="rId14" action="ppaction://hlinksldjump"/>
              </a:rPr>
              <a:t>o</a:t>
            </a:r>
            <a:r>
              <a:rPr sz="1000" spc="-200" dirty="0">
                <a:latin typeface="Times New Roman"/>
                <a:cs typeface="Times New Roman"/>
                <a:hlinkClick r:id="rId14" action="ppaction://hlinksldjump"/>
              </a:rPr>
              <a:t>n</a:t>
            </a:r>
            <a:r>
              <a:rPr sz="1500" spc="-300" baseline="2777" dirty="0">
                <a:latin typeface="Times New Roman"/>
                <a:cs typeface="Times New Roman"/>
                <a:hlinkClick r:id="rId14" action="ppaction://hlinksldjump"/>
              </a:rPr>
              <a:t>g</a:t>
            </a:r>
            <a:r>
              <a:rPr sz="1000" spc="-200" dirty="0">
                <a:latin typeface="Times New Roman"/>
                <a:cs typeface="Times New Roman"/>
                <a:hlinkClick r:id="rId14" action="ppaction://hlinksldjump"/>
              </a:rPr>
              <a:t>d</a:t>
            </a:r>
            <a:r>
              <a:rPr sz="1500" spc="-300" baseline="2777" dirty="0">
                <a:latin typeface="Times New Roman"/>
                <a:cs typeface="Times New Roman"/>
                <a:hlinkClick r:id="rId14" action="ppaction://hlinksldjump"/>
              </a:rPr>
              <a:t>ie</a:t>
            </a:r>
            <a:r>
              <a:rPr sz="1000" spc="-200" dirty="0">
                <a:latin typeface="Times New Roman"/>
                <a:cs typeface="Times New Roman"/>
                <a:hlinkClick r:id="rId14" action="ppaction://hlinksldjump"/>
              </a:rPr>
              <a:t>o</a:t>
            </a:r>
            <a:r>
              <a:rPr sz="1500" spc="-300" baseline="2777" dirty="0">
                <a:latin typeface="Times New Roman"/>
                <a:cs typeface="Times New Roman"/>
                <a:hlinkClick r:id="rId14" action="ppaction://hlinksldjump"/>
              </a:rPr>
              <a:t>s</a:t>
            </a:r>
            <a:r>
              <a:rPr sz="1000" spc="-200" dirty="0">
                <a:latin typeface="Times New Roman"/>
                <a:cs typeface="Times New Roman"/>
                <a:hlinkClick r:id="rId14" action="ppaction://hlinksldjump"/>
              </a:rPr>
              <a:t>b</a:t>
            </a:r>
            <a:r>
              <a:rPr sz="1500" spc="-300" baseline="2777" dirty="0">
                <a:latin typeface="Times New Roman"/>
                <a:cs typeface="Times New Roman"/>
                <a:hlinkClick r:id="rId14" action="ppaction://hlinksldjump"/>
              </a:rPr>
              <a:t>o</a:t>
            </a:r>
            <a:r>
              <a:rPr sz="1000" spc="-200" dirty="0">
                <a:latin typeface="Times New Roman"/>
                <a:cs typeface="Times New Roman"/>
                <a:hlinkClick r:id="rId14" action="ppaction://hlinksldjump"/>
              </a:rPr>
              <a:t>j</a:t>
            </a:r>
            <a:r>
              <a:rPr sz="1500" spc="-300" baseline="2777" dirty="0">
                <a:latin typeface="Times New Roman"/>
                <a:cs typeface="Times New Roman"/>
                <a:hlinkClick r:id="rId14" action="ppaction://hlinksldjump"/>
              </a:rPr>
              <a:t>f</a:t>
            </a:r>
            <a:r>
              <a:rPr sz="1000" spc="-200" dirty="0">
                <a:latin typeface="Times New Roman"/>
                <a:cs typeface="Times New Roman"/>
                <a:hlinkClick r:id="rId14" action="ppaction://hlinksldjump"/>
              </a:rPr>
              <a:t>ec</a:t>
            </a:r>
            <a:r>
              <a:rPr sz="1500" spc="-300" baseline="2777" dirty="0">
                <a:latin typeface="Times New Roman"/>
                <a:cs typeface="Times New Roman"/>
                <a:hlinkClick r:id="rId14" action="ppaction://hlinksldjump"/>
              </a:rPr>
              <a:t>P</a:t>
            </a:r>
            <a:r>
              <a:rPr sz="1000" spc="-200" dirty="0">
                <a:latin typeface="Times New Roman"/>
                <a:cs typeface="Times New Roman"/>
                <a:hlinkClick r:id="rId14" action="ppaction://hlinksldjump"/>
              </a:rPr>
              <a:t>t</a:t>
            </a:r>
            <a:r>
              <a:rPr sz="1500" spc="-300" baseline="2777" dirty="0">
                <a:latin typeface="Times New Roman"/>
                <a:cs typeface="Times New Roman"/>
                <a:hlinkClick r:id="rId14" action="ppaction://hlinksldjump"/>
              </a:rPr>
              <a:t>r</a:t>
            </a:r>
            <a:r>
              <a:rPr sz="1000" spc="-200" dirty="0">
                <a:latin typeface="Times New Roman"/>
                <a:cs typeface="Times New Roman"/>
                <a:hlinkClick r:id="rId14" action="ppaction://hlinksldjump"/>
              </a:rPr>
              <a:t>iv</a:t>
            </a:r>
            <a:r>
              <a:rPr sz="1500" spc="-300" baseline="2777" dirty="0">
                <a:latin typeface="Times New Roman"/>
                <a:cs typeface="Times New Roman"/>
                <a:hlinkClick r:id="rId14" action="ppaction://hlinksldjump"/>
              </a:rPr>
              <a:t>o</a:t>
            </a:r>
            <a:r>
              <a:rPr sz="1000" spc="-200" dirty="0">
                <a:latin typeface="Times New Roman"/>
                <a:cs typeface="Times New Roman"/>
                <a:hlinkClick r:id="rId14" action="ppaction://hlinksldjump"/>
              </a:rPr>
              <a:t>e</a:t>
            </a:r>
            <a:r>
              <a:rPr sz="1500" spc="-300" baseline="2777" dirty="0">
                <a:latin typeface="Times New Roman"/>
                <a:cs typeface="Times New Roman"/>
                <a:hlinkClick r:id="rId14" action="ppaction://hlinksldjump"/>
              </a:rPr>
              <a:t>b</a:t>
            </a:r>
            <a:r>
              <a:rPr sz="1000" spc="-200" dirty="0">
                <a:latin typeface="Times New Roman"/>
                <a:cs typeface="Times New Roman"/>
                <a:hlinkClick r:id="rId14" action="ppaction://hlinksldjump"/>
              </a:rPr>
              <a:t>s</a:t>
            </a:r>
            <a:r>
              <a:rPr sz="1500" spc="-300" baseline="2777" dirty="0">
                <a:latin typeface="Times New Roman"/>
                <a:cs typeface="Times New Roman"/>
                <a:hlinkClick r:id="rId14" action="ppaction://hlinksldjump"/>
              </a:rPr>
              <a:t>le</a:t>
            </a:r>
            <a:r>
              <a:rPr sz="1000" spc="-200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500" spc="-300" baseline="2777" dirty="0">
                <a:latin typeface="Times New Roman"/>
                <a:cs typeface="Times New Roman"/>
                <a:hlinkClick r:id="rId14" action="ppaction://hlinksldjump"/>
              </a:rPr>
              <a:t>m</a:t>
            </a:r>
            <a:r>
              <a:rPr sz="1000" spc="-200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000" spc="45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000" spc="-165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500" spc="-247" baseline="2777" dirty="0">
                <a:latin typeface="Times New Roman"/>
                <a:cs typeface="Times New Roman"/>
                <a:hlinkClick r:id="rId14" action="ppaction://hlinksldjump"/>
              </a:rPr>
              <a:t>so</a:t>
            </a:r>
            <a:r>
              <a:rPr sz="1000" spc="-165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000" spc="15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500" spc="-232" baseline="2777" dirty="0">
                <a:latin typeface="Times New Roman"/>
                <a:cs typeface="Times New Roman"/>
                <a:hlinkClick r:id="rId14" action="ppaction://hlinksldjump"/>
              </a:rPr>
              <a:t>l</a:t>
            </a:r>
            <a:r>
              <a:rPr sz="1000" spc="-155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500" spc="-232" baseline="2777" dirty="0">
                <a:latin typeface="Times New Roman"/>
                <a:cs typeface="Times New Roman"/>
                <a:hlinkClick r:id="rId14" action="ppaction://hlinksldjump"/>
              </a:rPr>
              <a:t>v</a:t>
            </a:r>
            <a:r>
              <a:rPr sz="1000" spc="-155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500" spc="-232" baseline="2777" dirty="0">
                <a:latin typeface="Times New Roman"/>
                <a:cs typeface="Times New Roman"/>
                <a:hlinkClick r:id="rId14" action="ppaction://hlinksldjump"/>
              </a:rPr>
              <a:t>in</a:t>
            </a:r>
            <a:r>
              <a:rPr sz="1000" spc="-155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000" spc="15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500" spc="-367" baseline="2777" dirty="0">
                <a:latin typeface="Times New Roman"/>
                <a:cs typeface="Times New Roman"/>
                <a:hlinkClick r:id="rId14" action="ppaction://hlinksldjump"/>
              </a:rPr>
              <a:t>g</a:t>
            </a:r>
            <a:r>
              <a:rPr sz="1000" spc="-245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000" spc="45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000" spc="-105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500" spc="-157" baseline="2777" dirty="0">
                <a:latin typeface="Times New Roman"/>
                <a:cs typeface="Times New Roman"/>
                <a:hlinkClick r:id="rId14" action="ppaction://hlinksldjump"/>
              </a:rPr>
              <a:t>a</a:t>
            </a:r>
            <a:r>
              <a:rPr sz="1000" spc="-105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500" spc="-157" baseline="2777" dirty="0">
                <a:latin typeface="Times New Roman"/>
                <a:cs typeface="Times New Roman"/>
                <a:hlinkClick r:id="rId14" action="ppaction://hlinksldjump"/>
              </a:rPr>
              <a:t>n</a:t>
            </a:r>
            <a:r>
              <a:rPr sz="1000" spc="-105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500" spc="-157" baseline="2777" dirty="0">
                <a:latin typeface="Times New Roman"/>
                <a:cs typeface="Times New Roman"/>
                <a:hlinkClick r:id="rId14" action="ppaction://hlinksldjump"/>
              </a:rPr>
              <a:t>d</a:t>
            </a:r>
            <a:r>
              <a:rPr sz="1000" spc="-105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000" spc="-160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500" spc="-179" baseline="2777" dirty="0">
                <a:latin typeface="Times New Roman"/>
                <a:cs typeface="Times New Roman"/>
                <a:hlinkClick r:id="rId14" action="ppaction://hlinksldjump"/>
              </a:rPr>
              <a:t>e</a:t>
            </a:r>
            <a:r>
              <a:rPr sz="1000" spc="-120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500" spc="-179" baseline="2777" dirty="0">
                <a:latin typeface="Times New Roman"/>
                <a:cs typeface="Times New Roman"/>
                <a:hlinkClick r:id="rId14" action="ppaction://hlinksldjump"/>
              </a:rPr>
              <a:t>f</a:t>
            </a:r>
            <a:r>
              <a:rPr sz="1000" spc="-120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500" spc="-179" baseline="2777" dirty="0">
                <a:latin typeface="Times New Roman"/>
                <a:cs typeface="Times New Roman"/>
                <a:hlinkClick r:id="rId14" action="ppaction://hlinksldjump"/>
              </a:rPr>
              <a:t>fi</a:t>
            </a:r>
            <a:r>
              <a:rPr sz="1000" spc="-120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500" spc="-179" baseline="2777" dirty="0">
                <a:latin typeface="Times New Roman"/>
                <a:cs typeface="Times New Roman"/>
                <a:hlinkClick r:id="rId14" action="ppaction://hlinksldjump"/>
              </a:rPr>
              <a:t>c</a:t>
            </a:r>
            <a:r>
              <a:rPr sz="1000" spc="-120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500" spc="-179" baseline="2777" dirty="0">
                <a:latin typeface="Times New Roman"/>
                <a:cs typeface="Times New Roman"/>
                <a:hlinkClick r:id="rId14" action="ppaction://hlinksldjump"/>
              </a:rPr>
              <a:t>ie</a:t>
            </a:r>
            <a:r>
              <a:rPr sz="1000" spc="-120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500" spc="-179" baseline="2777" dirty="0">
                <a:latin typeface="Times New Roman"/>
                <a:cs typeface="Times New Roman"/>
                <a:hlinkClick r:id="rId14" action="ppaction://hlinksldjump"/>
              </a:rPr>
              <a:t>n</a:t>
            </a:r>
            <a:r>
              <a:rPr sz="1000" spc="-120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500" spc="-179" baseline="2777" dirty="0">
                <a:latin typeface="Times New Roman"/>
                <a:cs typeface="Times New Roman"/>
                <a:hlinkClick r:id="rId14" action="ppaction://hlinksldjump"/>
              </a:rPr>
              <a:t>c</a:t>
            </a:r>
            <a:r>
              <a:rPr sz="1000" spc="-120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500" spc="-179" baseline="2777" dirty="0">
                <a:latin typeface="Times New Roman"/>
                <a:cs typeface="Times New Roman"/>
                <a:hlinkClick r:id="rId14" action="ppaction://hlinksldjump"/>
              </a:rPr>
              <a:t>y</a:t>
            </a:r>
            <a:r>
              <a:rPr sz="1000" spc="-120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000" spc="-60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500" spc="-209" baseline="2777" dirty="0">
                <a:latin typeface="Times New Roman"/>
                <a:cs typeface="Times New Roman"/>
                <a:hlinkClick r:id="rId14" action="ppaction://hlinksldjump"/>
              </a:rPr>
              <a:t>i</a:t>
            </a:r>
            <a:r>
              <a:rPr sz="1000" spc="-140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500" spc="-209" baseline="2777" dirty="0">
                <a:latin typeface="Times New Roman"/>
                <a:cs typeface="Times New Roman"/>
                <a:hlinkClick r:id="rId14" action="ppaction://hlinksldjump"/>
              </a:rPr>
              <a:t>s</a:t>
            </a:r>
            <a:r>
              <a:rPr sz="1000" spc="-140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500" spc="-209" baseline="2777" dirty="0">
                <a:latin typeface="Times New Roman"/>
                <a:cs typeface="Times New Roman"/>
                <a:hlinkClick r:id="rId14" action="ppaction://hlinksldjump"/>
              </a:rPr>
              <a:t>su</a:t>
            </a:r>
            <a:r>
              <a:rPr sz="1000" spc="-140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000" spc="-65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500" spc="-277" baseline="2777" dirty="0">
                <a:latin typeface="Times New Roman"/>
                <a:cs typeface="Times New Roman"/>
                <a:hlinkClick r:id="rId14" action="ppaction://hlinksldjump"/>
              </a:rPr>
              <a:t>e</a:t>
            </a:r>
            <a:r>
              <a:rPr sz="1000" spc="-185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000" spc="-150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500" spc="-172" baseline="2777" dirty="0">
                <a:latin typeface="Times New Roman"/>
                <a:cs typeface="Times New Roman"/>
                <a:hlinkClick r:id="rId14" action="ppaction://hlinksldjump"/>
              </a:rPr>
              <a:t>s</a:t>
            </a:r>
            <a:r>
              <a:rPr sz="1000" spc="-114" dirty="0">
                <a:latin typeface="Times New Roman"/>
                <a:cs typeface="Times New Roman"/>
                <a:hlinkClick r:id="rId14" action="ppaction://hlinksldjump"/>
              </a:rPr>
              <a:t>.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.</a:t>
            </a:r>
            <a:r>
              <a:rPr sz="1000" b="1" spc="4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.</a:t>
            </a:r>
            <a:r>
              <a:rPr sz="1000" b="1" spc="4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.</a:t>
            </a:r>
            <a:r>
              <a:rPr sz="1000" b="1" spc="5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.</a:t>
            </a:r>
            <a:r>
              <a:rPr sz="1000" b="1" spc="4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.</a:t>
            </a:r>
            <a:r>
              <a:rPr sz="1000" b="1" spc="-120" dirty="0">
                <a:latin typeface="Times New Roman"/>
                <a:cs typeface="Times New Roman"/>
              </a:rPr>
              <a:t> </a:t>
            </a:r>
            <a:r>
              <a:rPr sz="1500" spc="-89" baseline="2777" dirty="0">
                <a:latin typeface="Times New Roman"/>
                <a:cs typeface="Times New Roman"/>
              </a:rPr>
              <a:t>.</a:t>
            </a:r>
            <a:r>
              <a:rPr sz="1000" spc="-60" dirty="0">
                <a:latin typeface="Times New Roman"/>
                <a:cs typeface="Times New Roman"/>
              </a:rPr>
              <a:t>.</a:t>
            </a:r>
            <a:r>
              <a:rPr sz="1000" spc="-140" dirty="0">
                <a:latin typeface="Times New Roman"/>
                <a:cs typeface="Times New Roman"/>
              </a:rPr>
              <a:t> </a:t>
            </a:r>
            <a:r>
              <a:rPr sz="1500" spc="-75" baseline="2777" dirty="0">
                <a:latin typeface="Times New Roman"/>
                <a:cs typeface="Times New Roman"/>
              </a:rPr>
              <a:t>.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r>
              <a:rPr sz="1000" spc="-160" dirty="0">
                <a:latin typeface="Times New Roman"/>
                <a:cs typeface="Times New Roman"/>
              </a:rPr>
              <a:t> </a:t>
            </a:r>
            <a:r>
              <a:rPr sz="1500" spc="-15" baseline="2777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.</a:t>
            </a:r>
            <a:r>
              <a:rPr sz="1500" spc="-15" baseline="2777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.</a:t>
            </a:r>
            <a:r>
              <a:rPr sz="1500" spc="-15" baseline="2777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.</a:t>
            </a:r>
            <a:r>
              <a:rPr sz="1500" spc="-15" baseline="2777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.</a:t>
            </a:r>
            <a:r>
              <a:rPr sz="1500" spc="-15" baseline="2777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.</a:t>
            </a:r>
            <a:r>
              <a:rPr sz="1500" spc="-15" baseline="2777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.</a:t>
            </a:r>
            <a:r>
              <a:rPr sz="1500" spc="-15" baseline="2777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.</a:t>
            </a:r>
            <a:r>
              <a:rPr sz="1500" spc="-15" baseline="2777" dirty="0">
                <a:latin typeface="Times New Roman"/>
                <a:cs typeface="Times New Roman"/>
              </a:rPr>
              <a:t>.</a:t>
            </a:r>
            <a:r>
              <a:rPr sz="1500" spc="44" baseline="2777" dirty="0">
                <a:latin typeface="Times New Roman"/>
                <a:cs typeface="Times New Roman"/>
              </a:rPr>
              <a:t> </a:t>
            </a:r>
            <a:r>
              <a:rPr sz="1500" baseline="2777" dirty="0">
                <a:latin typeface="Times New Roman"/>
                <a:cs typeface="Times New Roman"/>
              </a:rPr>
              <a:t>.</a:t>
            </a:r>
            <a:r>
              <a:rPr sz="1500" spc="44" baseline="2777" dirty="0">
                <a:latin typeface="Times New Roman"/>
                <a:cs typeface="Times New Roman"/>
              </a:rPr>
              <a:t> </a:t>
            </a:r>
            <a:r>
              <a:rPr sz="1500" baseline="2777" dirty="0">
                <a:latin typeface="Times New Roman"/>
                <a:cs typeface="Times New Roman"/>
              </a:rPr>
              <a:t>.</a:t>
            </a:r>
            <a:r>
              <a:rPr sz="1500" spc="44" baseline="2777" dirty="0">
                <a:latin typeface="Times New Roman"/>
                <a:cs typeface="Times New Roman"/>
              </a:rPr>
              <a:t> </a:t>
            </a:r>
            <a:r>
              <a:rPr sz="1500" baseline="2777" dirty="0">
                <a:latin typeface="Times New Roman"/>
                <a:cs typeface="Times New Roman"/>
              </a:rPr>
              <a:t>.</a:t>
            </a:r>
            <a:r>
              <a:rPr sz="1500" spc="44" baseline="2777" dirty="0">
                <a:latin typeface="Times New Roman"/>
                <a:cs typeface="Times New Roman"/>
              </a:rPr>
              <a:t> </a:t>
            </a:r>
            <a:r>
              <a:rPr sz="1500" baseline="2777" dirty="0">
                <a:latin typeface="Times New Roman"/>
                <a:cs typeface="Times New Roman"/>
              </a:rPr>
              <a:t>.</a:t>
            </a:r>
            <a:r>
              <a:rPr sz="1500" spc="52" baseline="2777" dirty="0">
                <a:latin typeface="Times New Roman"/>
                <a:cs typeface="Times New Roman"/>
              </a:rPr>
              <a:t> </a:t>
            </a:r>
            <a:r>
              <a:rPr sz="1500" baseline="2777" dirty="0">
                <a:latin typeface="Times New Roman"/>
                <a:cs typeface="Times New Roman"/>
              </a:rPr>
              <a:t>.</a:t>
            </a:r>
            <a:r>
              <a:rPr sz="1500" spc="44" baseline="2777" dirty="0">
                <a:latin typeface="Times New Roman"/>
                <a:cs typeface="Times New Roman"/>
              </a:rPr>
              <a:t> </a:t>
            </a:r>
            <a:r>
              <a:rPr sz="1500" baseline="2777" dirty="0">
                <a:latin typeface="Times New Roman"/>
                <a:cs typeface="Times New Roman"/>
              </a:rPr>
              <a:t>.</a:t>
            </a:r>
            <a:r>
              <a:rPr sz="1500" spc="44" baseline="2777" dirty="0">
                <a:latin typeface="Times New Roman"/>
                <a:cs typeface="Times New Roman"/>
              </a:rPr>
              <a:t> </a:t>
            </a:r>
            <a:r>
              <a:rPr sz="1500" baseline="2777" dirty="0">
                <a:latin typeface="Times New Roman"/>
                <a:cs typeface="Times New Roman"/>
              </a:rPr>
              <a:t>.</a:t>
            </a:r>
            <a:r>
              <a:rPr sz="1500" spc="44" baseline="2777" dirty="0">
                <a:latin typeface="Times New Roman"/>
                <a:cs typeface="Times New Roman"/>
              </a:rPr>
              <a:t> </a:t>
            </a:r>
            <a:r>
              <a:rPr sz="1500" baseline="2777" dirty="0">
                <a:latin typeface="Times New Roman"/>
                <a:cs typeface="Times New Roman"/>
              </a:rPr>
              <a:t>.</a:t>
            </a:r>
            <a:r>
              <a:rPr sz="1500" spc="44" baseline="2777" dirty="0">
                <a:latin typeface="Times New Roman"/>
                <a:cs typeface="Times New Roman"/>
              </a:rPr>
              <a:t> </a:t>
            </a:r>
            <a:r>
              <a:rPr sz="1500" baseline="2777" dirty="0">
                <a:latin typeface="Times New Roman"/>
                <a:cs typeface="Times New Roman"/>
              </a:rPr>
              <a:t>.</a:t>
            </a:r>
            <a:r>
              <a:rPr sz="1500" spc="44" baseline="2777" dirty="0">
                <a:latin typeface="Times New Roman"/>
                <a:cs typeface="Times New Roman"/>
              </a:rPr>
              <a:t> </a:t>
            </a:r>
            <a:r>
              <a:rPr sz="1500" spc="-75" baseline="2777" dirty="0">
                <a:latin typeface="Times New Roman"/>
                <a:cs typeface="Times New Roman"/>
              </a:rPr>
              <a:t>.</a:t>
            </a:r>
            <a:endParaRPr sz="1500" baseline="2777">
              <a:latin typeface="Times New Roman"/>
              <a:cs typeface="Times New Roman"/>
            </a:endParaRPr>
          </a:p>
          <a:p>
            <a:pPr marL="542925">
              <a:lnSpc>
                <a:spcPct val="100000"/>
              </a:lnSpc>
              <a:spcBef>
                <a:spcPts val="225"/>
              </a:spcBef>
            </a:pPr>
            <a:r>
              <a:rPr sz="1000" spc="-10" dirty="0">
                <a:latin typeface="Times New Roman"/>
                <a:cs typeface="Times New Roman"/>
                <a:hlinkClick r:id="rId14" action="ppaction://hlinksldjump"/>
              </a:rPr>
              <a:t>Statement </a:t>
            </a:r>
            <a:r>
              <a:rPr sz="1000" dirty="0">
                <a:latin typeface="Times New Roman"/>
                <a:cs typeface="Times New Roman"/>
                <a:hlinkClick r:id="rId14" action="ppaction://hlinksldjump"/>
              </a:rPr>
              <a:t>of</a:t>
            </a:r>
            <a:r>
              <a:rPr sz="1000" spc="-10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4" action="ppaction://hlinksldjump"/>
              </a:rPr>
              <a:t>scope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528320">
              <a:lnSpc>
                <a:spcPct val="100000"/>
              </a:lnSpc>
              <a:spcBef>
                <a:spcPts val="355"/>
              </a:spcBef>
            </a:pPr>
            <a:r>
              <a:rPr sz="1000" dirty="0">
                <a:latin typeface="Times New Roman"/>
                <a:cs typeface="Times New Roman"/>
                <a:hlinkClick r:id="rId14" action="ppaction://hlinksldjump"/>
              </a:rPr>
              <a:t>Software</a:t>
            </a:r>
            <a:r>
              <a:rPr sz="1000" spc="-5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4" action="ppaction://hlinksldjump"/>
              </a:rPr>
              <a:t>Context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3462" y="6927704"/>
            <a:ext cx="5029835" cy="930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303530" lvl="1" indent="-290830">
              <a:lnSpc>
                <a:spcPct val="100000"/>
              </a:lnSpc>
              <a:spcBef>
                <a:spcPts val="325"/>
              </a:spcBef>
              <a:buAutoNum type="arabicPeriod" startAt="5"/>
              <a:tabLst>
                <a:tab pos="303530" algn="l"/>
              </a:tabLst>
            </a:pP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Scenario</a:t>
            </a:r>
            <a:r>
              <a:rPr sz="1000" spc="-15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in</a:t>
            </a:r>
            <a:r>
              <a:rPr sz="1000" spc="-10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which</a:t>
            </a:r>
            <a:r>
              <a:rPr sz="1000" spc="-10" dirty="0">
                <a:latin typeface="Times New Roman"/>
                <a:cs typeface="Times New Roman"/>
                <a:hlinkClick r:id="rId15" action="ppaction://hlinksldjump"/>
              </a:rPr>
              <a:t> multi-</a:t>
            </a: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core,</a:t>
            </a:r>
            <a:r>
              <a:rPr sz="1000" spc="-10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Embedded</a:t>
            </a:r>
            <a:r>
              <a:rPr sz="1000" spc="-10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and</a:t>
            </a:r>
            <a:r>
              <a:rPr sz="1000" spc="-10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Distributed</a:t>
            </a:r>
            <a:r>
              <a:rPr sz="1000" spc="-10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Computing</a:t>
            </a:r>
            <a:r>
              <a:rPr sz="1000" spc="-10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used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303530" lvl="1" indent="-290830">
              <a:lnSpc>
                <a:spcPct val="100000"/>
              </a:lnSpc>
              <a:spcBef>
                <a:spcPts val="225"/>
              </a:spcBef>
              <a:buAutoNum type="arabicPeriod" startAt="5"/>
              <a:tabLst>
                <a:tab pos="303530" algn="l"/>
              </a:tabLst>
            </a:pP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Outcome</a:t>
            </a:r>
            <a:r>
              <a:rPr sz="1000" spc="-5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303530" lvl="1" indent="-290830">
              <a:lnSpc>
                <a:spcPct val="100000"/>
              </a:lnSpc>
              <a:spcBef>
                <a:spcPts val="225"/>
              </a:spcBef>
              <a:buAutoNum type="arabicPeriod" startAt="5"/>
              <a:tabLst>
                <a:tab pos="303530" algn="l"/>
              </a:tabLst>
            </a:pP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Applications</a:t>
            </a:r>
            <a:r>
              <a:rPr sz="1000" spc="-5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303530" lvl="1" indent="-290830">
              <a:lnSpc>
                <a:spcPct val="100000"/>
              </a:lnSpc>
              <a:spcBef>
                <a:spcPts val="225"/>
              </a:spcBef>
              <a:buAutoNum type="arabicPeriod" startAt="5"/>
              <a:tabLst>
                <a:tab pos="303530" algn="l"/>
              </a:tabLst>
            </a:pP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Hardware</a:t>
            </a:r>
            <a:r>
              <a:rPr sz="1000" spc="-10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Resources</a:t>
            </a:r>
            <a:r>
              <a:rPr sz="1000" spc="-5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Required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303530" lvl="1" indent="-290830">
              <a:lnSpc>
                <a:spcPct val="100000"/>
              </a:lnSpc>
              <a:spcBef>
                <a:spcPts val="225"/>
              </a:spcBef>
              <a:buAutoNum type="arabicPeriod" startAt="5"/>
              <a:tabLst>
                <a:tab pos="303530" algn="l"/>
              </a:tabLst>
            </a:pP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Software</a:t>
            </a:r>
            <a:r>
              <a:rPr sz="1000" spc="-10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Resources</a:t>
            </a:r>
            <a:r>
              <a:rPr sz="1000" spc="-5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Required</a:t>
            </a:r>
            <a:r>
              <a:rPr sz="1000" spc="-5" dirty="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5" action="ppaction://hlinksldjump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34444" y="5587746"/>
            <a:ext cx="307975" cy="222123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415"/>
              </a:spcBef>
            </a:pPr>
            <a:r>
              <a:rPr sz="1000" b="1" spc="-25" dirty="0">
                <a:latin typeface="Times New Roman"/>
                <a:cs typeface="Times New Roman"/>
              </a:rPr>
              <a:t>10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00" spc="-25" dirty="0">
                <a:latin typeface="Times New Roman"/>
                <a:cs typeface="Times New Roman"/>
              </a:rPr>
              <a:t>.10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25" dirty="0">
                <a:latin typeface="Times New Roman"/>
                <a:cs typeface="Times New Roman"/>
              </a:rPr>
              <a:t>.10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00" spc="-25" dirty="0">
                <a:latin typeface="Times New Roman"/>
                <a:cs typeface="Times New Roman"/>
              </a:rPr>
              <a:t>.10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25" dirty="0">
                <a:latin typeface="Times New Roman"/>
                <a:cs typeface="Times New Roman"/>
              </a:rPr>
              <a:t>.10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25" dirty="0">
                <a:latin typeface="Times New Roman"/>
                <a:cs typeface="Times New Roman"/>
              </a:rPr>
              <a:t>.10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25" dirty="0">
                <a:latin typeface="Times New Roman"/>
                <a:cs typeface="Times New Roman"/>
              </a:rPr>
              <a:t>.10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25" dirty="0">
                <a:latin typeface="Times New Roman"/>
                <a:cs typeface="Times New Roman"/>
              </a:rPr>
              <a:t>.11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25" dirty="0">
                <a:latin typeface="Times New Roman"/>
                <a:cs typeface="Times New Roman"/>
              </a:rPr>
              <a:t>.11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25" dirty="0">
                <a:latin typeface="Times New Roman"/>
                <a:cs typeface="Times New Roman"/>
              </a:rPr>
              <a:t>.11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25" dirty="0">
                <a:latin typeface="Times New Roman"/>
                <a:cs typeface="Times New Roman"/>
              </a:rPr>
              <a:t>.11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25" dirty="0">
                <a:latin typeface="Times New Roman"/>
                <a:cs typeface="Times New Roman"/>
              </a:rPr>
              <a:t>.11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34444" y="7985714"/>
            <a:ext cx="307975" cy="167957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420"/>
              </a:spcBef>
            </a:pPr>
            <a:r>
              <a:rPr sz="1000" b="1" spc="-25" dirty="0">
                <a:latin typeface="Times New Roman"/>
                <a:cs typeface="Times New Roman"/>
              </a:rPr>
              <a:t>12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00" spc="-25" dirty="0">
                <a:latin typeface="Times New Roman"/>
                <a:cs typeface="Times New Roman"/>
              </a:rPr>
              <a:t>.12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25" dirty="0">
                <a:latin typeface="Times New Roman"/>
                <a:cs typeface="Times New Roman"/>
              </a:rPr>
              <a:t>.12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25" dirty="0">
                <a:latin typeface="Times New Roman"/>
                <a:cs typeface="Times New Roman"/>
              </a:rPr>
              <a:t>.12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25" dirty="0">
                <a:latin typeface="Times New Roman"/>
                <a:cs typeface="Times New Roman"/>
              </a:rPr>
              <a:t>.13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00" spc="-25" dirty="0">
                <a:latin typeface="Times New Roman"/>
                <a:cs typeface="Times New Roman"/>
              </a:rPr>
              <a:t>.13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25" dirty="0">
                <a:latin typeface="Times New Roman"/>
                <a:cs typeface="Times New Roman"/>
              </a:rPr>
              <a:t>.14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25" dirty="0">
                <a:latin typeface="Times New Roman"/>
                <a:cs typeface="Times New Roman"/>
              </a:rPr>
              <a:t>.14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25" dirty="0">
                <a:latin typeface="Times New Roman"/>
                <a:cs typeface="Times New Roman"/>
              </a:rPr>
              <a:t>.16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2349" y="827273"/>
            <a:ext cx="7092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  <a:hlinkClick r:id="rId2" action="ppaction://hlinksldjump"/>
              </a:rPr>
              <a:t>Conten</a:t>
            </a:r>
            <a:r>
              <a:rPr sz="1400" b="1" spc="-10" dirty="0">
                <a:latin typeface="Times New Roman"/>
                <a:cs typeface="Times New Roman"/>
              </a:rPr>
              <a:t>ts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1190"/>
              </a:lnSpc>
            </a:pPr>
            <a:r>
              <a:rPr spc="-25" dirty="0"/>
              <a:t>iv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89872" y="1823525"/>
            <a:ext cx="1860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imes New Roman"/>
                <a:cs typeface="Times New Roman"/>
              </a:rPr>
              <a:t>5.4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9872" y="2899875"/>
            <a:ext cx="1860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imes New Roman"/>
                <a:cs typeface="Times New Roman"/>
                <a:hlinkClick r:id="rId2" action="ppaction://hlinksldjump"/>
              </a:rPr>
              <a:t>6.2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9872" y="3470447"/>
            <a:ext cx="1860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imes New Roman"/>
                <a:cs typeface="Times New Roman"/>
                <a:hlinkClick r:id="rId3" action="ppaction://hlinksldjump"/>
              </a:rPr>
              <a:t>6.3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9872" y="4039113"/>
            <a:ext cx="1860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imes New Roman"/>
                <a:cs typeface="Times New Roman"/>
                <a:hlinkClick r:id="rId3" action="ppaction://hlinksldjump"/>
              </a:rPr>
              <a:t>6.4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9872" y="6831352"/>
            <a:ext cx="1847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imes New Roman"/>
                <a:cs typeface="Times New Roman"/>
                <a:hlinkClick r:id="rId4" action="ppaction://hlinksldjump"/>
              </a:rPr>
              <a:t>7.4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9872" y="7210971"/>
            <a:ext cx="1847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imes New Roman"/>
                <a:cs typeface="Times New Roman"/>
                <a:hlinkClick r:id="rId5" action="ppaction://hlinksldjump"/>
              </a:rPr>
              <a:t>7.5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9872" y="7592496"/>
            <a:ext cx="1847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imes New Roman"/>
                <a:cs typeface="Times New Roman"/>
                <a:hlinkClick r:id="rId6" action="ppaction://hlinksldjump"/>
              </a:rPr>
              <a:t>7.6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872" y="8072534"/>
            <a:ext cx="6140450" cy="56896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304800" lvl="1" indent="-292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304800" algn="l"/>
              </a:tabLst>
            </a:pPr>
            <a:r>
              <a:rPr sz="1000" dirty="0">
                <a:latin typeface="Times New Roman"/>
                <a:cs typeface="Times New Roman"/>
                <a:hlinkClick r:id="rId7" action="ppaction://hlinksldjump"/>
              </a:rPr>
              <a:t>Advantages</a:t>
            </a:r>
            <a:r>
              <a:rPr sz="1000" spc="445" dirty="0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7" action="ppaction://hlinksldjump"/>
              </a:rPr>
              <a:t>and</a:t>
            </a:r>
            <a:r>
              <a:rPr sz="1000" spc="445" dirty="0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7" action="ppaction://hlinksldjump"/>
              </a:rPr>
              <a:t>Disadvantages</a:t>
            </a:r>
            <a:r>
              <a:rPr sz="1000" spc="445" dirty="0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7" action="ppaction://hlinksldjump"/>
              </a:rPr>
              <a:t>...........................................................................................................................</a:t>
            </a:r>
            <a:r>
              <a:rPr sz="1000" spc="450" dirty="0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7" action="ppaction://hlinksldjump"/>
              </a:rPr>
              <a:t>35</a:t>
            </a:r>
            <a:endParaRPr sz="1000">
              <a:latin typeface="Times New Roman"/>
              <a:cs typeface="Times New Roman"/>
            </a:endParaRPr>
          </a:p>
          <a:p>
            <a:pPr marL="304800" lvl="1" indent="-292100">
              <a:lnSpc>
                <a:spcPct val="100000"/>
              </a:lnSpc>
              <a:spcBef>
                <a:spcPts val="225"/>
              </a:spcBef>
              <a:buAutoNum type="arabicPeriod"/>
              <a:tabLst>
                <a:tab pos="304800" algn="l"/>
              </a:tabLst>
            </a:pPr>
            <a:r>
              <a:rPr sz="1000" dirty="0">
                <a:latin typeface="Times New Roman"/>
                <a:cs typeface="Times New Roman"/>
                <a:hlinkClick r:id="rId7" action="ppaction://hlinksldjump"/>
              </a:rPr>
              <a:t>Disadvantages</a:t>
            </a:r>
            <a:r>
              <a:rPr sz="1000" spc="360" dirty="0">
                <a:latin typeface="Times New Roman"/>
                <a:cs typeface="Times New Roman"/>
                <a:hlinkClick r:id="rId7" action="ppaction://hlinksldjump"/>
              </a:rPr>
              <a:t>  </a:t>
            </a:r>
            <a:r>
              <a:rPr sz="1000" spc="-10" dirty="0">
                <a:latin typeface="Times New Roman"/>
                <a:cs typeface="Times New Roman"/>
                <a:hlinkClick r:id="rId7" action="ppaction://hlinksldjump"/>
              </a:rPr>
              <a:t>......................................................................................................................................................</a:t>
            </a:r>
            <a:r>
              <a:rPr sz="1000" spc="365" dirty="0">
                <a:latin typeface="Times New Roman"/>
                <a:cs typeface="Times New Roman"/>
                <a:hlinkClick r:id="rId7" action="ppaction://hlinksldjump"/>
              </a:rPr>
              <a:t>  </a:t>
            </a:r>
            <a:r>
              <a:rPr sz="1000" spc="-25" dirty="0">
                <a:latin typeface="Times New Roman"/>
                <a:cs typeface="Times New Roman"/>
                <a:hlinkClick r:id="rId7" action="ppaction://hlinksldjump"/>
              </a:rPr>
              <a:t>35</a:t>
            </a:r>
            <a:endParaRPr sz="1000">
              <a:latin typeface="Times New Roman"/>
              <a:cs typeface="Times New Roman"/>
            </a:endParaRPr>
          </a:p>
          <a:p>
            <a:pPr marL="304800" lvl="1" indent="-292100">
              <a:lnSpc>
                <a:spcPct val="100000"/>
              </a:lnSpc>
              <a:spcBef>
                <a:spcPts val="225"/>
              </a:spcBef>
              <a:buAutoNum type="arabicPeriod"/>
              <a:tabLst>
                <a:tab pos="304800" algn="l"/>
              </a:tabLst>
            </a:pPr>
            <a:r>
              <a:rPr sz="1000" dirty="0">
                <a:latin typeface="Times New Roman"/>
                <a:cs typeface="Times New Roman"/>
                <a:hlinkClick r:id="rId7" action="ppaction://hlinksldjump"/>
              </a:rPr>
              <a:t>Applications</a:t>
            </a:r>
            <a:r>
              <a:rPr sz="1000" spc="150" dirty="0">
                <a:latin typeface="Times New Roman"/>
                <a:cs typeface="Times New Roman"/>
                <a:hlinkClick r:id="rId7" action="ppaction://hlinksldjump"/>
              </a:rPr>
              <a:t>  </a:t>
            </a:r>
            <a:r>
              <a:rPr sz="1000" spc="-10" dirty="0">
                <a:latin typeface="Times New Roman"/>
                <a:cs typeface="Times New Roman"/>
                <a:hlinkClick r:id="rId7" action="ppaction://hlinksldjump"/>
              </a:rPr>
              <a:t>.........................................................................................................................................................</a:t>
            </a:r>
            <a:r>
              <a:rPr sz="1000" spc="150" dirty="0">
                <a:latin typeface="Times New Roman"/>
                <a:cs typeface="Times New Roman"/>
                <a:hlinkClick r:id="rId7" action="ppaction://hlinksldjump"/>
              </a:rPr>
              <a:t>  </a:t>
            </a:r>
            <a:r>
              <a:rPr sz="1000" spc="-25" dirty="0">
                <a:latin typeface="Times New Roman"/>
                <a:cs typeface="Times New Roman"/>
                <a:hlinkClick r:id="rId7" action="ppaction://hlinksldjump"/>
              </a:rPr>
              <a:t>35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9872" y="8755136"/>
            <a:ext cx="6146800" cy="407034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44145">
              <a:lnSpc>
                <a:spcPct val="100000"/>
              </a:lnSpc>
              <a:spcBef>
                <a:spcPts val="400"/>
              </a:spcBef>
            </a:pPr>
            <a:r>
              <a:rPr sz="1000" b="1" dirty="0">
                <a:latin typeface="Times New Roman"/>
                <a:cs typeface="Times New Roman"/>
                <a:hlinkClick r:id="rId8" action="ppaction://hlinksldjump"/>
              </a:rPr>
              <a:t>Conclusion</a:t>
            </a:r>
            <a:r>
              <a:rPr sz="1000" b="1" spc="170" dirty="0">
                <a:latin typeface="Times New Roman"/>
                <a:cs typeface="Times New Roman"/>
                <a:hlinkClick r:id="rId8" action="ppaction://hlinksldjump"/>
              </a:rPr>
              <a:t>  </a:t>
            </a:r>
            <a:r>
              <a:rPr sz="1000" b="1" spc="-10" dirty="0">
                <a:latin typeface="Times New Roman"/>
                <a:cs typeface="Times New Roman"/>
                <a:hlinkClick r:id="rId8" action="ppaction://hlinksldjump"/>
              </a:rPr>
              <a:t>...................................................................................................................................................................</a:t>
            </a:r>
            <a:r>
              <a:rPr sz="1000" b="1" spc="175" dirty="0">
                <a:latin typeface="Times New Roman"/>
                <a:cs typeface="Times New Roman"/>
                <a:hlinkClick r:id="rId8" action="ppaction://hlinksldjump"/>
              </a:rPr>
              <a:t>  </a:t>
            </a:r>
            <a:r>
              <a:rPr sz="1000" b="1" spc="-25" dirty="0">
                <a:latin typeface="Times New Roman"/>
                <a:cs typeface="Times New Roman"/>
                <a:hlinkClick r:id="rId8" action="ppaction://hlinksldjump"/>
              </a:rPr>
              <a:t>36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  <a:tabLst>
                <a:tab pos="304800" algn="l"/>
              </a:tabLst>
            </a:pPr>
            <a:r>
              <a:rPr sz="1500" spc="-37" baseline="2777" dirty="0">
                <a:latin typeface="Times New Roman"/>
                <a:cs typeface="Times New Roman"/>
                <a:hlinkClick r:id="rId8" action="ppaction://hlinksldjump"/>
              </a:rPr>
              <a:t>9.1</a:t>
            </a:r>
            <a:r>
              <a:rPr sz="1500" baseline="2777" dirty="0">
                <a:latin typeface="Times New Roman"/>
                <a:cs typeface="Times New Roman"/>
              </a:rPr>
              <a:t>	</a:t>
            </a:r>
            <a:r>
              <a:rPr sz="1000" dirty="0">
                <a:latin typeface="Times New Roman"/>
                <a:cs typeface="Times New Roman"/>
                <a:hlinkClick r:id="rId8" action="ppaction://hlinksldjump"/>
              </a:rPr>
              <a:t>Future</a:t>
            </a:r>
            <a:r>
              <a:rPr sz="1000" spc="360" dirty="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8" action="ppaction://hlinksldjump"/>
              </a:rPr>
              <a:t>Scope</a:t>
            </a:r>
            <a:r>
              <a:rPr sz="1000" spc="360" dirty="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8" action="ppaction://hlinksldjump"/>
              </a:rPr>
              <a:t>........................................................................................................................................................</a:t>
            </a:r>
            <a:r>
              <a:rPr sz="1000" spc="365" dirty="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8" action="ppaction://hlinksldjump"/>
              </a:rPr>
              <a:t>36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82542" y="847595"/>
            <a:ext cx="5848350" cy="111188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000" dirty="0">
                <a:latin typeface="Times New Roman"/>
                <a:cs typeface="Times New Roman"/>
                <a:hlinkClick r:id="rId9" action="ppaction://hlinksldjump"/>
              </a:rPr>
              <a:t>Acknowledgement</a:t>
            </a:r>
            <a:r>
              <a:rPr sz="1000" spc="130" dirty="0">
                <a:latin typeface="Times New Roman"/>
                <a:cs typeface="Times New Roman"/>
                <a:hlinkClick r:id="rId9" action="ppaction://hlinksldjump"/>
              </a:rPr>
              <a:t>  </a:t>
            </a:r>
            <a:r>
              <a:rPr sz="1000" dirty="0">
                <a:latin typeface="Times New Roman"/>
                <a:cs typeface="Times New Roman"/>
                <a:hlinkClick r:id="rId9" action="ppaction://hlinksldjump"/>
              </a:rPr>
              <a:t>ii</a:t>
            </a:r>
            <a:r>
              <a:rPr sz="1000" spc="135" dirty="0">
                <a:latin typeface="Times New Roman"/>
                <a:cs typeface="Times New Roman"/>
                <a:hlinkClick r:id="rId9" action="ppaction://hlinksldjump"/>
              </a:rPr>
              <a:t>  </a:t>
            </a:r>
            <a:r>
              <a:rPr sz="1000" spc="-10" dirty="0">
                <a:latin typeface="Times New Roman"/>
                <a:cs typeface="Times New Roman"/>
                <a:hlinkClick r:id="rId9" action="ppaction://hlinksldjump"/>
              </a:rPr>
              <a:t>..........................................................................................................................................</a:t>
            </a:r>
            <a:r>
              <a:rPr sz="1000" spc="135" dirty="0">
                <a:latin typeface="Times New Roman"/>
                <a:cs typeface="Times New Roman"/>
                <a:hlinkClick r:id="rId9" action="ppaction://hlinksldjump"/>
              </a:rPr>
              <a:t>  </a:t>
            </a:r>
            <a:r>
              <a:rPr sz="1000" dirty="0">
                <a:latin typeface="Times New Roman"/>
                <a:cs typeface="Times New Roman"/>
                <a:hlinkClick r:id="rId9" action="ppaction://hlinksldjump"/>
              </a:rPr>
              <a:t>3</a:t>
            </a:r>
            <a:r>
              <a:rPr sz="1000" spc="130" dirty="0">
                <a:latin typeface="Times New Roman"/>
                <a:cs typeface="Times New Roman"/>
                <a:hlinkClick r:id="rId9" action="ppaction://hlinksldjump"/>
              </a:rPr>
              <a:t>  </a:t>
            </a:r>
            <a:r>
              <a:rPr sz="1000" spc="-50" dirty="0">
                <a:latin typeface="Times New Roman"/>
                <a:cs typeface="Times New Roman"/>
                <a:hlinkClick r:id="rId9" action="ppaction://hlinksldjump"/>
              </a:rPr>
              <a:t>1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latin typeface="Times New Roman"/>
                <a:cs typeface="Times New Roman"/>
                <a:hlinkClick r:id="rId9" action="ppaction://hlinksldjump"/>
              </a:rPr>
              <a:t>SYNOPSIS</a:t>
            </a:r>
            <a:r>
              <a:rPr sz="1000" spc="220" dirty="0">
                <a:latin typeface="Times New Roman"/>
                <a:cs typeface="Times New Roman"/>
                <a:hlinkClick r:id="rId9" action="ppaction://hlinksldjump"/>
              </a:rPr>
              <a:t>  </a:t>
            </a:r>
            <a:r>
              <a:rPr sz="1000" dirty="0">
                <a:latin typeface="Times New Roman"/>
                <a:cs typeface="Times New Roman"/>
                <a:hlinkClick r:id="rId9" action="ppaction://hlinksldjump"/>
              </a:rPr>
              <a:t>1</a:t>
            </a:r>
            <a:r>
              <a:rPr sz="1000" spc="220" dirty="0">
                <a:latin typeface="Times New Roman"/>
                <a:cs typeface="Times New Roman"/>
                <a:hlinkClick r:id="rId9" action="ppaction://hlinksldjump"/>
              </a:rPr>
              <a:t>  </a:t>
            </a:r>
            <a:r>
              <a:rPr sz="1000" spc="-10" dirty="0">
                <a:latin typeface="Times New Roman"/>
                <a:cs typeface="Times New Roman"/>
                <a:hlinkClick r:id="rId9" action="ppaction://hlinksldjump"/>
              </a:rPr>
              <a:t>.............................................................................................................................................</a:t>
            </a:r>
            <a:r>
              <a:rPr sz="1000" spc="225" dirty="0">
                <a:latin typeface="Times New Roman"/>
                <a:cs typeface="Times New Roman"/>
                <a:hlinkClick r:id="rId9" action="ppaction://hlinksldjump"/>
              </a:rPr>
              <a:t>  </a:t>
            </a:r>
            <a:r>
              <a:rPr sz="1000" dirty="0">
                <a:latin typeface="Times New Roman"/>
                <a:cs typeface="Times New Roman"/>
                <a:hlinkClick r:id="rId9" action="ppaction://hlinksldjump"/>
              </a:rPr>
              <a:t>3</a:t>
            </a:r>
            <a:r>
              <a:rPr sz="1000" spc="22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  <a:hlinkClick r:id="rId10" action="ppaction://hlinksldjump"/>
              </a:rPr>
              <a:t>5.3.1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latin typeface="Times New Roman"/>
                <a:cs typeface="Times New Roman"/>
                <a:hlinkClick r:id="rId10" action="ppaction://hlinksldjump"/>
              </a:rPr>
              <a:t>Project</a:t>
            </a:r>
            <a:r>
              <a:rPr sz="1000" spc="160" dirty="0">
                <a:latin typeface="Times New Roman"/>
                <a:cs typeface="Times New Roman"/>
                <a:hlinkClick r:id="rId10" action="ppaction://hlinksldjump"/>
              </a:rPr>
              <a:t>  </a:t>
            </a:r>
            <a:r>
              <a:rPr sz="1000" dirty="0">
                <a:latin typeface="Times New Roman"/>
                <a:cs typeface="Times New Roman"/>
                <a:hlinkClick r:id="rId10" action="ppaction://hlinksldjump"/>
              </a:rPr>
              <a:t>task</a:t>
            </a:r>
            <a:r>
              <a:rPr sz="1000" spc="165" dirty="0">
                <a:latin typeface="Times New Roman"/>
                <a:cs typeface="Times New Roman"/>
                <a:hlinkClick r:id="rId10" action="ppaction://hlinksldjump"/>
              </a:rPr>
              <a:t>  </a:t>
            </a:r>
            <a:r>
              <a:rPr sz="1000" dirty="0">
                <a:latin typeface="Times New Roman"/>
                <a:cs typeface="Times New Roman"/>
                <a:hlinkClick r:id="rId10" action="ppaction://hlinksldjump"/>
              </a:rPr>
              <a:t>set</a:t>
            </a:r>
            <a:r>
              <a:rPr sz="1000" spc="160" dirty="0">
                <a:latin typeface="Times New Roman"/>
                <a:cs typeface="Times New Roman"/>
                <a:hlinkClick r:id="rId10" action="ppaction://hlinksldjump"/>
              </a:rPr>
              <a:t>  </a:t>
            </a:r>
            <a:r>
              <a:rPr sz="1000" spc="-10" dirty="0">
                <a:latin typeface="Times New Roman"/>
                <a:cs typeface="Times New Roman"/>
                <a:hlinkClick r:id="rId10" action="ppaction://hlinksldjump"/>
              </a:rPr>
              <a:t>........................................................................................................................................</a:t>
            </a:r>
            <a:r>
              <a:rPr sz="1000" spc="165" dirty="0">
                <a:latin typeface="Times New Roman"/>
                <a:cs typeface="Times New Roman"/>
                <a:hlinkClick r:id="rId10" action="ppaction://hlinksldjump"/>
              </a:rPr>
              <a:t>  </a:t>
            </a:r>
            <a:r>
              <a:rPr sz="1000" dirty="0">
                <a:latin typeface="Times New Roman"/>
                <a:cs typeface="Times New Roman"/>
                <a:hlinkClick r:id="rId10" action="ppaction://hlinksldjump"/>
              </a:rPr>
              <a:t>21</a:t>
            </a:r>
            <a:r>
              <a:rPr sz="1000" spc="165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5.3.2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latin typeface="Times New Roman"/>
                <a:cs typeface="Times New Roman"/>
              </a:rPr>
              <a:t>Task</a:t>
            </a:r>
            <a:r>
              <a:rPr sz="1000" spc="22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Network</a:t>
            </a:r>
            <a:r>
              <a:rPr sz="1000" spc="22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..........................................................................................................................................</a:t>
            </a:r>
            <a:r>
              <a:rPr sz="1000" spc="22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22</a:t>
            </a:r>
            <a:r>
              <a:rPr sz="1000" spc="22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5.3.3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latin typeface="Times New Roman"/>
                <a:cs typeface="Times New Roman"/>
              </a:rPr>
              <a:t>Timeline</a:t>
            </a:r>
            <a:r>
              <a:rPr sz="1000" spc="19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Chart</a:t>
            </a:r>
            <a:r>
              <a:rPr sz="1000" spc="20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........................................................................................................................................</a:t>
            </a:r>
            <a:r>
              <a:rPr sz="1000" spc="19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22</a:t>
            </a:r>
            <a:r>
              <a:rPr sz="1000" spc="200" dirty="0">
                <a:latin typeface="Times New Roman"/>
                <a:cs typeface="Times New Roman"/>
              </a:rPr>
              <a:t>  </a:t>
            </a:r>
            <a:r>
              <a:rPr sz="1000" spc="-20" dirty="0">
                <a:latin typeface="Times New Roman"/>
                <a:cs typeface="Times New Roman"/>
              </a:rPr>
              <a:t>Team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latin typeface="Times New Roman"/>
                <a:cs typeface="Times New Roman"/>
              </a:rPr>
              <a:t>Organization</a:t>
            </a:r>
            <a:r>
              <a:rPr sz="1000" spc="125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...............................................................................................................................................</a:t>
            </a:r>
            <a:r>
              <a:rPr sz="1000" spc="130" dirty="0">
                <a:latin typeface="Times New Roman"/>
                <a:cs typeface="Times New Roman"/>
              </a:rPr>
              <a:t>  </a:t>
            </a:r>
            <a:r>
              <a:rPr sz="1000" spc="-25" dirty="0">
                <a:latin typeface="Times New Roman"/>
                <a:cs typeface="Times New Roman"/>
              </a:rPr>
              <a:t>23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88775" y="2491128"/>
            <a:ext cx="5347970" cy="38798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325"/>
              </a:spcBef>
            </a:pPr>
            <a:r>
              <a:rPr sz="1000" dirty="0">
                <a:latin typeface="Times New Roman"/>
                <a:cs typeface="Times New Roman"/>
                <a:hlinkClick r:id="rId2" action="ppaction://hlinksldjump"/>
              </a:rPr>
              <a:t>Purpose</a:t>
            </a:r>
            <a:r>
              <a:rPr sz="1000" spc="110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2" action="ppaction://hlinksldjump"/>
              </a:rPr>
              <a:t>and</a:t>
            </a:r>
            <a:r>
              <a:rPr sz="1000" spc="114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2" action="ppaction://hlinksldjump"/>
              </a:rPr>
              <a:t>Scope</a:t>
            </a:r>
            <a:r>
              <a:rPr sz="1000" spc="114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2" action="ppaction://hlinksldjump"/>
              </a:rPr>
              <a:t>of</a:t>
            </a:r>
            <a:r>
              <a:rPr sz="1000" spc="110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2" action="ppaction://hlinksldjump"/>
              </a:rPr>
              <a:t>Document</a:t>
            </a:r>
            <a:r>
              <a:rPr sz="1000" spc="114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2" action="ppaction://hlinksldjump"/>
              </a:rPr>
              <a:t>............................................................................................................</a:t>
            </a:r>
            <a:r>
              <a:rPr sz="1000" spc="114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2" action="ppaction://hlinksldjump"/>
              </a:rPr>
              <a:t>24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latin typeface="Times New Roman"/>
                <a:cs typeface="Times New Roman"/>
                <a:hlinkClick r:id="rId2" action="ppaction://hlinksldjump"/>
              </a:rPr>
              <a:t>Overview</a:t>
            </a:r>
            <a:r>
              <a:rPr sz="1000" spc="85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2" action="ppaction://hlinksldjump"/>
              </a:rPr>
              <a:t>of</a:t>
            </a:r>
            <a:r>
              <a:rPr sz="1000" spc="90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2" action="ppaction://hlinksldjump"/>
              </a:rPr>
              <a:t>responsibilities</a:t>
            </a:r>
            <a:r>
              <a:rPr sz="1000" spc="90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2" action="ppaction://hlinksldjump"/>
              </a:rPr>
              <a:t>of</a:t>
            </a:r>
            <a:r>
              <a:rPr sz="1000" spc="85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2" action="ppaction://hlinksldjump"/>
              </a:rPr>
              <a:t>Developer</a:t>
            </a:r>
            <a:r>
              <a:rPr sz="1000" spc="90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2" action="ppaction://hlinksldjump"/>
              </a:rPr>
              <a:t>..............................................................................................</a:t>
            </a:r>
            <a:r>
              <a:rPr sz="1000" spc="90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2" action="ppaction://hlinksldjump"/>
              </a:rPr>
              <a:t>24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12992" y="2882410"/>
            <a:ext cx="57238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  <a:hlinkClick r:id="rId2" action="ppaction://hlinksldjump"/>
              </a:rPr>
              <a:t>Usage</a:t>
            </a:r>
            <a:r>
              <a:rPr sz="1000" spc="345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2" action="ppaction://hlinksldjump"/>
              </a:rPr>
              <a:t>Scenario</a:t>
            </a:r>
            <a:r>
              <a:rPr sz="1000" spc="345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2" action="ppaction://hlinksldjump"/>
              </a:rPr>
              <a:t>....................................................................................................................................................</a:t>
            </a:r>
            <a:r>
              <a:rPr sz="1000" spc="345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2" action="ppaction://hlinksldjump"/>
              </a:rPr>
              <a:t>24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95922" y="3034258"/>
            <a:ext cx="5340985" cy="38798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325"/>
              </a:spcBef>
            </a:pP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3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profiles</a:t>
            </a:r>
            <a:r>
              <a:rPr sz="1000" spc="3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............................................................................................................................................</a:t>
            </a:r>
            <a:r>
              <a:rPr sz="1000" spc="33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25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Use</a:t>
            </a:r>
            <a:r>
              <a:rPr sz="1000" spc="225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Case</a:t>
            </a:r>
            <a:r>
              <a:rPr sz="1000" spc="229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Diagram</a:t>
            </a:r>
            <a:r>
              <a:rPr sz="1000" spc="225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3" action="ppaction://hlinksldjump"/>
              </a:rPr>
              <a:t>...................................................................................................................................</a:t>
            </a:r>
            <a:r>
              <a:rPr sz="1000" spc="229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3" action="ppaction://hlinksldjump"/>
              </a:rPr>
              <a:t>26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01081" y="3425540"/>
            <a:ext cx="5735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Data</a:t>
            </a:r>
            <a:r>
              <a:rPr sz="1000" spc="165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Model</a:t>
            </a:r>
            <a:r>
              <a:rPr sz="1000" spc="170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and</a:t>
            </a:r>
            <a:r>
              <a:rPr sz="1000" spc="165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Description</a:t>
            </a:r>
            <a:r>
              <a:rPr sz="1000" spc="170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3" action="ppaction://hlinksldjump"/>
              </a:rPr>
              <a:t>................................................................................................................................</a:t>
            </a:r>
            <a:r>
              <a:rPr sz="1000" spc="170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3" action="ppaction://hlinksldjump"/>
              </a:rPr>
              <a:t>26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15128" y="3577387"/>
            <a:ext cx="5321935" cy="38798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325"/>
              </a:spcBef>
            </a:pP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Data</a:t>
            </a:r>
            <a:r>
              <a:rPr sz="1000" spc="305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Description</a:t>
            </a:r>
            <a:r>
              <a:rPr sz="1000" spc="310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3" action="ppaction://hlinksldjump"/>
              </a:rPr>
              <a:t>.....................................................................................................................................</a:t>
            </a:r>
            <a:r>
              <a:rPr sz="1000" spc="310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3" action="ppaction://hlinksldjump"/>
              </a:rPr>
              <a:t>26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Data</a:t>
            </a:r>
            <a:r>
              <a:rPr sz="1000" spc="140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objects</a:t>
            </a:r>
            <a:r>
              <a:rPr sz="1000" spc="145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and</a:t>
            </a:r>
            <a:r>
              <a:rPr sz="1000" spc="145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Relationships</a:t>
            </a:r>
            <a:r>
              <a:rPr sz="1000" spc="145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3" action="ppaction://hlinksldjump"/>
              </a:rPr>
              <a:t>...............................................................................................................</a:t>
            </a:r>
            <a:r>
              <a:rPr sz="1000" spc="145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3" action="ppaction://hlinksldjump"/>
              </a:rPr>
              <a:t>26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15969" y="3968670"/>
            <a:ext cx="57207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Functional</a:t>
            </a:r>
            <a:r>
              <a:rPr sz="1000" spc="150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Model</a:t>
            </a:r>
            <a:r>
              <a:rPr sz="1000" spc="150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and</a:t>
            </a:r>
            <a:r>
              <a:rPr sz="1000" spc="150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Description</a:t>
            </a:r>
            <a:r>
              <a:rPr sz="1000" spc="150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3" action="ppaction://hlinksldjump"/>
              </a:rPr>
              <a:t>......................................................................................................................</a:t>
            </a:r>
            <a:r>
              <a:rPr sz="1000" spc="150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3" action="ppaction://hlinksldjump"/>
              </a:rPr>
              <a:t>26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03217" y="4120517"/>
            <a:ext cx="5333365" cy="111188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000" dirty="0">
                <a:latin typeface="Times New Roman"/>
                <a:cs typeface="Times New Roman"/>
                <a:hlinkClick r:id="rId11" action="ppaction://hlinksldjump"/>
              </a:rPr>
              <a:t>Data</a:t>
            </a:r>
            <a:r>
              <a:rPr sz="1000" spc="220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1" action="ppaction://hlinksldjump"/>
              </a:rPr>
              <a:t>Flow</a:t>
            </a:r>
            <a:r>
              <a:rPr sz="1000" spc="22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1" action="ppaction://hlinksldjump"/>
              </a:rPr>
              <a:t>Diagram</a:t>
            </a:r>
            <a:r>
              <a:rPr sz="1000" spc="220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11" action="ppaction://hlinksldjump"/>
              </a:rPr>
              <a:t>.................................................................................................................................</a:t>
            </a:r>
            <a:r>
              <a:rPr sz="1000" spc="22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11" action="ppaction://hlinksldjump"/>
              </a:rPr>
              <a:t>27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latin typeface="Times New Roman"/>
                <a:cs typeface="Times New Roman"/>
                <a:hlinkClick r:id="rId11" action="ppaction://hlinksldjump"/>
              </a:rPr>
              <a:t>Data</a:t>
            </a:r>
            <a:r>
              <a:rPr sz="1000" spc="220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1" action="ppaction://hlinksldjump"/>
              </a:rPr>
              <a:t>Flow</a:t>
            </a:r>
            <a:r>
              <a:rPr sz="1000" spc="22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1" action="ppaction://hlinksldjump"/>
              </a:rPr>
              <a:t>Diagram</a:t>
            </a:r>
            <a:r>
              <a:rPr sz="1000" spc="220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11" action="ppaction://hlinksldjump"/>
              </a:rPr>
              <a:t>.................................................................................................................................</a:t>
            </a:r>
            <a:r>
              <a:rPr sz="1000" spc="22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11" action="ppaction://hlinksldjump"/>
              </a:rPr>
              <a:t>27</a:t>
            </a:r>
            <a:endParaRPr sz="1000">
              <a:latin typeface="Times New Roman"/>
              <a:cs typeface="Times New Roman"/>
            </a:endParaRPr>
          </a:p>
          <a:p>
            <a:pPr marL="27940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latin typeface="Times New Roman"/>
                <a:cs typeface="Times New Roman"/>
                <a:hlinkClick r:id="rId12" action="ppaction://hlinksldjump"/>
              </a:rPr>
              <a:t>Non</a:t>
            </a:r>
            <a:r>
              <a:rPr sz="1000" spc="180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2" action="ppaction://hlinksldjump"/>
              </a:rPr>
              <a:t>Functional</a:t>
            </a:r>
            <a:r>
              <a:rPr sz="1000" spc="180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2" action="ppaction://hlinksldjump"/>
              </a:rPr>
              <a:t>Requirements:</a:t>
            </a:r>
            <a:r>
              <a:rPr sz="1000" spc="185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12" action="ppaction://hlinksldjump"/>
              </a:rPr>
              <a:t>...............................................................................................................</a:t>
            </a:r>
            <a:r>
              <a:rPr sz="1000" spc="180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12" action="ppaction://hlinksldjump"/>
              </a:rPr>
              <a:t>28</a:t>
            </a:r>
            <a:endParaRPr sz="100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latin typeface="Times New Roman"/>
                <a:cs typeface="Times New Roman"/>
                <a:hlinkClick r:id="rId12" action="ppaction://hlinksldjump"/>
              </a:rPr>
              <a:t>State</a:t>
            </a:r>
            <a:r>
              <a:rPr sz="1000" spc="320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2" action="ppaction://hlinksldjump"/>
              </a:rPr>
              <a:t>Diagram:</a:t>
            </a:r>
            <a:r>
              <a:rPr sz="1000" spc="320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12" action="ppaction://hlinksldjump"/>
              </a:rPr>
              <a:t>........................................................................................................................................</a:t>
            </a:r>
            <a:r>
              <a:rPr sz="1000" spc="325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12" action="ppaction://hlinksldjump"/>
              </a:rPr>
              <a:t>28</a:t>
            </a:r>
            <a:endParaRPr sz="10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latin typeface="Times New Roman"/>
                <a:cs typeface="Times New Roman"/>
                <a:hlinkClick r:id="rId12" action="ppaction://hlinksldjump"/>
              </a:rPr>
              <a:t>Design</a:t>
            </a:r>
            <a:r>
              <a:rPr sz="1000" spc="305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2" action="ppaction://hlinksldjump"/>
              </a:rPr>
              <a:t>Constraints</a:t>
            </a:r>
            <a:r>
              <a:rPr sz="1000" spc="305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12" action="ppaction://hlinksldjump"/>
              </a:rPr>
              <a:t>..................................................................................................................................</a:t>
            </a:r>
            <a:r>
              <a:rPr sz="1000" spc="305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12" action="ppaction://hlinksldjump"/>
              </a:rPr>
              <a:t>28</a:t>
            </a:r>
            <a:endParaRPr sz="1000">
              <a:latin typeface="Times New Roman"/>
              <a:cs typeface="Times New Roman"/>
            </a:endParaRPr>
          </a:p>
          <a:p>
            <a:pPr marL="27940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latin typeface="Times New Roman"/>
                <a:cs typeface="Times New Roman"/>
                <a:hlinkClick r:id="rId12" action="ppaction://hlinksldjump"/>
              </a:rPr>
              <a:t>Software</a:t>
            </a:r>
            <a:r>
              <a:rPr sz="1000" spc="170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2" action="ppaction://hlinksldjump"/>
              </a:rPr>
              <a:t>Interface</a:t>
            </a:r>
            <a:r>
              <a:rPr sz="1000" spc="170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2" action="ppaction://hlinksldjump"/>
              </a:rPr>
              <a:t>Description</a:t>
            </a:r>
            <a:r>
              <a:rPr sz="1000" spc="170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12" action="ppaction://hlinksldjump"/>
              </a:rPr>
              <a:t>...............................................................................................................</a:t>
            </a:r>
            <a:r>
              <a:rPr sz="1000" spc="170" dirty="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12" action="ppaction://hlinksldjump"/>
              </a:rPr>
              <a:t>28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40534" y="5226443"/>
            <a:ext cx="5995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imes New Roman"/>
                <a:cs typeface="Times New Roman"/>
                <a:hlinkClick r:id="rId13" action="ppaction://hlinksldjump"/>
              </a:rPr>
              <a:t>Detailed</a:t>
            </a:r>
            <a:r>
              <a:rPr sz="1000" b="1" spc="145" dirty="0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sz="1000" b="1" dirty="0">
                <a:latin typeface="Times New Roman"/>
                <a:cs typeface="Times New Roman"/>
                <a:hlinkClick r:id="rId13" action="ppaction://hlinksldjump"/>
              </a:rPr>
              <a:t>Design</a:t>
            </a:r>
            <a:r>
              <a:rPr sz="1000" b="1" spc="150" dirty="0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sz="1000" b="1" spc="-10" dirty="0">
                <a:latin typeface="Times New Roman"/>
                <a:cs typeface="Times New Roman"/>
                <a:hlinkClick r:id="rId13" action="ppaction://hlinksldjump"/>
              </a:rPr>
              <a:t>Document.........................................................................................................................................29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82542" y="2494072"/>
            <a:ext cx="279400" cy="38798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000" spc="-10" dirty="0">
                <a:latin typeface="Times New Roman"/>
                <a:cs typeface="Times New Roman"/>
                <a:hlinkClick r:id="rId2" action="ppaction://hlinksldjump"/>
              </a:rPr>
              <a:t>6.1.1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10" dirty="0">
                <a:latin typeface="Times New Roman"/>
                <a:cs typeface="Times New Roman"/>
                <a:hlinkClick r:id="rId2" action="ppaction://hlinksldjump"/>
              </a:rPr>
              <a:t>6.1.2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00825" y="1995040"/>
            <a:ext cx="6336030" cy="521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295">
              <a:lnSpc>
                <a:spcPts val="1195"/>
              </a:lnSpc>
              <a:spcBef>
                <a:spcPts val="95"/>
              </a:spcBef>
            </a:pPr>
            <a:r>
              <a:rPr sz="1000" b="1" dirty="0">
                <a:latin typeface="Times New Roman"/>
                <a:cs typeface="Times New Roman"/>
                <a:hlinkClick r:id="rId2" action="ppaction://hlinksldjump"/>
              </a:rPr>
              <a:t>Software</a:t>
            </a:r>
            <a:r>
              <a:rPr sz="1000" b="1" spc="470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b="1" dirty="0">
                <a:latin typeface="Times New Roman"/>
                <a:cs typeface="Times New Roman"/>
                <a:hlinkClick r:id="rId2" action="ppaction://hlinksldjump"/>
              </a:rPr>
              <a:t>Requirement</a:t>
            </a:r>
            <a:r>
              <a:rPr sz="1000" b="1" spc="475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b="1" spc="-10" dirty="0">
                <a:latin typeface="Times New Roman"/>
                <a:cs typeface="Times New Roman"/>
                <a:hlinkClick r:id="rId2" action="ppaction://hlinksldjump"/>
              </a:rPr>
              <a:t>Specification.........................................................................................................................24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195"/>
              </a:lnSpc>
            </a:pPr>
            <a:r>
              <a:rPr sz="1000" b="1" spc="-50" dirty="0">
                <a:latin typeface="Times New Roman"/>
                <a:cs typeface="Times New Roman"/>
                <a:hlinkClick r:id="rId2" action="ppaction://hlinksldjump"/>
              </a:rPr>
              <a:t>6</a:t>
            </a:r>
            <a:endParaRPr sz="1000">
              <a:latin typeface="Times New Roman"/>
              <a:cs typeface="Times New Roman"/>
            </a:endParaRPr>
          </a:p>
          <a:p>
            <a:pPr marL="201295">
              <a:lnSpc>
                <a:spcPct val="100000"/>
              </a:lnSpc>
              <a:spcBef>
                <a:spcPts val="325"/>
              </a:spcBef>
              <a:tabLst>
                <a:tab pos="630555" algn="l"/>
              </a:tabLst>
            </a:pPr>
            <a:r>
              <a:rPr sz="1500" spc="-37" baseline="5555" dirty="0">
                <a:latin typeface="Times New Roman"/>
                <a:cs typeface="Times New Roman"/>
                <a:hlinkClick r:id="rId2" action="ppaction://hlinksldjump"/>
              </a:rPr>
              <a:t>6.1</a:t>
            </a:r>
            <a:r>
              <a:rPr sz="1500" baseline="5555" dirty="0">
                <a:latin typeface="Times New Roman"/>
                <a:cs typeface="Times New Roman"/>
              </a:rPr>
              <a:t>	</a:t>
            </a:r>
            <a:r>
              <a:rPr sz="1000" dirty="0">
                <a:latin typeface="Times New Roman"/>
                <a:cs typeface="Times New Roman"/>
                <a:hlinkClick r:id="rId2" action="ppaction://hlinksldjump"/>
              </a:rPr>
              <a:t>Introduction</a:t>
            </a:r>
            <a:r>
              <a:rPr sz="1000" spc="145" dirty="0">
                <a:latin typeface="Times New Roman"/>
                <a:cs typeface="Times New Roman"/>
                <a:hlinkClick r:id="rId2" action="ppaction://hlinksldjump"/>
              </a:rPr>
              <a:t>  </a:t>
            </a:r>
            <a:r>
              <a:rPr sz="1000" spc="-10" dirty="0">
                <a:latin typeface="Times New Roman"/>
                <a:cs typeface="Times New Roman"/>
                <a:hlinkClick r:id="rId2" action="ppaction://hlinksldjump"/>
              </a:rPr>
              <a:t>.........................................................................................................................................................</a:t>
            </a:r>
            <a:r>
              <a:rPr sz="1000" spc="150" dirty="0">
                <a:latin typeface="Times New Roman"/>
                <a:cs typeface="Times New Roman"/>
                <a:hlinkClick r:id="rId2" action="ppaction://hlinksldjump"/>
              </a:rPr>
              <a:t>  </a:t>
            </a:r>
            <a:r>
              <a:rPr sz="1000" spc="-25" dirty="0">
                <a:latin typeface="Times New Roman"/>
                <a:cs typeface="Times New Roman"/>
                <a:hlinkClick r:id="rId2" action="ppaction://hlinksldjump"/>
              </a:rPr>
              <a:t>24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82542" y="3063120"/>
            <a:ext cx="279400" cy="38798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000" spc="-10" dirty="0">
                <a:latin typeface="Times New Roman"/>
                <a:cs typeface="Times New Roman"/>
              </a:rPr>
              <a:t>6.2.1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10" dirty="0">
                <a:latin typeface="Times New Roman"/>
                <a:cs typeface="Times New Roman"/>
                <a:hlinkClick r:id="rId3" action="ppaction://hlinksldjump"/>
              </a:rPr>
              <a:t>6.2.2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82542" y="3662506"/>
            <a:ext cx="279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  <a:hlinkClick r:id="rId3" action="ppaction://hlinksldjump"/>
              </a:rPr>
              <a:t>6.3.1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82542" y="3843549"/>
            <a:ext cx="279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  <a:hlinkClick r:id="rId3" action="ppaction://hlinksldjump"/>
              </a:rPr>
              <a:t>6.3.2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82542" y="4203501"/>
            <a:ext cx="279400" cy="930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000" spc="-10" dirty="0">
                <a:latin typeface="Times New Roman"/>
                <a:cs typeface="Times New Roman"/>
                <a:hlinkClick r:id="rId11" action="ppaction://hlinksldjump"/>
              </a:rPr>
              <a:t>6.4.1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10" dirty="0">
                <a:latin typeface="Times New Roman"/>
                <a:cs typeface="Times New Roman"/>
                <a:hlinkClick r:id="rId11" action="ppaction://hlinksldjump"/>
              </a:rPr>
              <a:t>6.4.2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10" dirty="0">
                <a:latin typeface="Times New Roman"/>
                <a:cs typeface="Times New Roman"/>
                <a:hlinkClick r:id="rId12" action="ppaction://hlinksldjump"/>
              </a:rPr>
              <a:t>6.4.3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10" dirty="0">
                <a:latin typeface="Times New Roman"/>
                <a:cs typeface="Times New Roman"/>
                <a:hlinkClick r:id="rId12" action="ppaction://hlinksldjump"/>
              </a:rPr>
              <a:t>6.4.4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10" dirty="0">
                <a:latin typeface="Times New Roman"/>
                <a:cs typeface="Times New Roman"/>
                <a:hlinkClick r:id="rId12" action="ppaction://hlinksldjump"/>
              </a:rPr>
              <a:t>6.4.5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82542" y="5137913"/>
            <a:ext cx="279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  <a:hlinkClick r:id="rId12" action="ppaction://hlinksldjump"/>
              </a:rPr>
              <a:t>6.4.6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95106" y="6209631"/>
            <a:ext cx="5335905" cy="56896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Internal</a:t>
            </a:r>
            <a:r>
              <a:rPr sz="1000" spc="13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software</a:t>
            </a:r>
            <a:r>
              <a:rPr sz="1000" spc="13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data</a:t>
            </a:r>
            <a:r>
              <a:rPr sz="1000" spc="13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structure</a:t>
            </a:r>
            <a:r>
              <a:rPr sz="1000" spc="140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4" action="ppaction://hlinksldjump"/>
              </a:rPr>
              <a:t>...............................................................................................................</a:t>
            </a:r>
            <a:r>
              <a:rPr sz="1000" spc="13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4" action="ppaction://hlinksldjump"/>
              </a:rPr>
              <a:t>30</a:t>
            </a:r>
            <a:endParaRPr sz="1000">
              <a:latin typeface="Times New Roman"/>
              <a:cs typeface="Times New Roman"/>
            </a:endParaRPr>
          </a:p>
          <a:p>
            <a:pPr marL="20955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Global</a:t>
            </a:r>
            <a:r>
              <a:rPr sz="1000" spc="21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data</a:t>
            </a:r>
            <a:r>
              <a:rPr sz="1000" spc="21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structure</a:t>
            </a:r>
            <a:r>
              <a:rPr sz="1000" spc="21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4" action="ppaction://hlinksldjump"/>
              </a:rPr>
              <a:t>...............................................................................................................................</a:t>
            </a:r>
            <a:r>
              <a:rPr sz="1000" spc="21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4" action="ppaction://hlinksldjump"/>
              </a:rPr>
              <a:t>30</a:t>
            </a:r>
            <a:endParaRPr sz="10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Database</a:t>
            </a:r>
            <a:r>
              <a:rPr sz="1000" spc="28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description</a:t>
            </a:r>
            <a:r>
              <a:rPr sz="1000" spc="28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4" action="ppaction://hlinksldjump"/>
              </a:rPr>
              <a:t>...............................................................................................................................</a:t>
            </a:r>
            <a:r>
              <a:rPr sz="1000" spc="28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4" action="ppaction://hlinksldjump"/>
              </a:rPr>
              <a:t>30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07858" y="6781956"/>
            <a:ext cx="57232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Component</a:t>
            </a:r>
            <a:r>
              <a:rPr sz="1000" spc="330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Design</a:t>
            </a:r>
            <a:r>
              <a:rPr sz="1000" spc="33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4" action="ppaction://hlinksldjump"/>
              </a:rPr>
              <a:t>..............................................................................................................................................</a:t>
            </a:r>
            <a:r>
              <a:rPr sz="1000" spc="33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4" action="ppaction://hlinksldjump"/>
              </a:rPr>
              <a:t>30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99722" y="6962999"/>
            <a:ext cx="5330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Class</a:t>
            </a:r>
            <a:r>
              <a:rPr sz="1000" spc="32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Diagram</a:t>
            </a:r>
            <a:r>
              <a:rPr sz="1000" spc="32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4" action="ppaction://hlinksldjump"/>
              </a:rPr>
              <a:t>.........................................................................................................................................</a:t>
            </a:r>
            <a:r>
              <a:rPr sz="1000" spc="330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4" action="ppaction://hlinksldjump"/>
              </a:rPr>
              <a:t>30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87015" y="7144043"/>
            <a:ext cx="57435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  <a:hlinkClick r:id="rId5" action="ppaction://hlinksldjump"/>
              </a:rPr>
              <a:t>Project</a:t>
            </a:r>
            <a:r>
              <a:rPr sz="1000" spc="310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5" action="ppaction://hlinksldjump"/>
              </a:rPr>
              <a:t>Implementation</a:t>
            </a:r>
            <a:r>
              <a:rPr sz="1000" spc="310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5" action="ppaction://hlinksldjump"/>
              </a:rPr>
              <a:t>........................................................................................................................................</a:t>
            </a:r>
            <a:r>
              <a:rPr sz="1000" spc="315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5" action="ppaction://hlinksldjump"/>
              </a:rPr>
              <a:t>31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902401" y="7325086"/>
            <a:ext cx="53282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  <a:hlinkClick r:id="rId5" action="ppaction://hlinksldjump"/>
              </a:rPr>
              <a:t>Tools</a:t>
            </a:r>
            <a:r>
              <a:rPr sz="1000" spc="195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5" action="ppaction://hlinksldjump"/>
              </a:rPr>
              <a:t>and</a:t>
            </a:r>
            <a:r>
              <a:rPr sz="1000" spc="195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5" action="ppaction://hlinksldjump"/>
              </a:rPr>
              <a:t>Technologies</a:t>
            </a:r>
            <a:r>
              <a:rPr sz="1000" spc="195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5" action="ppaction://hlinksldjump"/>
              </a:rPr>
              <a:t>Used..................................................................................................................</a:t>
            </a:r>
            <a:r>
              <a:rPr sz="1000" spc="195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5" action="ppaction://hlinksldjump"/>
              </a:rPr>
              <a:t>31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92970" y="7506130"/>
            <a:ext cx="57378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  <a:hlinkClick r:id="rId6" action="ppaction://hlinksldjump"/>
              </a:rPr>
              <a:t>Software</a:t>
            </a:r>
            <a:r>
              <a:rPr sz="1000" spc="340" dirty="0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6" action="ppaction://hlinksldjump"/>
              </a:rPr>
              <a:t>Testing</a:t>
            </a:r>
            <a:r>
              <a:rPr sz="1000" spc="340" dirty="0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6" action="ppaction://hlinksldjump"/>
              </a:rPr>
              <a:t>..................................................................................................................................................</a:t>
            </a:r>
            <a:r>
              <a:rPr sz="1000" spc="345" dirty="0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6" action="ppaction://hlinksldjump"/>
              </a:rPr>
              <a:t>33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82542" y="6230108"/>
            <a:ext cx="279400" cy="56896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000" spc="-10" dirty="0">
                <a:latin typeface="Times New Roman"/>
                <a:cs typeface="Times New Roman"/>
                <a:hlinkClick r:id="rId4" action="ppaction://hlinksldjump"/>
              </a:rPr>
              <a:t>7.3.1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10" dirty="0">
                <a:latin typeface="Times New Roman"/>
                <a:cs typeface="Times New Roman"/>
                <a:hlinkClick r:id="rId4" action="ppaction://hlinksldjump"/>
              </a:rPr>
              <a:t>7.3.2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10" dirty="0">
                <a:latin typeface="Times New Roman"/>
                <a:cs typeface="Times New Roman"/>
                <a:hlinkClick r:id="rId4" action="ppaction://hlinksldjump"/>
              </a:rPr>
              <a:t>7.3.3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00825" y="5459998"/>
            <a:ext cx="6330315" cy="7753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b="1" spc="-50" dirty="0">
                <a:latin typeface="Times New Roman"/>
                <a:cs typeface="Times New Roman"/>
                <a:hlinkClick r:id="rId13" action="ppaction://hlinksldjump"/>
              </a:rPr>
              <a:t>7</a:t>
            </a:r>
            <a:endParaRPr sz="1000">
              <a:latin typeface="Times New Roman"/>
              <a:cs typeface="Times New Roman"/>
            </a:endParaRPr>
          </a:p>
          <a:p>
            <a:pPr marL="624840" lvl="1" indent="-423545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624840" algn="l"/>
              </a:tabLst>
            </a:pPr>
            <a:r>
              <a:rPr sz="1000" dirty="0">
                <a:latin typeface="Times New Roman"/>
                <a:cs typeface="Times New Roman"/>
                <a:hlinkClick r:id="rId13" action="ppaction://hlinksldjump"/>
              </a:rPr>
              <a:t>Introduction</a:t>
            </a:r>
            <a:r>
              <a:rPr sz="1000" spc="145" dirty="0">
                <a:latin typeface="Times New Roman"/>
                <a:cs typeface="Times New Roman"/>
                <a:hlinkClick r:id="rId13" action="ppaction://hlinksldjump"/>
              </a:rPr>
              <a:t>  </a:t>
            </a:r>
            <a:r>
              <a:rPr sz="1000" spc="-10" dirty="0">
                <a:latin typeface="Times New Roman"/>
                <a:cs typeface="Times New Roman"/>
                <a:hlinkClick r:id="rId13" action="ppaction://hlinksldjump"/>
              </a:rPr>
              <a:t>.........................................................................................................................................................</a:t>
            </a:r>
            <a:r>
              <a:rPr sz="1000" spc="150" dirty="0">
                <a:latin typeface="Times New Roman"/>
                <a:cs typeface="Times New Roman"/>
                <a:hlinkClick r:id="rId13" action="ppaction://hlinksldjump"/>
              </a:rPr>
              <a:t>  </a:t>
            </a:r>
            <a:r>
              <a:rPr sz="1000" spc="-25" dirty="0">
                <a:latin typeface="Times New Roman"/>
                <a:cs typeface="Times New Roman"/>
                <a:hlinkClick r:id="rId13" action="ppaction://hlinksldjump"/>
              </a:rPr>
              <a:t>29</a:t>
            </a:r>
            <a:endParaRPr sz="1000">
              <a:latin typeface="Times New Roman"/>
              <a:cs typeface="Times New Roman"/>
            </a:endParaRPr>
          </a:p>
          <a:p>
            <a:pPr marL="605155" lvl="1" indent="-403860">
              <a:lnSpc>
                <a:spcPct val="100000"/>
              </a:lnSpc>
              <a:spcBef>
                <a:spcPts val="225"/>
              </a:spcBef>
              <a:buAutoNum type="arabicPeriod"/>
              <a:tabLst>
                <a:tab pos="605155" algn="l"/>
              </a:tabLst>
            </a:pPr>
            <a:r>
              <a:rPr sz="1000" spc="-10" dirty="0">
                <a:latin typeface="Times New Roman"/>
                <a:cs typeface="Times New Roman"/>
                <a:hlinkClick r:id="rId13" action="ppaction://hlinksldjump"/>
              </a:rPr>
              <a:t>Architectural</a:t>
            </a:r>
            <a:r>
              <a:rPr sz="1000" spc="360" dirty="0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13" action="ppaction://hlinksldjump"/>
              </a:rPr>
              <a:t>Design</a:t>
            </a:r>
            <a:r>
              <a:rPr sz="1000" spc="360" dirty="0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13" action="ppaction://hlinksldjump"/>
              </a:rPr>
              <a:t>............................................................................................................................................</a:t>
            </a:r>
            <a:r>
              <a:rPr sz="1000" spc="365" dirty="0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13" action="ppaction://hlinksldjump"/>
              </a:rPr>
              <a:t>29</a:t>
            </a:r>
            <a:endParaRPr sz="1000">
              <a:latin typeface="Times New Roman"/>
              <a:cs typeface="Times New Roman"/>
            </a:endParaRPr>
          </a:p>
          <a:p>
            <a:pPr marL="617855" lvl="1" indent="-416559">
              <a:lnSpc>
                <a:spcPct val="100000"/>
              </a:lnSpc>
              <a:spcBef>
                <a:spcPts val="225"/>
              </a:spcBef>
              <a:buAutoNum type="arabicPeriod"/>
              <a:tabLst>
                <a:tab pos="617855" algn="l"/>
              </a:tabLst>
            </a:pP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Data</a:t>
            </a:r>
            <a:r>
              <a:rPr sz="1000" spc="36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design</a:t>
            </a:r>
            <a:r>
              <a:rPr sz="1000" spc="370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4" action="ppaction://hlinksldjump"/>
              </a:rPr>
              <a:t>..........................................................................................................................................................</a:t>
            </a:r>
            <a:r>
              <a:rPr sz="1000" spc="370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spc="-25" dirty="0">
                <a:latin typeface="Times New Roman"/>
                <a:cs typeface="Times New Roman"/>
                <a:hlinkClick r:id="rId4" action="ppaction://hlinksldjump"/>
              </a:rPr>
              <a:t>30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82542" y="7018542"/>
            <a:ext cx="279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  <a:hlinkClick r:id="rId4" action="ppaction://hlinksldjump"/>
              </a:rPr>
              <a:t>7.4.1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82542" y="7398542"/>
            <a:ext cx="279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  <a:hlinkClick r:id="rId5" action="ppaction://hlinksldjump"/>
              </a:rPr>
              <a:t>7.5.1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00825" y="7908083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latin typeface="Times New Roman"/>
                <a:cs typeface="Times New Roman"/>
                <a:hlinkClick r:id="rId14" action="ppaction://hlinksldjump"/>
              </a:rPr>
              <a:t>8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00825" y="8793860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latin typeface="Times New Roman"/>
                <a:cs typeface="Times New Roman"/>
                <a:hlinkClick r:id="rId8" action="ppaction://hlinksldjump"/>
              </a:rPr>
              <a:t>9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27603" y="7908083"/>
            <a:ext cx="60090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imes New Roman"/>
                <a:cs typeface="Times New Roman"/>
                <a:hlinkClick r:id="rId14" action="ppaction://hlinksldjump"/>
              </a:rPr>
              <a:t>Technical</a:t>
            </a:r>
            <a:r>
              <a:rPr sz="1000" b="1" spc="330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000" b="1" dirty="0">
                <a:latin typeface="Times New Roman"/>
                <a:cs typeface="Times New Roman"/>
                <a:hlinkClick r:id="rId14" action="ppaction://hlinksldjump"/>
              </a:rPr>
              <a:t>Specification</a:t>
            </a:r>
            <a:r>
              <a:rPr sz="1000" b="1" spc="330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000" b="1" spc="-10" dirty="0">
                <a:latin typeface="Times New Roman"/>
                <a:cs typeface="Times New Roman"/>
                <a:hlinkClick r:id="rId14" action="ppaction://hlinksldjump"/>
              </a:rPr>
              <a:t>...............................................................................................................................................</a:t>
            </a:r>
            <a:r>
              <a:rPr sz="1000" b="1" spc="330" dirty="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000" b="1" spc="-25" dirty="0">
                <a:latin typeface="Times New Roman"/>
                <a:cs typeface="Times New Roman"/>
                <a:hlinkClick r:id="rId14" action="ppaction://hlinksldjump"/>
              </a:rPr>
              <a:t>34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00825" y="9300262"/>
            <a:ext cx="6339205" cy="492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0190" indent="-237490">
              <a:lnSpc>
                <a:spcPct val="100000"/>
              </a:lnSpc>
              <a:spcBef>
                <a:spcPts val="95"/>
              </a:spcBef>
              <a:buAutoNum type="arabicPlain" startAt="10"/>
              <a:tabLst>
                <a:tab pos="250190" algn="l"/>
              </a:tabLst>
            </a:pPr>
            <a:r>
              <a:rPr sz="1000" b="1" spc="-10" dirty="0">
                <a:latin typeface="Times New Roman"/>
                <a:cs typeface="Times New Roman"/>
                <a:hlinkClick r:id="rId15" action="ppaction://hlinksldjump"/>
              </a:rPr>
              <a:t>References....................................................................................................................................................................</a:t>
            </a:r>
            <a:r>
              <a:rPr sz="1000" b="1" spc="459" dirty="0">
                <a:latin typeface="Times New Roman"/>
                <a:cs typeface="Times New Roman"/>
                <a:hlinkClick r:id="rId15" action="ppaction://hlinksldjump"/>
              </a:rPr>
              <a:t>   </a:t>
            </a:r>
            <a:r>
              <a:rPr sz="1000" b="1" spc="-25" dirty="0">
                <a:latin typeface="Times New Roman"/>
                <a:cs typeface="Times New Roman"/>
                <a:hlinkClick r:id="rId15" action="ppaction://hlinksldjump"/>
              </a:rPr>
              <a:t>37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Times New Roman"/>
              <a:buAutoNum type="arabicPlain" startAt="10"/>
            </a:pPr>
            <a:endParaRPr sz="1000">
              <a:latin typeface="Times New Roman"/>
              <a:cs typeface="Times New Roman"/>
            </a:endParaRPr>
          </a:p>
          <a:p>
            <a:pPr marL="171450" indent="-158750">
              <a:lnSpc>
                <a:spcPct val="100000"/>
              </a:lnSpc>
              <a:buAutoNum type="arabicPlain" startAt="10"/>
              <a:tabLst>
                <a:tab pos="171450" algn="l"/>
              </a:tabLst>
            </a:pPr>
            <a:r>
              <a:rPr sz="1000" b="1" dirty="0">
                <a:latin typeface="Times New Roman"/>
                <a:cs typeface="Times New Roman"/>
              </a:rPr>
              <a:t>RESULT</a:t>
            </a:r>
            <a:r>
              <a:rPr sz="1000" b="1" spc="16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............................................................................................................................</a:t>
            </a:r>
            <a:r>
              <a:rPr sz="1000" b="1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Error!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Bookmark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not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defined.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1190"/>
              </a:lnSpc>
            </a:pPr>
            <a:r>
              <a:rPr spc="-25" dirty="0"/>
              <a:t>v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349" y="841660"/>
            <a:ext cx="6064250" cy="564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List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Figures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4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</a:pPr>
            <a:r>
              <a:rPr sz="1000" dirty="0">
                <a:latin typeface="Times New Roman"/>
                <a:cs typeface="Times New Roman"/>
                <a:hlinkClick r:id="rId2" action="ppaction://hlinksldjump"/>
              </a:rPr>
              <a:t>1.1</a:t>
            </a:r>
            <a:r>
              <a:rPr sz="1000" spc="-5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2" action="ppaction://hlinksldjump"/>
              </a:rPr>
              <a:t>Execution</a:t>
            </a:r>
            <a:r>
              <a:rPr sz="1000" spc="-5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2" action="ppaction://hlinksldjump"/>
              </a:rPr>
              <a:t>Plan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.5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5.1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Task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Network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980"/>
              </a:spcBef>
            </a:pP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.17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6.1 Use</a:t>
            </a:r>
            <a:r>
              <a:rPr sz="1000" spc="-5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3" action="ppaction://hlinksldjump"/>
              </a:rPr>
              <a:t>Case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975"/>
              </a:spcBef>
            </a:pP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.21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6.2</a:t>
            </a:r>
            <a:r>
              <a:rPr sz="1000" spc="-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DataFlow</a:t>
            </a:r>
            <a:r>
              <a:rPr sz="1000" spc="-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Diagram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.22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6.3</a:t>
            </a:r>
            <a:r>
              <a:rPr sz="1000" spc="-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DataFlow</a:t>
            </a:r>
            <a:r>
              <a:rPr sz="1000" spc="-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4" action="ppaction://hlinksldjump"/>
              </a:rPr>
              <a:t>Diagram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975"/>
              </a:spcBef>
            </a:pP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.22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6.4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Activity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Diagram 1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975"/>
              </a:spcBef>
            </a:pP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.23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6.5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Activity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Diagram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2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.24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6.6</a:t>
            </a:r>
            <a:endParaRPr sz="10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975"/>
              </a:spcBef>
            </a:pPr>
            <a:r>
              <a:rPr sz="1000" dirty="0">
                <a:latin typeface="Times New Roman"/>
                <a:cs typeface="Times New Roman"/>
              </a:rPr>
              <a:t>Activity Diagram . . . . . . . . . . . 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 . . . . . . . . 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 . . . . . . . . . . .25 </a:t>
            </a:r>
            <a:r>
              <a:rPr sz="1000" dirty="0">
                <a:latin typeface="Times New Roman"/>
                <a:cs typeface="Times New Roman"/>
                <a:hlinkClick r:id="rId5" action="ppaction://hlinksldjump"/>
              </a:rPr>
              <a:t>7.1</a:t>
            </a:r>
            <a:r>
              <a:rPr sz="1000" spc="5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5" action="ppaction://hlinksldjump"/>
              </a:rPr>
              <a:t>Architecture</a:t>
            </a:r>
            <a:r>
              <a:rPr sz="1000" dirty="0">
                <a:latin typeface="Times New Roman"/>
                <a:cs typeface="Times New Roman"/>
              </a:rPr>
              <a:t> . . . . . . . . . . . 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975"/>
              </a:spcBef>
            </a:pP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.27 </a:t>
            </a:r>
            <a:r>
              <a:rPr sz="1000" dirty="0">
                <a:latin typeface="Times New Roman"/>
                <a:cs typeface="Times New Roman"/>
                <a:hlinkClick r:id="rId6" action="ppaction://hlinksldjump"/>
              </a:rPr>
              <a:t>7.2</a:t>
            </a:r>
            <a:r>
              <a:rPr sz="1000" spc="-5" dirty="0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6" action="ppaction://hlinksldjump"/>
              </a:rPr>
              <a:t>Class</a:t>
            </a:r>
            <a:r>
              <a:rPr sz="1000" spc="-5" dirty="0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6" action="ppaction://hlinksldjump"/>
              </a:rPr>
              <a:t>Diagram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980"/>
              </a:spcBef>
            </a:pP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.28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  <a:hlinkClick r:id="rId7" action="ppaction://hlinksldjump"/>
              </a:rPr>
              <a:t>7.3</a:t>
            </a:r>
            <a:r>
              <a:rPr sz="1000" spc="-5" dirty="0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7" action="ppaction://hlinksldjump"/>
              </a:rPr>
              <a:t>Output</a:t>
            </a:r>
            <a:r>
              <a:rPr sz="1000" spc="-5" dirty="0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7" action="ppaction://hlinksldjump"/>
              </a:rPr>
              <a:t>1</a:t>
            </a:r>
            <a:r>
              <a:rPr sz="1000" dirty="0">
                <a:latin typeface="Times New Roman"/>
                <a:cs typeface="Times New Roman"/>
              </a:rPr>
              <a:t>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.31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  <a:hlinkClick r:id="rId8" action="ppaction://hlinksldjump"/>
              </a:rPr>
              <a:t>11.1</a:t>
            </a:r>
            <a:r>
              <a:rPr sz="1000" spc="-5" dirty="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8" action="ppaction://hlinksldjump"/>
              </a:rPr>
              <a:t>Output</a:t>
            </a:r>
            <a:r>
              <a:rPr sz="1000" spc="-5" dirty="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8" action="ppaction://hlinksldjump"/>
              </a:rPr>
              <a:t>A</a:t>
            </a:r>
            <a:r>
              <a:rPr sz="1000" dirty="0">
                <a:latin typeface="Times New Roman"/>
                <a:cs typeface="Times New Roman"/>
              </a:rPr>
              <a:t>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975"/>
              </a:spcBef>
            </a:pP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.38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  <a:hlinkClick r:id="rId8" action="ppaction://hlinksldjump"/>
              </a:rPr>
              <a:t>11.2 Output B</a:t>
            </a:r>
            <a:r>
              <a:rPr sz="1000" spc="5" dirty="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8" action="ppaction://hlinksldjump"/>
              </a:rPr>
              <a:t>.</a:t>
            </a:r>
            <a:r>
              <a:rPr sz="1000" dirty="0">
                <a:latin typeface="Times New Roman"/>
                <a:cs typeface="Times New Roman"/>
              </a:rPr>
              <a:t>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975"/>
              </a:spcBef>
            </a:pPr>
            <a:r>
              <a:rPr sz="1000" dirty="0">
                <a:latin typeface="Times New Roman"/>
                <a:cs typeface="Times New Roman"/>
              </a:rPr>
              <a:t>. 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.39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11.3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Output 1 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.40 11.4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Output </a:t>
            </a:r>
            <a:r>
              <a:rPr sz="1000" spc="-50" dirty="0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975"/>
              </a:spcBef>
            </a:pP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.41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11.5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Output 3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975"/>
              </a:spcBef>
            </a:pP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.42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11.6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Output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4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.43</a:t>
            </a:r>
            <a:endParaRPr sz="10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975"/>
              </a:spcBef>
            </a:pPr>
            <a:r>
              <a:rPr sz="1000" dirty="0">
                <a:latin typeface="Times New Roman"/>
                <a:cs typeface="Times New Roman"/>
              </a:rPr>
              <a:t>11.7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Output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5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.44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11.8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Output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6 . . . .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 . 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980"/>
              </a:spcBef>
            </a:pP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.45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11.9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Output 7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</a:t>
            </a:r>
            <a:r>
              <a:rPr sz="1000" spc="-5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975"/>
              </a:spcBef>
            </a:pP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 </a:t>
            </a:r>
            <a:r>
              <a:rPr sz="1000" spc="-25" dirty="0">
                <a:latin typeface="Times New Roman"/>
                <a:cs typeface="Times New Roman"/>
              </a:rPr>
              <a:t>.46</a:t>
            </a:r>
            <a:endParaRPr sz="1000">
              <a:latin typeface="Times New Roman"/>
              <a:cs typeface="Times New Roman"/>
            </a:endParaRPr>
          </a:p>
          <a:p>
            <a:pPr marL="516255" lvl="1" indent="-316230">
              <a:lnSpc>
                <a:spcPct val="100000"/>
              </a:lnSpc>
              <a:spcBef>
                <a:spcPts val="1050"/>
              </a:spcBef>
              <a:buAutoNum type="arabicPeriod" startAt="10"/>
              <a:tabLst>
                <a:tab pos="516255" algn="l"/>
              </a:tabLst>
            </a:pPr>
            <a:r>
              <a:rPr sz="1000" dirty="0">
                <a:latin typeface="Times New Roman"/>
                <a:cs typeface="Times New Roman"/>
              </a:rPr>
              <a:t>Output</a:t>
            </a:r>
            <a:r>
              <a:rPr sz="1000" spc="3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8</a:t>
            </a:r>
            <a:r>
              <a:rPr sz="1000" spc="3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......................................................................................................................................................</a:t>
            </a:r>
            <a:r>
              <a:rPr sz="1000" spc="36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47</a:t>
            </a:r>
            <a:endParaRPr sz="1000">
              <a:latin typeface="Times New Roman"/>
              <a:cs typeface="Times New Roman"/>
            </a:endParaRPr>
          </a:p>
          <a:p>
            <a:pPr marL="516255" lvl="1" indent="-316230">
              <a:lnSpc>
                <a:spcPct val="100000"/>
              </a:lnSpc>
              <a:spcBef>
                <a:spcPts val="1050"/>
              </a:spcBef>
              <a:buAutoNum type="arabicPeriod" startAt="10"/>
              <a:tabLst>
                <a:tab pos="516255" algn="l"/>
              </a:tabLst>
            </a:pPr>
            <a:r>
              <a:rPr sz="1000" dirty="0">
                <a:latin typeface="Times New Roman"/>
                <a:cs typeface="Times New Roman"/>
              </a:rPr>
              <a:t>Output</a:t>
            </a:r>
            <a:r>
              <a:rPr sz="1000" spc="3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9</a:t>
            </a:r>
            <a:r>
              <a:rPr sz="1000" spc="3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......................................................................................................................................................</a:t>
            </a:r>
            <a:r>
              <a:rPr sz="1000" spc="36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48</a:t>
            </a:r>
            <a:endParaRPr sz="1000">
              <a:latin typeface="Times New Roman"/>
              <a:cs typeface="Times New Roman"/>
            </a:endParaRPr>
          </a:p>
          <a:p>
            <a:pPr marL="516255" lvl="1" indent="-316230">
              <a:lnSpc>
                <a:spcPct val="100000"/>
              </a:lnSpc>
              <a:spcBef>
                <a:spcPts val="1050"/>
              </a:spcBef>
              <a:buAutoNum type="arabicPeriod" startAt="10"/>
              <a:tabLst>
                <a:tab pos="516255" algn="l"/>
              </a:tabLst>
            </a:pPr>
            <a:r>
              <a:rPr sz="1000" dirty="0">
                <a:latin typeface="Times New Roman"/>
                <a:cs typeface="Times New Roman"/>
              </a:rPr>
              <a:t>Output</a:t>
            </a:r>
            <a:r>
              <a:rPr sz="1000" spc="3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10</a:t>
            </a:r>
            <a:r>
              <a:rPr sz="1000" spc="3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....................................................................................................................................................</a:t>
            </a:r>
            <a:r>
              <a:rPr sz="1000" spc="36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49</a:t>
            </a:r>
            <a:endParaRPr sz="1000">
              <a:latin typeface="Times New Roman"/>
              <a:cs typeface="Times New Roman"/>
            </a:endParaRPr>
          </a:p>
          <a:p>
            <a:pPr marL="516255" lvl="1" indent="-316230">
              <a:lnSpc>
                <a:spcPct val="100000"/>
              </a:lnSpc>
              <a:spcBef>
                <a:spcPts val="975"/>
              </a:spcBef>
              <a:buAutoNum type="arabicPeriod" startAt="10"/>
              <a:tabLst>
                <a:tab pos="516255" algn="l"/>
              </a:tabLst>
            </a:pPr>
            <a:r>
              <a:rPr sz="1000" dirty="0">
                <a:latin typeface="Times New Roman"/>
                <a:cs typeface="Times New Roman"/>
              </a:rPr>
              <a:t>Output</a:t>
            </a:r>
            <a:r>
              <a:rPr sz="1000" spc="3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11</a:t>
            </a:r>
            <a:r>
              <a:rPr sz="1000" spc="3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....................................................................................................................................................</a:t>
            </a:r>
            <a:r>
              <a:rPr sz="1000" spc="36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50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1190"/>
              </a:lnSpc>
            </a:pPr>
            <a:r>
              <a:rPr spc="-25" dirty="0"/>
              <a:t>vi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349" y="841660"/>
            <a:ext cx="10655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List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Tables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1396" y="1442868"/>
            <a:ext cx="62083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3530" algn="l"/>
              </a:tabLst>
            </a:pPr>
            <a:r>
              <a:rPr sz="1000" spc="-25" dirty="0">
                <a:latin typeface="Times New Roman"/>
                <a:cs typeface="Times New Roman"/>
                <a:hlinkClick r:id="rId2" action="ppaction://hlinksldjump"/>
              </a:rPr>
              <a:t>5.1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dirty="0">
                <a:latin typeface="Times New Roman"/>
                <a:cs typeface="Times New Roman"/>
                <a:hlinkClick r:id="rId2" action="ppaction://hlinksldjump"/>
              </a:rPr>
              <a:t>Risk</a:t>
            </a:r>
            <a:r>
              <a:rPr sz="1000" spc="110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dirty="0">
                <a:latin typeface="Times New Roman"/>
                <a:cs typeface="Times New Roman"/>
                <a:hlinkClick r:id="rId2" action="ppaction://hlinksldjump"/>
              </a:rPr>
              <a:t>Table</a:t>
            </a:r>
            <a:r>
              <a:rPr sz="1000" spc="110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000" spc="-10" dirty="0">
                <a:latin typeface="Times New Roman"/>
                <a:cs typeface="Times New Roman"/>
                <a:hlinkClick r:id="rId2" action="ppaction://hlinksldjump"/>
              </a:rPr>
              <a:t>.</a:t>
            </a:r>
            <a:r>
              <a:rPr sz="1000" spc="-10" dirty="0">
                <a:latin typeface="Times New Roman"/>
                <a:cs typeface="Times New Roman"/>
              </a:rPr>
              <a:t>..................................................................................................................................................................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14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07331" y="665246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7331" y="690020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7331" y="714794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2622" y="76970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2622" y="795433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02622" y="821160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02622" y="8468876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86525" y="1348278"/>
            <a:ext cx="6200775" cy="721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7995" lvl="1" indent="-34099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7995" algn="l"/>
              </a:tabLst>
            </a:pP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Title</a:t>
            </a:r>
            <a:endParaRPr sz="1200">
              <a:latin typeface="Times New Roman"/>
              <a:cs typeface="Times New Roman"/>
            </a:endParaRPr>
          </a:p>
          <a:p>
            <a:pPr marL="474345">
              <a:lnSpc>
                <a:spcPct val="100000"/>
              </a:lnSpc>
              <a:spcBef>
                <a:spcPts val="1165"/>
              </a:spcBef>
            </a:pPr>
            <a:r>
              <a:rPr sz="1000" spc="-10" dirty="0">
                <a:latin typeface="Times New Roman"/>
                <a:cs typeface="Times New Roman"/>
              </a:rPr>
              <a:t>Waste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Mitra: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AI-</a:t>
            </a:r>
            <a:r>
              <a:rPr sz="1000" dirty="0">
                <a:latin typeface="Times New Roman"/>
                <a:cs typeface="Times New Roman"/>
              </a:rPr>
              <a:t>Powered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Smart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Waste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Management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Sustainable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Disposal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000">
              <a:latin typeface="Times New Roman"/>
              <a:cs typeface="Times New Roman"/>
            </a:endParaRPr>
          </a:p>
          <a:p>
            <a:pPr marL="467995" lvl="1" indent="-340995">
              <a:lnSpc>
                <a:spcPct val="100000"/>
              </a:lnSpc>
              <a:buAutoNum type="arabicPeriod" startAt="2"/>
              <a:tabLst>
                <a:tab pos="467995" algn="l"/>
              </a:tabLst>
            </a:pP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Guide</a:t>
            </a:r>
            <a:endParaRPr sz="1200">
              <a:latin typeface="Times New Roman"/>
              <a:cs typeface="Times New Roman"/>
            </a:endParaRPr>
          </a:p>
          <a:p>
            <a:pPr marL="487680">
              <a:lnSpc>
                <a:spcPct val="100000"/>
              </a:lnSpc>
              <a:spcBef>
                <a:spcPts val="995"/>
              </a:spcBef>
            </a:pPr>
            <a:r>
              <a:rPr sz="1000" dirty="0">
                <a:latin typeface="Times New Roman"/>
                <a:cs typeface="Times New Roman"/>
              </a:rPr>
              <a:t>Dr.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Vinod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Wadne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000">
              <a:latin typeface="Times New Roman"/>
              <a:cs typeface="Times New Roman"/>
            </a:endParaRPr>
          </a:p>
          <a:p>
            <a:pPr marL="467995" lvl="1" indent="-340995">
              <a:lnSpc>
                <a:spcPct val="100000"/>
              </a:lnSpc>
              <a:buAutoNum type="arabicPeriod" startAt="3"/>
              <a:tabLst>
                <a:tab pos="467995" algn="l"/>
              </a:tabLst>
            </a:pPr>
            <a:r>
              <a:rPr sz="1200" b="1" dirty="0">
                <a:latin typeface="Times New Roman"/>
                <a:cs typeface="Times New Roman"/>
              </a:rPr>
              <a:t>Technical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Keywords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(As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ACM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Keywords)</a:t>
            </a:r>
            <a:endParaRPr sz="1200">
              <a:latin typeface="Times New Roman"/>
              <a:cs typeface="Times New Roman"/>
            </a:endParaRPr>
          </a:p>
          <a:p>
            <a:pPr marL="469265" lvl="2" indent="-153670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469265" algn="l"/>
              </a:tabLst>
            </a:pPr>
            <a:r>
              <a:rPr sz="1500" spc="-15" baseline="2777" dirty="0">
                <a:latin typeface="Times New Roman"/>
                <a:cs typeface="Times New Roman"/>
              </a:rPr>
              <a:t>AI-</a:t>
            </a:r>
            <a:r>
              <a:rPr sz="1500" baseline="2777" dirty="0">
                <a:latin typeface="Times New Roman"/>
                <a:cs typeface="Times New Roman"/>
              </a:rPr>
              <a:t>Based</a:t>
            </a:r>
            <a:r>
              <a:rPr sz="1500" spc="-22" baseline="2777" dirty="0">
                <a:latin typeface="Times New Roman"/>
                <a:cs typeface="Times New Roman"/>
              </a:rPr>
              <a:t> </a:t>
            </a:r>
            <a:r>
              <a:rPr sz="1500" spc="-15" baseline="2777" dirty="0">
                <a:latin typeface="Times New Roman"/>
                <a:cs typeface="Times New Roman"/>
              </a:rPr>
              <a:t>Waste</a:t>
            </a:r>
            <a:r>
              <a:rPr sz="1500" spc="7" baseline="2777" dirty="0">
                <a:latin typeface="Times New Roman"/>
                <a:cs typeface="Times New Roman"/>
              </a:rPr>
              <a:t> </a:t>
            </a:r>
            <a:r>
              <a:rPr sz="1500" spc="-15" baseline="2777" dirty="0">
                <a:latin typeface="Times New Roman"/>
                <a:cs typeface="Times New Roman"/>
              </a:rPr>
              <a:t>Recognition</a:t>
            </a:r>
            <a:endParaRPr sz="1500" baseline="2777">
              <a:latin typeface="Times New Roman"/>
              <a:cs typeface="Times New Roman"/>
            </a:endParaRPr>
          </a:p>
          <a:p>
            <a:pPr marL="558165" marR="4315460" lvl="2" indent="-243204">
              <a:lnSpc>
                <a:spcPts val="1350"/>
              </a:lnSpc>
              <a:spcBef>
                <a:spcPts val="45"/>
              </a:spcBef>
              <a:buChar char="•"/>
              <a:tabLst>
                <a:tab pos="558165" algn="l"/>
                <a:tab pos="777875" algn="l"/>
              </a:tabLst>
            </a:pPr>
            <a:r>
              <a:rPr sz="1500" i="1" baseline="-38888" dirty="0">
                <a:latin typeface="Times New Roman"/>
                <a:cs typeface="Times New Roman"/>
              </a:rPr>
              <a:t>	</a:t>
            </a:r>
            <a:r>
              <a:rPr sz="1000" dirty="0">
                <a:latin typeface="Times New Roman"/>
                <a:cs typeface="Times New Roman"/>
              </a:rPr>
              <a:t>Computer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Vision </a:t>
            </a:r>
            <a:r>
              <a:rPr sz="1000" dirty="0">
                <a:latin typeface="Times New Roman"/>
                <a:cs typeface="Times New Roman"/>
              </a:rPr>
              <a:t>Sustainable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Development</a:t>
            </a:r>
            <a:endParaRPr sz="1000">
              <a:latin typeface="Times New Roman"/>
              <a:cs typeface="Times New Roman"/>
            </a:endParaRPr>
          </a:p>
          <a:p>
            <a:pPr marL="833755" lvl="2" indent="-518159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833755" algn="l"/>
              </a:tabLst>
            </a:pPr>
            <a:r>
              <a:rPr sz="1500" baseline="2777" dirty="0">
                <a:latin typeface="Times New Roman"/>
                <a:cs typeface="Times New Roman"/>
              </a:rPr>
              <a:t>Deep</a:t>
            </a:r>
            <a:r>
              <a:rPr sz="1500" spc="-7" baseline="2777" dirty="0">
                <a:latin typeface="Times New Roman"/>
                <a:cs typeface="Times New Roman"/>
              </a:rPr>
              <a:t> </a:t>
            </a:r>
            <a:r>
              <a:rPr sz="1500" spc="-15" baseline="2777" dirty="0">
                <a:latin typeface="Times New Roman"/>
                <a:cs typeface="Times New Roman"/>
              </a:rPr>
              <a:t>Learning</a:t>
            </a:r>
            <a:endParaRPr sz="1500" baseline="2777">
              <a:latin typeface="Times New Roman"/>
              <a:cs typeface="Times New Roman"/>
            </a:endParaRPr>
          </a:p>
          <a:p>
            <a:pPr marL="716280" marR="4472940" lvl="2" indent="-400685">
              <a:lnSpc>
                <a:spcPts val="1350"/>
              </a:lnSpc>
              <a:spcBef>
                <a:spcPts val="45"/>
              </a:spcBef>
              <a:buFont typeface="Times New Roman"/>
              <a:buChar char="•"/>
              <a:tabLst>
                <a:tab pos="873760" algn="l"/>
              </a:tabLst>
            </a:pPr>
            <a:r>
              <a:rPr sz="1000" dirty="0">
                <a:latin typeface="Times New Roman"/>
                <a:cs typeface="Times New Roman"/>
              </a:rPr>
              <a:t>Django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Framework 	</a:t>
            </a:r>
            <a:r>
              <a:rPr sz="1000" dirty="0">
                <a:latin typeface="Times New Roman"/>
                <a:cs typeface="Times New Roman"/>
              </a:rPr>
              <a:t>Gemini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LLM</a:t>
            </a:r>
            <a:endParaRPr sz="1000">
              <a:latin typeface="Times New Roman"/>
              <a:cs typeface="Times New Roman"/>
            </a:endParaRPr>
          </a:p>
          <a:p>
            <a:pPr marL="467995" lvl="1" indent="-340995">
              <a:lnSpc>
                <a:spcPct val="100000"/>
              </a:lnSpc>
              <a:spcBef>
                <a:spcPts val="885"/>
              </a:spcBef>
              <a:buAutoNum type="arabicPeriod" startAt="3"/>
              <a:tabLst>
                <a:tab pos="467995" algn="l"/>
              </a:tabLst>
            </a:pPr>
            <a:r>
              <a:rPr sz="1200" b="1" dirty="0">
                <a:latin typeface="Times New Roman"/>
                <a:cs typeface="Times New Roman"/>
              </a:rPr>
              <a:t>Problem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Statement</a:t>
            </a:r>
            <a:endParaRPr sz="1200">
              <a:latin typeface="Times New Roman"/>
              <a:cs typeface="Times New Roman"/>
            </a:endParaRPr>
          </a:p>
          <a:p>
            <a:pPr marL="367665" marR="93980">
              <a:lnSpc>
                <a:spcPct val="112500"/>
              </a:lnSpc>
              <a:spcBef>
                <a:spcPts val="355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absence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automated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identification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readily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available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state-specific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guidelines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often </a:t>
            </a:r>
            <a:r>
              <a:rPr sz="1000" dirty="0">
                <a:latin typeface="Times New Roman"/>
                <a:cs typeface="Times New Roman"/>
              </a:rPr>
              <a:t>results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improper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segregation,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leading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environmental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degradation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pollution.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core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problem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is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inefficiency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manual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classification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lack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awareness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about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legal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eco-friendly</a:t>
            </a:r>
            <a:r>
              <a:rPr sz="1000" spc="5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disposalmethods.</a:t>
            </a:r>
            <a:endParaRPr sz="1000">
              <a:latin typeface="Times New Roman"/>
              <a:cs typeface="Times New Roman"/>
            </a:endParaRPr>
          </a:p>
          <a:p>
            <a:pPr marL="467995" lvl="1" indent="-363855">
              <a:lnSpc>
                <a:spcPct val="100000"/>
              </a:lnSpc>
              <a:spcBef>
                <a:spcPts val="690"/>
              </a:spcBef>
              <a:buAutoNum type="arabicPeriod" startAt="5"/>
              <a:tabLst>
                <a:tab pos="46799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Abstract</a:t>
            </a:r>
            <a:endParaRPr sz="1200">
              <a:latin typeface="Times New Roman"/>
              <a:cs typeface="Times New Roman"/>
            </a:endParaRPr>
          </a:p>
          <a:p>
            <a:pPr marL="362585">
              <a:lnSpc>
                <a:spcPct val="100000"/>
              </a:lnSpc>
              <a:spcBef>
                <a:spcPts val="645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abstract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provided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Page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3.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000">
              <a:latin typeface="Times New Roman"/>
              <a:cs typeface="Times New Roman"/>
            </a:endParaRPr>
          </a:p>
          <a:p>
            <a:pPr marL="310515" lvl="1" indent="-228600">
              <a:lnSpc>
                <a:spcPct val="100000"/>
              </a:lnSpc>
              <a:buAutoNum type="arabicPeriod" startAt="6"/>
              <a:tabLst>
                <a:tab pos="310515" algn="l"/>
              </a:tabLst>
            </a:pPr>
            <a:r>
              <a:rPr sz="1200" b="1" dirty="0">
                <a:latin typeface="Times New Roman"/>
                <a:cs typeface="Times New Roman"/>
              </a:rPr>
              <a:t>Goals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Objectives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200">
              <a:latin typeface="Times New Roman"/>
              <a:cs typeface="Times New Roman"/>
            </a:endParaRPr>
          </a:p>
          <a:p>
            <a:pPr marL="244475">
              <a:lnSpc>
                <a:spcPct val="100000"/>
              </a:lnSpc>
            </a:pPr>
            <a:r>
              <a:rPr sz="1000" b="1" spc="-10" dirty="0">
                <a:latin typeface="Times New Roman"/>
                <a:cs typeface="Times New Roman"/>
              </a:rPr>
              <a:t>Goals</a:t>
            </a:r>
            <a:endParaRPr sz="1000">
              <a:latin typeface="Times New Roman"/>
              <a:cs typeface="Times New Roman"/>
            </a:endParaRPr>
          </a:p>
          <a:p>
            <a:pPr marL="459105" marR="1074420">
              <a:lnSpc>
                <a:spcPct val="162600"/>
              </a:lnSpc>
              <a:spcBef>
                <a:spcPts val="335"/>
              </a:spcBef>
            </a:pP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provide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intelligent,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automated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solution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classification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disposal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guidance.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encourage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smart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sustainable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management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practices.</a:t>
            </a:r>
            <a:endParaRPr sz="1000">
              <a:latin typeface="Times New Roman"/>
              <a:cs typeface="Times New Roman"/>
            </a:endParaRPr>
          </a:p>
          <a:p>
            <a:pPr marL="459105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enable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citizens</a:t>
            </a:r>
            <a:r>
              <a:rPr sz="1000" dirty="0">
                <a:latin typeface="Times New Roman"/>
                <a:cs typeface="Times New Roman"/>
              </a:rPr>
              <a:t> to </a:t>
            </a:r>
            <a:r>
              <a:rPr sz="1000" spc="-10" dirty="0">
                <a:latin typeface="Times New Roman"/>
                <a:cs typeface="Times New Roman"/>
              </a:rPr>
              <a:t>contribute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directly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 </a:t>
            </a:r>
            <a:r>
              <a:rPr sz="1000" spc="-10" dirty="0">
                <a:latin typeface="Times New Roman"/>
                <a:cs typeface="Times New Roman"/>
              </a:rPr>
              <a:t>sustainability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goals.</a:t>
            </a:r>
            <a:endParaRPr sz="1000">
              <a:latin typeface="Times New Roman"/>
              <a:cs typeface="Times New Roman"/>
            </a:endParaRPr>
          </a:p>
          <a:p>
            <a:pPr marL="244475">
              <a:lnSpc>
                <a:spcPct val="100000"/>
              </a:lnSpc>
              <a:spcBef>
                <a:spcPts val="920"/>
              </a:spcBef>
            </a:pPr>
            <a:r>
              <a:rPr sz="1000" b="1" spc="-10" dirty="0">
                <a:latin typeface="Times New Roman"/>
                <a:cs typeface="Times New Roman"/>
              </a:rPr>
              <a:t>Objectives</a:t>
            </a:r>
            <a:endParaRPr sz="1000">
              <a:latin typeface="Times New Roman"/>
              <a:cs typeface="Times New Roman"/>
            </a:endParaRPr>
          </a:p>
          <a:p>
            <a:pPr marL="554355" marR="2382520">
              <a:lnSpc>
                <a:spcPct val="1688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develop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AI-</a:t>
            </a:r>
            <a:r>
              <a:rPr sz="1000" dirty="0">
                <a:latin typeface="Times New Roman"/>
                <a:cs typeface="Times New Roman"/>
              </a:rPr>
              <a:t>powered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category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detection.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provide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legal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eco-</a:t>
            </a:r>
            <a:r>
              <a:rPr sz="1000" dirty="0">
                <a:latin typeface="Times New Roman"/>
                <a:cs typeface="Times New Roman"/>
              </a:rPr>
              <a:t>friendly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guidance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users.</a:t>
            </a:r>
            <a:endParaRPr sz="1000">
              <a:latin typeface="Times New Roman"/>
              <a:cs typeface="Times New Roman"/>
            </a:endParaRPr>
          </a:p>
          <a:p>
            <a:pPr marL="554355" marR="2284095">
              <a:lnSpc>
                <a:spcPct val="168800"/>
              </a:lnSpc>
            </a:pP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reduce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manual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effort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improve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segregation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accuracy.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create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user-</a:t>
            </a:r>
            <a:r>
              <a:rPr sz="1000" dirty="0">
                <a:latin typeface="Times New Roman"/>
                <a:cs typeface="Times New Roman"/>
              </a:rPr>
              <a:t>friendly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web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interface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Django.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55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50" dirty="0"/>
              <a:t>7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323707" y="831847"/>
            <a:ext cx="11703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750" algn="l"/>
              </a:tabLst>
            </a:pPr>
            <a:r>
              <a:rPr sz="1400" b="1" spc="-50" dirty="0">
                <a:latin typeface="Times New Roman"/>
                <a:cs typeface="Times New Roman"/>
              </a:rPr>
              <a:t>1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b="1" spc="-10" dirty="0">
                <a:latin typeface="Times New Roman"/>
                <a:cs typeface="Times New Roman"/>
              </a:rPr>
              <a:t>SYNOPSIS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2611" y="4530721"/>
            <a:ext cx="1938020" cy="5206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 Black"/>
                <a:cs typeface="Arial Black"/>
              </a:rPr>
              <a:t>Title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920"/>
              </a:spcBef>
            </a:pPr>
            <a:endParaRPr sz="1500">
              <a:latin typeface="Arial Black"/>
              <a:cs typeface="Arial Black"/>
            </a:endParaRPr>
          </a:p>
          <a:p>
            <a:pPr marR="41275" algn="just">
              <a:lnSpc>
                <a:spcPts val="1730"/>
              </a:lnSpc>
            </a:pPr>
            <a:r>
              <a:rPr sz="1500" spc="-160" dirty="0">
                <a:latin typeface="Arial Black"/>
                <a:cs typeface="Arial Black"/>
              </a:rPr>
              <a:t>Waste</a:t>
            </a:r>
            <a:r>
              <a:rPr sz="1500" spc="40" dirty="0">
                <a:latin typeface="Arial Black"/>
                <a:cs typeface="Arial Black"/>
              </a:rPr>
              <a:t> </a:t>
            </a:r>
            <a:r>
              <a:rPr sz="1500" spc="-95" dirty="0">
                <a:latin typeface="Arial Black"/>
                <a:cs typeface="Arial Black"/>
              </a:rPr>
              <a:t>Classification </a:t>
            </a:r>
            <a:r>
              <a:rPr sz="1500" spc="-160" dirty="0">
                <a:latin typeface="Arial Black"/>
                <a:cs typeface="Arial Black"/>
              </a:rPr>
              <a:t>Using</a:t>
            </a:r>
            <a:r>
              <a:rPr sz="1500" spc="40" dirty="0">
                <a:latin typeface="Arial Black"/>
                <a:cs typeface="Arial Black"/>
              </a:rPr>
              <a:t> </a:t>
            </a:r>
            <a:r>
              <a:rPr sz="1500" spc="-70" dirty="0">
                <a:latin typeface="Arial Black"/>
                <a:cs typeface="Arial Black"/>
              </a:rPr>
              <a:t>Convolutional </a:t>
            </a:r>
            <a:r>
              <a:rPr sz="1500" spc="-90" dirty="0">
                <a:latin typeface="Arial Black"/>
                <a:cs typeface="Arial Black"/>
              </a:rPr>
              <a:t>Neural</a:t>
            </a:r>
            <a:r>
              <a:rPr sz="1500" spc="-100" dirty="0">
                <a:latin typeface="Arial Black"/>
                <a:cs typeface="Arial Black"/>
              </a:rPr>
              <a:t> </a:t>
            </a:r>
            <a:r>
              <a:rPr sz="1500" spc="-10" dirty="0">
                <a:latin typeface="Arial Black"/>
                <a:cs typeface="Arial Black"/>
              </a:rPr>
              <a:t>Networks</a:t>
            </a:r>
            <a:endParaRPr sz="1500">
              <a:latin typeface="Arial Black"/>
              <a:cs typeface="Arial Black"/>
            </a:endParaRPr>
          </a:p>
          <a:p>
            <a:pPr marR="262890" algn="just">
              <a:lnSpc>
                <a:spcPts val="1730"/>
              </a:lnSpc>
              <a:spcBef>
                <a:spcPts val="1730"/>
              </a:spcBef>
            </a:pPr>
            <a:r>
              <a:rPr sz="1500" spc="-75" dirty="0">
                <a:latin typeface="Arial Black"/>
                <a:cs typeface="Arial Black"/>
              </a:rPr>
              <a:t>AI-</a:t>
            </a:r>
            <a:r>
              <a:rPr sz="1500" spc="-120" dirty="0">
                <a:latin typeface="Arial Black"/>
                <a:cs typeface="Arial Black"/>
              </a:rPr>
              <a:t>based</a:t>
            </a:r>
            <a:r>
              <a:rPr sz="1500" spc="40" dirty="0">
                <a:latin typeface="Arial Black"/>
                <a:cs typeface="Arial Black"/>
              </a:rPr>
              <a:t> </a:t>
            </a:r>
            <a:r>
              <a:rPr sz="1500" spc="-85" dirty="0">
                <a:latin typeface="Arial Black"/>
                <a:cs typeface="Arial Black"/>
              </a:rPr>
              <a:t>E-</a:t>
            </a:r>
            <a:r>
              <a:rPr sz="1500" spc="-65" dirty="0">
                <a:latin typeface="Arial Black"/>
                <a:cs typeface="Arial Black"/>
              </a:rPr>
              <a:t>Waste </a:t>
            </a:r>
            <a:r>
              <a:rPr sz="1500" spc="-90" dirty="0">
                <a:latin typeface="Arial Black"/>
                <a:cs typeface="Arial Black"/>
              </a:rPr>
              <a:t>Identification</a:t>
            </a:r>
            <a:r>
              <a:rPr sz="1500" spc="10" dirty="0">
                <a:latin typeface="Arial Black"/>
                <a:cs typeface="Arial Black"/>
              </a:rPr>
              <a:t> </a:t>
            </a:r>
            <a:r>
              <a:rPr sz="1500" spc="-60" dirty="0">
                <a:latin typeface="Arial Black"/>
                <a:cs typeface="Arial Black"/>
              </a:rPr>
              <a:t>and </a:t>
            </a:r>
            <a:r>
              <a:rPr sz="1500" spc="-10" dirty="0">
                <a:latin typeface="Arial Black"/>
                <a:cs typeface="Arial Black"/>
              </a:rPr>
              <a:t>Management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ts val="1670"/>
              </a:lnSpc>
            </a:pPr>
            <a:r>
              <a:rPr sz="1500" spc="-10" dirty="0">
                <a:latin typeface="Arial Black"/>
                <a:cs typeface="Arial Black"/>
              </a:rPr>
              <a:t>System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ts val="1730"/>
              </a:lnSpc>
              <a:spcBef>
                <a:spcPts val="1110"/>
              </a:spcBef>
            </a:pPr>
            <a:r>
              <a:rPr sz="1500" spc="-135" dirty="0">
                <a:latin typeface="Arial Black"/>
                <a:cs typeface="Arial Black"/>
              </a:rPr>
              <a:t>A</a:t>
            </a:r>
            <a:r>
              <a:rPr sz="1500" spc="-125" dirty="0">
                <a:latin typeface="Arial Black"/>
                <a:cs typeface="Arial Black"/>
              </a:rPr>
              <a:t> </a:t>
            </a:r>
            <a:r>
              <a:rPr sz="1500" spc="-100" dirty="0">
                <a:latin typeface="Arial Black"/>
                <a:cs typeface="Arial Black"/>
              </a:rPr>
              <a:t>Legal-</a:t>
            </a:r>
            <a:r>
              <a:rPr sz="1500" spc="-135" dirty="0">
                <a:latin typeface="Arial Black"/>
                <a:cs typeface="Arial Black"/>
              </a:rPr>
              <a:t>Aware</a:t>
            </a:r>
            <a:r>
              <a:rPr sz="1500" spc="-125" dirty="0">
                <a:latin typeface="Arial Black"/>
                <a:cs typeface="Arial Black"/>
              </a:rPr>
              <a:t> </a:t>
            </a:r>
            <a:r>
              <a:rPr sz="1500" spc="-95" dirty="0">
                <a:latin typeface="Arial Black"/>
                <a:cs typeface="Arial Black"/>
              </a:rPr>
              <a:t>Smart </a:t>
            </a:r>
            <a:r>
              <a:rPr sz="1500" spc="-130" dirty="0">
                <a:latin typeface="Arial Black"/>
                <a:cs typeface="Arial Black"/>
              </a:rPr>
              <a:t>Waste</a:t>
            </a:r>
            <a:r>
              <a:rPr sz="1500" spc="-110" dirty="0">
                <a:latin typeface="Arial Black"/>
                <a:cs typeface="Arial Black"/>
              </a:rPr>
              <a:t> </a:t>
            </a:r>
            <a:r>
              <a:rPr sz="1500" spc="-10" dirty="0">
                <a:latin typeface="Arial Black"/>
                <a:cs typeface="Arial Black"/>
              </a:rPr>
              <a:t>Disposal </a:t>
            </a:r>
            <a:r>
              <a:rPr sz="1500" spc="-20" dirty="0">
                <a:latin typeface="Arial Black"/>
                <a:cs typeface="Arial Black"/>
              </a:rPr>
              <a:t>Framework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ts val="1764"/>
              </a:lnSpc>
              <a:spcBef>
                <a:spcPts val="1615"/>
              </a:spcBef>
            </a:pPr>
            <a:r>
              <a:rPr sz="1500" spc="-95" dirty="0">
                <a:latin typeface="Arial Black"/>
                <a:cs typeface="Arial Black"/>
              </a:rPr>
              <a:t>Location-</a:t>
            </a:r>
            <a:r>
              <a:rPr sz="1500" spc="-10" dirty="0">
                <a:latin typeface="Arial Black"/>
                <a:cs typeface="Arial Black"/>
              </a:rPr>
              <a:t>Based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ts val="1730"/>
              </a:lnSpc>
              <a:spcBef>
                <a:spcPts val="75"/>
              </a:spcBef>
            </a:pPr>
            <a:r>
              <a:rPr sz="1500" spc="-130" dirty="0">
                <a:latin typeface="Arial Black"/>
                <a:cs typeface="Arial Black"/>
              </a:rPr>
              <a:t>Waste</a:t>
            </a:r>
            <a:r>
              <a:rPr sz="1500" spc="-110" dirty="0">
                <a:latin typeface="Arial Black"/>
                <a:cs typeface="Arial Black"/>
              </a:rPr>
              <a:t> </a:t>
            </a:r>
            <a:r>
              <a:rPr sz="1500" spc="-25" dirty="0">
                <a:latin typeface="Arial Black"/>
                <a:cs typeface="Arial Black"/>
              </a:rPr>
              <a:t>Management </a:t>
            </a:r>
            <a:r>
              <a:rPr sz="1500" spc="-120" dirty="0">
                <a:latin typeface="Arial Black"/>
                <a:cs typeface="Arial Black"/>
              </a:rPr>
              <a:t>Assistant</a:t>
            </a:r>
            <a:r>
              <a:rPr sz="1500" spc="-90" dirty="0">
                <a:latin typeface="Arial Black"/>
                <a:cs typeface="Arial Black"/>
              </a:rPr>
              <a:t> </a:t>
            </a:r>
            <a:r>
              <a:rPr sz="1500" spc="-114" dirty="0">
                <a:latin typeface="Arial Black"/>
                <a:cs typeface="Arial Black"/>
              </a:rPr>
              <a:t>using</a:t>
            </a:r>
            <a:r>
              <a:rPr sz="1500" spc="-90" dirty="0">
                <a:latin typeface="Arial Black"/>
                <a:cs typeface="Arial Black"/>
              </a:rPr>
              <a:t> </a:t>
            </a:r>
            <a:r>
              <a:rPr sz="1500" spc="-75" dirty="0">
                <a:latin typeface="Arial Black"/>
                <a:cs typeface="Arial Black"/>
              </a:rPr>
              <a:t>Deep </a:t>
            </a:r>
            <a:r>
              <a:rPr sz="1500" spc="-105" dirty="0">
                <a:latin typeface="Arial Black"/>
                <a:cs typeface="Arial Black"/>
              </a:rPr>
              <a:t>Learning</a:t>
            </a:r>
            <a:r>
              <a:rPr sz="1500" spc="-125" dirty="0">
                <a:latin typeface="Arial Black"/>
                <a:cs typeface="Arial Black"/>
              </a:rPr>
              <a:t> </a:t>
            </a:r>
            <a:r>
              <a:rPr sz="1500" spc="-80" dirty="0">
                <a:latin typeface="Arial Black"/>
                <a:cs typeface="Arial Black"/>
              </a:rPr>
              <a:t>and</a:t>
            </a:r>
            <a:r>
              <a:rPr sz="1500" spc="-125" dirty="0">
                <a:latin typeface="Arial Black"/>
                <a:cs typeface="Arial Black"/>
              </a:rPr>
              <a:t> </a:t>
            </a:r>
            <a:r>
              <a:rPr sz="1500" spc="-25" dirty="0">
                <a:latin typeface="Arial Black"/>
                <a:cs typeface="Arial Black"/>
              </a:rPr>
              <a:t>GIS</a:t>
            </a:r>
            <a:endParaRPr sz="1500">
              <a:latin typeface="Arial Black"/>
              <a:cs typeface="Arial Black"/>
            </a:endParaRPr>
          </a:p>
          <a:p>
            <a:pPr marR="80645" algn="just">
              <a:lnSpc>
                <a:spcPts val="1730"/>
              </a:lnSpc>
              <a:spcBef>
                <a:spcPts val="1055"/>
              </a:spcBef>
            </a:pPr>
            <a:r>
              <a:rPr sz="1500" spc="-160" dirty="0">
                <a:latin typeface="Arial Black"/>
                <a:cs typeface="Arial Black"/>
              </a:rPr>
              <a:t>Waste</a:t>
            </a:r>
            <a:r>
              <a:rPr sz="1500" spc="35" dirty="0">
                <a:latin typeface="Arial Black"/>
                <a:cs typeface="Arial Black"/>
              </a:rPr>
              <a:t> </a:t>
            </a:r>
            <a:r>
              <a:rPr sz="1500" spc="-110" dirty="0">
                <a:latin typeface="Arial Black"/>
                <a:cs typeface="Arial Black"/>
              </a:rPr>
              <a:t>Disposal</a:t>
            </a:r>
            <a:r>
              <a:rPr sz="1500" spc="35" dirty="0">
                <a:latin typeface="Arial Black"/>
                <a:cs typeface="Arial Black"/>
              </a:rPr>
              <a:t> </a:t>
            </a:r>
            <a:r>
              <a:rPr sz="1500" spc="-120" dirty="0">
                <a:latin typeface="Arial Black"/>
                <a:cs typeface="Arial Black"/>
              </a:rPr>
              <a:t>Law </a:t>
            </a:r>
            <a:r>
              <a:rPr sz="1500" spc="-114" dirty="0">
                <a:latin typeface="Arial Black"/>
                <a:cs typeface="Arial Black"/>
              </a:rPr>
              <a:t>Compliance</a:t>
            </a:r>
            <a:r>
              <a:rPr sz="1500" spc="30" dirty="0">
                <a:latin typeface="Arial Black"/>
                <a:cs typeface="Arial Black"/>
              </a:rPr>
              <a:t> </a:t>
            </a:r>
            <a:r>
              <a:rPr sz="1500" spc="-105" dirty="0">
                <a:latin typeface="Arial Black"/>
                <a:cs typeface="Arial Black"/>
              </a:rPr>
              <a:t>System </a:t>
            </a:r>
            <a:r>
              <a:rPr sz="1500" spc="-130" dirty="0">
                <a:latin typeface="Arial Black"/>
                <a:cs typeface="Arial Black"/>
              </a:rPr>
              <a:t>Using</a:t>
            </a:r>
            <a:r>
              <a:rPr sz="1500" spc="-110" dirty="0">
                <a:latin typeface="Arial Black"/>
                <a:cs typeface="Arial Black"/>
              </a:rPr>
              <a:t> </a:t>
            </a:r>
            <a:r>
              <a:rPr sz="1500" spc="-25" dirty="0">
                <a:latin typeface="Arial Black"/>
                <a:cs typeface="Arial Black"/>
              </a:rPr>
              <a:t>NLP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0879" y="4530721"/>
            <a:ext cx="1906270" cy="4987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70" dirty="0">
                <a:latin typeface="Arial Black"/>
                <a:cs typeface="Arial Black"/>
              </a:rPr>
              <a:t>Author</a:t>
            </a:r>
            <a:r>
              <a:rPr sz="1500" spc="-114" dirty="0">
                <a:latin typeface="Arial Black"/>
                <a:cs typeface="Arial Black"/>
              </a:rPr>
              <a:t> </a:t>
            </a:r>
            <a:r>
              <a:rPr sz="1500" spc="-20" dirty="0">
                <a:latin typeface="Arial Black"/>
                <a:cs typeface="Arial Black"/>
              </a:rPr>
              <a:t>Name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r>
              <a:rPr sz="1500" spc="-100" dirty="0">
                <a:latin typeface="Verdana"/>
                <a:cs typeface="Verdana"/>
              </a:rPr>
              <a:t>A.</a:t>
            </a:r>
            <a:r>
              <a:rPr sz="1500" spc="-140" dirty="0">
                <a:latin typeface="Verdana"/>
                <a:cs typeface="Verdana"/>
              </a:rPr>
              <a:t> </a:t>
            </a:r>
            <a:r>
              <a:rPr sz="1500" spc="-80" dirty="0">
                <a:latin typeface="Verdana"/>
                <a:cs typeface="Verdana"/>
              </a:rPr>
              <a:t>Kumar,</a:t>
            </a:r>
            <a:r>
              <a:rPr sz="1500" spc="-140" dirty="0">
                <a:latin typeface="Verdana"/>
                <a:cs typeface="Verdana"/>
              </a:rPr>
              <a:t> S. </a:t>
            </a:r>
            <a:r>
              <a:rPr sz="1500" spc="-10" dirty="0">
                <a:latin typeface="Verdana"/>
                <a:cs typeface="Verdana"/>
              </a:rPr>
              <a:t>Mehta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sz="1500" spc="-110" dirty="0">
                <a:latin typeface="Verdana"/>
                <a:cs typeface="Verdana"/>
              </a:rPr>
              <a:t>R.</a:t>
            </a:r>
            <a:r>
              <a:rPr sz="1500" spc="-140" dirty="0">
                <a:latin typeface="Verdana"/>
                <a:cs typeface="Verdana"/>
              </a:rPr>
              <a:t> </a:t>
            </a:r>
            <a:r>
              <a:rPr sz="1500" spc="-85" dirty="0">
                <a:latin typeface="Verdana"/>
                <a:cs typeface="Verdana"/>
              </a:rPr>
              <a:t>Sen,</a:t>
            </a:r>
            <a:r>
              <a:rPr sz="1500" spc="-140" dirty="0">
                <a:latin typeface="Verdana"/>
                <a:cs typeface="Verdana"/>
              </a:rPr>
              <a:t> </a:t>
            </a:r>
            <a:r>
              <a:rPr sz="1500" spc="-45" dirty="0">
                <a:latin typeface="Verdana"/>
                <a:cs typeface="Verdana"/>
              </a:rPr>
              <a:t>M.</a:t>
            </a:r>
            <a:r>
              <a:rPr sz="1500" spc="-140" dirty="0">
                <a:latin typeface="Verdana"/>
                <a:cs typeface="Verdana"/>
              </a:rPr>
              <a:t> </a:t>
            </a:r>
            <a:r>
              <a:rPr sz="1500" spc="-30" dirty="0">
                <a:latin typeface="Verdana"/>
                <a:cs typeface="Verdana"/>
              </a:rPr>
              <a:t>Chatterjee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1500">
              <a:latin typeface="Verdana"/>
              <a:cs typeface="Verdana"/>
            </a:endParaRPr>
          </a:p>
          <a:p>
            <a:pPr marR="248920">
              <a:lnSpc>
                <a:spcPts val="1730"/>
              </a:lnSpc>
            </a:pPr>
            <a:r>
              <a:rPr sz="1500" spc="-135" dirty="0">
                <a:latin typeface="Verdana"/>
                <a:cs typeface="Verdana"/>
              </a:rPr>
              <a:t>K.</a:t>
            </a:r>
            <a:r>
              <a:rPr sz="1500" spc="-14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Patil,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110" dirty="0">
                <a:latin typeface="Verdana"/>
                <a:cs typeface="Verdana"/>
              </a:rPr>
              <a:t>T.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85" dirty="0">
                <a:latin typeface="Verdana"/>
                <a:cs typeface="Verdana"/>
              </a:rPr>
              <a:t>Shah,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J. </a:t>
            </a:r>
            <a:r>
              <a:rPr sz="1500" spc="-10" dirty="0">
                <a:latin typeface="Verdana"/>
                <a:cs typeface="Verdana"/>
              </a:rPr>
              <a:t>D'Souza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500">
              <a:latin typeface="Verdana"/>
              <a:cs typeface="Verdana"/>
            </a:endParaRPr>
          </a:p>
          <a:p>
            <a:pPr marR="126364">
              <a:lnSpc>
                <a:spcPts val="1730"/>
              </a:lnSpc>
            </a:pPr>
            <a:r>
              <a:rPr sz="1500" spc="-50" dirty="0">
                <a:latin typeface="Verdana"/>
                <a:cs typeface="Verdana"/>
              </a:rPr>
              <a:t>P.</a:t>
            </a:r>
            <a:r>
              <a:rPr sz="1500" spc="-140" dirty="0">
                <a:latin typeface="Verdana"/>
                <a:cs typeface="Verdana"/>
              </a:rPr>
              <a:t> </a:t>
            </a:r>
            <a:r>
              <a:rPr sz="1500" spc="-75" dirty="0">
                <a:latin typeface="Verdana"/>
                <a:cs typeface="Verdana"/>
              </a:rPr>
              <a:t>Rao,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85" dirty="0">
                <a:latin typeface="Verdana"/>
                <a:cs typeface="Verdana"/>
              </a:rPr>
              <a:t>L.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Menon,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130" dirty="0">
                <a:latin typeface="Verdana"/>
                <a:cs typeface="Verdana"/>
              </a:rPr>
              <a:t>S. </a:t>
            </a:r>
            <a:r>
              <a:rPr sz="1500" spc="-10" dirty="0">
                <a:latin typeface="Verdana"/>
                <a:cs typeface="Verdana"/>
              </a:rPr>
              <a:t>Jadhav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sz="1500" spc="-140" dirty="0">
                <a:latin typeface="Verdana"/>
                <a:cs typeface="Verdana"/>
              </a:rPr>
              <a:t>S.</a:t>
            </a:r>
            <a:r>
              <a:rPr sz="1500" spc="-145" dirty="0">
                <a:latin typeface="Verdana"/>
                <a:cs typeface="Verdana"/>
              </a:rPr>
              <a:t> </a:t>
            </a:r>
            <a:r>
              <a:rPr sz="1500" spc="-80" dirty="0">
                <a:latin typeface="Verdana"/>
                <a:cs typeface="Verdana"/>
              </a:rPr>
              <a:t>Kaur,</a:t>
            </a:r>
            <a:r>
              <a:rPr sz="1500" spc="-140" dirty="0">
                <a:latin typeface="Verdana"/>
                <a:cs typeface="Verdana"/>
              </a:rPr>
              <a:t> </a:t>
            </a:r>
            <a:r>
              <a:rPr sz="1500" spc="-85" dirty="0">
                <a:latin typeface="Verdana"/>
                <a:cs typeface="Verdana"/>
              </a:rPr>
              <a:t>B.</a:t>
            </a:r>
            <a:r>
              <a:rPr sz="1500" spc="-14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Reddy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69147" y="4530721"/>
            <a:ext cx="1922145" cy="5228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 Black"/>
                <a:cs typeface="Arial Black"/>
              </a:rPr>
              <a:t>Description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1500">
              <a:latin typeface="Arial Black"/>
              <a:cs typeface="Arial Black"/>
            </a:endParaRPr>
          </a:p>
          <a:p>
            <a:pPr marR="15875">
              <a:lnSpc>
                <a:spcPts val="1130"/>
              </a:lnSpc>
            </a:pPr>
            <a:r>
              <a:rPr sz="1000" spc="-35" dirty="0">
                <a:latin typeface="Verdana"/>
                <a:cs typeface="Verdana"/>
              </a:rPr>
              <a:t>Explores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45" dirty="0">
                <a:latin typeface="Verdana"/>
                <a:cs typeface="Verdana"/>
              </a:rPr>
              <a:t>using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75" dirty="0">
                <a:latin typeface="Arial Black"/>
                <a:cs typeface="Arial Black"/>
              </a:rPr>
              <a:t>CNN</a:t>
            </a:r>
            <a:r>
              <a:rPr sz="1000" spc="-55" dirty="0">
                <a:latin typeface="Arial Black"/>
                <a:cs typeface="Arial Black"/>
              </a:rPr>
              <a:t> </a:t>
            </a:r>
            <a:r>
              <a:rPr sz="1000" spc="-70" dirty="0">
                <a:latin typeface="Arial Black"/>
                <a:cs typeface="Arial Black"/>
              </a:rPr>
              <a:t>models</a:t>
            </a:r>
            <a:r>
              <a:rPr sz="1000" spc="-40" dirty="0">
                <a:latin typeface="Arial Black"/>
                <a:cs typeface="Arial Black"/>
              </a:rPr>
              <a:t> </a:t>
            </a:r>
            <a:r>
              <a:rPr sz="1000" spc="-25" dirty="0">
                <a:latin typeface="Verdana"/>
                <a:cs typeface="Verdana"/>
              </a:rPr>
              <a:t>for classifying</a:t>
            </a:r>
            <a:r>
              <a:rPr sz="1000" spc="-55" dirty="0">
                <a:latin typeface="Verdana"/>
                <a:cs typeface="Verdana"/>
              </a:rPr>
              <a:t> </a:t>
            </a:r>
            <a:r>
              <a:rPr sz="1000" spc="-40" dirty="0">
                <a:latin typeface="Verdana"/>
                <a:cs typeface="Verdana"/>
              </a:rPr>
              <a:t>waste</a:t>
            </a:r>
            <a:r>
              <a:rPr sz="1000" spc="-50" dirty="0">
                <a:latin typeface="Verdana"/>
                <a:cs typeface="Verdana"/>
              </a:rPr>
              <a:t> </a:t>
            </a:r>
            <a:r>
              <a:rPr sz="1000" spc="-55" dirty="0">
                <a:latin typeface="Verdana"/>
                <a:cs typeface="Verdana"/>
              </a:rPr>
              <a:t>images </a:t>
            </a:r>
            <a:r>
              <a:rPr sz="1000" spc="-20" dirty="0">
                <a:latin typeface="Verdana"/>
                <a:cs typeface="Verdana"/>
              </a:rPr>
              <a:t>into </a:t>
            </a:r>
            <a:r>
              <a:rPr sz="1000" spc="-30" dirty="0">
                <a:latin typeface="Verdana"/>
                <a:cs typeface="Verdana"/>
              </a:rPr>
              <a:t>categories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35" dirty="0">
                <a:latin typeface="Verdana"/>
                <a:cs typeface="Verdana"/>
              </a:rPr>
              <a:t>like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plastic,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metal, </a:t>
            </a:r>
            <a:r>
              <a:rPr sz="1000" spc="-30" dirty="0">
                <a:latin typeface="Verdana"/>
                <a:cs typeface="Verdana"/>
              </a:rPr>
              <a:t>and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40" dirty="0">
                <a:latin typeface="Verdana"/>
                <a:cs typeface="Verdana"/>
              </a:rPr>
              <a:t>paper,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noting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the importance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of</a:t>
            </a:r>
            <a:r>
              <a:rPr sz="1000" spc="-5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preprocessing.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000">
              <a:latin typeface="Verdana"/>
              <a:cs typeface="Verdana"/>
            </a:endParaRPr>
          </a:p>
          <a:p>
            <a:pPr>
              <a:lnSpc>
                <a:spcPts val="1130"/>
              </a:lnSpc>
            </a:pPr>
            <a:r>
              <a:rPr sz="1000" spc="-35" dirty="0">
                <a:latin typeface="Verdana"/>
                <a:cs typeface="Verdana"/>
              </a:rPr>
              <a:t>The</a:t>
            </a:r>
            <a:r>
              <a:rPr sz="1000" spc="-85" dirty="0">
                <a:latin typeface="Verdana"/>
                <a:cs typeface="Verdana"/>
              </a:rPr>
              <a:t> </a:t>
            </a:r>
            <a:r>
              <a:rPr sz="1000" spc="-40" dirty="0">
                <a:latin typeface="Verdana"/>
                <a:cs typeface="Verdana"/>
              </a:rPr>
              <a:t>system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detects</a:t>
            </a:r>
            <a:r>
              <a:rPr sz="1000" spc="-85" dirty="0">
                <a:latin typeface="Verdana"/>
                <a:cs typeface="Verdana"/>
              </a:rPr>
              <a:t> </a:t>
            </a:r>
            <a:r>
              <a:rPr sz="1000" spc="-30" dirty="0">
                <a:latin typeface="Arial Black"/>
                <a:cs typeface="Arial Black"/>
              </a:rPr>
              <a:t>e-</a:t>
            </a:r>
            <a:r>
              <a:rPr sz="1000" spc="-10" dirty="0">
                <a:latin typeface="Arial Black"/>
                <a:cs typeface="Arial Black"/>
              </a:rPr>
              <a:t>waste </a:t>
            </a:r>
            <a:r>
              <a:rPr sz="1000" spc="-45" dirty="0">
                <a:latin typeface="Verdana"/>
                <a:cs typeface="Verdana"/>
              </a:rPr>
              <a:t>using</a:t>
            </a:r>
            <a:r>
              <a:rPr sz="1000" spc="-55" dirty="0">
                <a:latin typeface="Verdana"/>
                <a:cs typeface="Verdana"/>
              </a:rPr>
              <a:t> </a:t>
            </a:r>
            <a:r>
              <a:rPr sz="1000" spc="-35" dirty="0">
                <a:latin typeface="Verdana"/>
                <a:cs typeface="Verdana"/>
              </a:rPr>
              <a:t>machine</a:t>
            </a:r>
            <a:r>
              <a:rPr sz="1000" spc="-55" dirty="0">
                <a:latin typeface="Verdana"/>
                <a:cs typeface="Verdana"/>
              </a:rPr>
              <a:t> </a:t>
            </a:r>
            <a:r>
              <a:rPr sz="1000" spc="-35" dirty="0">
                <a:latin typeface="Verdana"/>
                <a:cs typeface="Verdana"/>
              </a:rPr>
              <a:t>learning</a:t>
            </a:r>
            <a:r>
              <a:rPr sz="1000" spc="-55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and </a:t>
            </a:r>
            <a:r>
              <a:rPr sz="1000" spc="-40" dirty="0">
                <a:latin typeface="Verdana"/>
                <a:cs typeface="Verdana"/>
              </a:rPr>
              <a:t>guides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40" dirty="0">
                <a:latin typeface="Verdana"/>
                <a:cs typeface="Verdana"/>
              </a:rPr>
              <a:t>users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on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proper </a:t>
            </a:r>
            <a:r>
              <a:rPr sz="1000" spc="-30" dirty="0">
                <a:latin typeface="Verdana"/>
                <a:cs typeface="Verdana"/>
              </a:rPr>
              <a:t>disposal,</a:t>
            </a:r>
            <a:r>
              <a:rPr sz="1000" spc="-50" dirty="0">
                <a:latin typeface="Verdana"/>
                <a:cs typeface="Verdana"/>
              </a:rPr>
              <a:t> </a:t>
            </a:r>
            <a:r>
              <a:rPr sz="1000" spc="-40" dirty="0">
                <a:latin typeface="Verdana"/>
                <a:cs typeface="Verdana"/>
              </a:rPr>
              <a:t>emphasizing</a:t>
            </a:r>
            <a:r>
              <a:rPr sz="1000" spc="-5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accuracy </a:t>
            </a:r>
            <a:r>
              <a:rPr sz="1000" spc="-30" dirty="0">
                <a:latin typeface="Verdana"/>
                <a:cs typeface="Verdana"/>
              </a:rPr>
              <a:t>and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compliance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with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waste </a:t>
            </a:r>
            <a:r>
              <a:rPr sz="1000" spc="-10" dirty="0">
                <a:latin typeface="Verdana"/>
                <a:cs typeface="Verdana"/>
              </a:rPr>
              <a:t>regulations.</a:t>
            </a:r>
            <a:endParaRPr sz="1000">
              <a:latin typeface="Verdana"/>
              <a:cs typeface="Verdana"/>
            </a:endParaRPr>
          </a:p>
          <a:p>
            <a:pPr marR="118745">
              <a:lnSpc>
                <a:spcPts val="1130"/>
              </a:lnSpc>
              <a:spcBef>
                <a:spcPts val="665"/>
              </a:spcBef>
            </a:pPr>
            <a:r>
              <a:rPr sz="1000" spc="-20" dirty="0">
                <a:latin typeface="Verdana"/>
                <a:cs typeface="Verdana"/>
              </a:rPr>
              <a:t>Proposes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55" dirty="0">
                <a:latin typeface="Verdana"/>
                <a:cs typeface="Verdana"/>
              </a:rPr>
              <a:t>a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40" dirty="0">
                <a:latin typeface="Verdana"/>
                <a:cs typeface="Verdana"/>
              </a:rPr>
              <a:t>system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that </a:t>
            </a:r>
            <a:r>
              <a:rPr sz="1000" spc="-35" dirty="0">
                <a:latin typeface="Verdana"/>
                <a:cs typeface="Verdana"/>
              </a:rPr>
              <a:t>integrates</a:t>
            </a:r>
            <a:r>
              <a:rPr sz="1000" spc="-55" dirty="0">
                <a:latin typeface="Verdana"/>
                <a:cs typeface="Verdana"/>
              </a:rPr>
              <a:t> </a:t>
            </a:r>
            <a:r>
              <a:rPr sz="1000" spc="-70" dirty="0">
                <a:latin typeface="Arial Black"/>
                <a:cs typeface="Arial Black"/>
              </a:rPr>
              <a:t>regional</a:t>
            </a:r>
            <a:r>
              <a:rPr sz="1000" spc="-45" dirty="0">
                <a:latin typeface="Arial Black"/>
                <a:cs typeface="Arial Black"/>
              </a:rPr>
              <a:t> </a:t>
            </a:r>
            <a:r>
              <a:rPr sz="1000" spc="-80" dirty="0">
                <a:latin typeface="Arial Black"/>
                <a:cs typeface="Arial Black"/>
              </a:rPr>
              <a:t>legal</a:t>
            </a:r>
            <a:r>
              <a:rPr sz="1000" spc="-40" dirty="0">
                <a:latin typeface="Arial Black"/>
                <a:cs typeface="Arial Black"/>
              </a:rPr>
              <a:t> </a:t>
            </a:r>
            <a:r>
              <a:rPr sz="1000" spc="-35" dirty="0">
                <a:latin typeface="Arial Black"/>
                <a:cs typeface="Arial Black"/>
              </a:rPr>
              <a:t>data </a:t>
            </a:r>
            <a:r>
              <a:rPr sz="1000" spc="-10" dirty="0">
                <a:latin typeface="Verdana"/>
                <a:cs typeface="Verdana"/>
              </a:rPr>
              <a:t>into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40" dirty="0">
                <a:latin typeface="Verdana"/>
                <a:cs typeface="Verdana"/>
              </a:rPr>
              <a:t>waste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disposal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guidance, </a:t>
            </a:r>
            <a:r>
              <a:rPr sz="1000" spc="-45" dirty="0">
                <a:latin typeface="Verdana"/>
                <a:cs typeface="Verdana"/>
              </a:rPr>
              <a:t>using</a:t>
            </a:r>
            <a:r>
              <a:rPr sz="1000" spc="-85" dirty="0">
                <a:latin typeface="Verdana"/>
                <a:cs typeface="Verdana"/>
              </a:rPr>
              <a:t> </a:t>
            </a:r>
            <a:r>
              <a:rPr sz="1000" spc="-45" dirty="0">
                <a:latin typeface="Verdana"/>
                <a:cs typeface="Verdana"/>
              </a:rPr>
              <a:t>APIs</a:t>
            </a:r>
            <a:r>
              <a:rPr sz="1000" spc="-8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to</a:t>
            </a:r>
            <a:r>
              <a:rPr sz="1000" spc="-85" dirty="0">
                <a:latin typeface="Verdana"/>
                <a:cs typeface="Verdana"/>
              </a:rPr>
              <a:t> </a:t>
            </a:r>
            <a:r>
              <a:rPr sz="1000" spc="-40" dirty="0">
                <a:latin typeface="Verdana"/>
                <a:cs typeface="Verdana"/>
              </a:rPr>
              <a:t>map</a:t>
            </a:r>
            <a:r>
              <a:rPr sz="1000" spc="-85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waste </a:t>
            </a:r>
            <a:r>
              <a:rPr sz="1000" spc="-30" dirty="0">
                <a:latin typeface="Verdana"/>
                <a:cs typeface="Verdana"/>
              </a:rPr>
              <a:t>categories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to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local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municipal rules.</a:t>
            </a:r>
            <a:endParaRPr sz="1000">
              <a:latin typeface="Verdana"/>
              <a:cs typeface="Verdana"/>
            </a:endParaRPr>
          </a:p>
          <a:p>
            <a:pPr>
              <a:lnSpc>
                <a:spcPts val="1130"/>
              </a:lnSpc>
              <a:spcBef>
                <a:spcPts val="665"/>
              </a:spcBef>
            </a:pPr>
            <a:r>
              <a:rPr sz="1000" spc="-20" dirty="0">
                <a:latin typeface="Verdana"/>
                <a:cs typeface="Verdana"/>
              </a:rPr>
              <a:t>Detects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40" dirty="0">
                <a:latin typeface="Verdana"/>
                <a:cs typeface="Verdana"/>
              </a:rPr>
              <a:t>waste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type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through </a:t>
            </a:r>
            <a:r>
              <a:rPr sz="1000" spc="-60" dirty="0">
                <a:latin typeface="Arial Black"/>
                <a:cs typeface="Arial Black"/>
              </a:rPr>
              <a:t>deep</a:t>
            </a:r>
            <a:r>
              <a:rPr sz="1000" spc="-55" dirty="0">
                <a:latin typeface="Arial Black"/>
                <a:cs typeface="Arial Black"/>
              </a:rPr>
              <a:t> </a:t>
            </a:r>
            <a:r>
              <a:rPr sz="1000" spc="-70" dirty="0">
                <a:latin typeface="Arial Black"/>
                <a:cs typeface="Arial Black"/>
              </a:rPr>
              <a:t>learning</a:t>
            </a:r>
            <a:r>
              <a:rPr sz="1000" spc="-40" dirty="0">
                <a:latin typeface="Arial Black"/>
                <a:cs typeface="Arial Black"/>
              </a:rPr>
              <a:t> </a:t>
            </a:r>
            <a:r>
              <a:rPr sz="1000" spc="-25" dirty="0">
                <a:latin typeface="Verdana"/>
                <a:cs typeface="Verdana"/>
              </a:rPr>
              <a:t>and</a:t>
            </a:r>
            <a:r>
              <a:rPr sz="1000" spc="500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recommends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disposal</a:t>
            </a:r>
            <a:r>
              <a:rPr sz="1000" spc="-5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methods </a:t>
            </a:r>
            <a:r>
              <a:rPr sz="1000" spc="-30" dirty="0">
                <a:latin typeface="Verdana"/>
                <a:cs typeface="Verdana"/>
              </a:rPr>
              <a:t>based</a:t>
            </a:r>
            <a:r>
              <a:rPr sz="1000" spc="-85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on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the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35" dirty="0">
                <a:latin typeface="Verdana"/>
                <a:cs typeface="Verdana"/>
              </a:rPr>
              <a:t>user's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GPS location,</a:t>
            </a:r>
            <a:r>
              <a:rPr sz="1000" spc="-55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combining</a:t>
            </a:r>
            <a:r>
              <a:rPr sz="1000" spc="-5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GIS </a:t>
            </a:r>
            <a:r>
              <a:rPr sz="1000" spc="-35" dirty="0">
                <a:latin typeface="Verdana"/>
                <a:cs typeface="Verdana"/>
              </a:rPr>
              <a:t>mapping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with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classification.</a:t>
            </a:r>
            <a:endParaRPr sz="1000">
              <a:latin typeface="Verdana"/>
              <a:cs typeface="Verdana"/>
            </a:endParaRPr>
          </a:p>
          <a:p>
            <a:pPr marR="132080">
              <a:lnSpc>
                <a:spcPts val="1130"/>
              </a:lnSpc>
              <a:spcBef>
                <a:spcPts val="965"/>
              </a:spcBef>
            </a:pPr>
            <a:r>
              <a:rPr sz="1000" spc="-30" dirty="0">
                <a:latin typeface="Verdana"/>
                <a:cs typeface="Verdana"/>
              </a:rPr>
              <a:t>Focuses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on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35" dirty="0">
                <a:latin typeface="Verdana"/>
                <a:cs typeface="Verdana"/>
              </a:rPr>
              <a:t>extracting</a:t>
            </a:r>
            <a:r>
              <a:rPr sz="1000" spc="-5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waste </a:t>
            </a:r>
            <a:r>
              <a:rPr sz="1000" spc="-20" dirty="0">
                <a:latin typeface="Verdana"/>
                <a:cs typeface="Verdana"/>
              </a:rPr>
              <a:t>disposal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35" dirty="0">
                <a:latin typeface="Verdana"/>
                <a:cs typeface="Verdana"/>
              </a:rPr>
              <a:t>laws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45" dirty="0">
                <a:latin typeface="Verdana"/>
                <a:cs typeface="Verdana"/>
              </a:rPr>
              <a:t>using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85" dirty="0">
                <a:latin typeface="Arial Black"/>
                <a:cs typeface="Arial Black"/>
              </a:rPr>
              <a:t>NLP</a:t>
            </a:r>
            <a:r>
              <a:rPr sz="1000" spc="-50" dirty="0">
                <a:latin typeface="Arial Black"/>
                <a:cs typeface="Arial Black"/>
              </a:rPr>
              <a:t> </a:t>
            </a:r>
            <a:r>
              <a:rPr sz="1000" spc="-20" dirty="0">
                <a:latin typeface="Verdana"/>
                <a:cs typeface="Verdana"/>
              </a:rPr>
              <a:t>from </a:t>
            </a:r>
            <a:r>
              <a:rPr sz="1000" spc="-35" dirty="0">
                <a:latin typeface="Verdana"/>
                <a:cs typeface="Verdana"/>
              </a:rPr>
              <a:t>government</a:t>
            </a:r>
            <a:r>
              <a:rPr sz="1000" spc="-55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portals</a:t>
            </a:r>
            <a:r>
              <a:rPr sz="1000" spc="-55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and </a:t>
            </a:r>
            <a:r>
              <a:rPr sz="1000" spc="-35" dirty="0">
                <a:latin typeface="Verdana"/>
                <a:cs typeface="Verdana"/>
              </a:rPr>
              <a:t>mapping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the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extracted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legal </a:t>
            </a:r>
            <a:r>
              <a:rPr sz="1000" spc="-35" dirty="0">
                <a:latin typeface="Verdana"/>
                <a:cs typeface="Verdana"/>
              </a:rPr>
              <a:t>text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with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40" dirty="0">
                <a:latin typeface="Verdana"/>
                <a:cs typeface="Verdana"/>
              </a:rPr>
              <a:t>waste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categories.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91618" y="4186570"/>
            <a:ext cx="6304280" cy="5682615"/>
            <a:chOff x="891618" y="4186570"/>
            <a:chExt cx="6304280" cy="5682615"/>
          </a:xfrm>
        </p:grpSpPr>
        <p:sp>
          <p:nvSpPr>
            <p:cNvPr id="6" name="object 6"/>
            <p:cNvSpPr/>
            <p:nvPr/>
          </p:nvSpPr>
          <p:spPr>
            <a:xfrm>
              <a:off x="896378" y="4196104"/>
              <a:ext cx="6294755" cy="5663565"/>
            </a:xfrm>
            <a:custGeom>
              <a:avLst/>
              <a:gdLst/>
              <a:ahLst/>
              <a:cxnLst/>
              <a:rect l="l" t="t" r="r" b="b"/>
              <a:pathLst>
                <a:path w="6294755" h="5663565">
                  <a:moveTo>
                    <a:pt x="6294679" y="0"/>
                  </a:moveTo>
                  <a:lnTo>
                    <a:pt x="4196448" y="0"/>
                  </a:lnTo>
                  <a:lnTo>
                    <a:pt x="2098217" y="0"/>
                  </a:lnTo>
                  <a:lnTo>
                    <a:pt x="0" y="0"/>
                  </a:lnTo>
                  <a:lnTo>
                    <a:pt x="0" y="5663006"/>
                  </a:lnTo>
                  <a:lnTo>
                    <a:pt x="2098217" y="5663006"/>
                  </a:lnTo>
                  <a:lnTo>
                    <a:pt x="4196448" y="5663006"/>
                  </a:lnTo>
                  <a:lnTo>
                    <a:pt x="6294679" y="5663006"/>
                  </a:lnTo>
                  <a:lnTo>
                    <a:pt x="62946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1618" y="4191335"/>
              <a:ext cx="6304280" cy="5673090"/>
            </a:xfrm>
            <a:custGeom>
              <a:avLst/>
              <a:gdLst/>
              <a:ahLst/>
              <a:cxnLst/>
              <a:rect l="l" t="t" r="r" b="b"/>
              <a:pathLst>
                <a:path w="6304280" h="5673090">
                  <a:moveTo>
                    <a:pt x="4764" y="4764"/>
                  </a:moveTo>
                  <a:lnTo>
                    <a:pt x="4764" y="5667772"/>
                  </a:lnTo>
                </a:path>
                <a:path w="6304280" h="5673090">
                  <a:moveTo>
                    <a:pt x="2102989" y="4764"/>
                  </a:moveTo>
                  <a:lnTo>
                    <a:pt x="2102989" y="5667772"/>
                  </a:lnTo>
                </a:path>
                <a:path w="6304280" h="5673090">
                  <a:moveTo>
                    <a:pt x="4201215" y="4764"/>
                  </a:moveTo>
                  <a:lnTo>
                    <a:pt x="4201215" y="5667772"/>
                  </a:lnTo>
                </a:path>
                <a:path w="6304280" h="5673090">
                  <a:moveTo>
                    <a:pt x="6299440" y="4764"/>
                  </a:moveTo>
                  <a:lnTo>
                    <a:pt x="6299440" y="5667772"/>
                  </a:lnTo>
                </a:path>
                <a:path w="6304280" h="5673090">
                  <a:moveTo>
                    <a:pt x="0" y="0"/>
                  </a:moveTo>
                  <a:lnTo>
                    <a:pt x="6304204" y="0"/>
                  </a:lnTo>
                </a:path>
                <a:path w="6304280" h="5673090">
                  <a:moveTo>
                    <a:pt x="0" y="945422"/>
                  </a:moveTo>
                  <a:lnTo>
                    <a:pt x="6304204" y="945422"/>
                  </a:lnTo>
                </a:path>
                <a:path w="6304280" h="5673090">
                  <a:moveTo>
                    <a:pt x="0" y="1890845"/>
                  </a:moveTo>
                  <a:lnTo>
                    <a:pt x="6304204" y="1890845"/>
                  </a:lnTo>
                </a:path>
                <a:path w="6304280" h="5673090">
                  <a:moveTo>
                    <a:pt x="0" y="2836268"/>
                  </a:moveTo>
                  <a:lnTo>
                    <a:pt x="6304204" y="2836268"/>
                  </a:lnTo>
                </a:path>
                <a:path w="6304280" h="5673090">
                  <a:moveTo>
                    <a:pt x="0" y="3781691"/>
                  </a:moveTo>
                  <a:lnTo>
                    <a:pt x="6304204" y="3781691"/>
                  </a:lnTo>
                </a:path>
                <a:path w="6304280" h="5673090">
                  <a:moveTo>
                    <a:pt x="0" y="4727113"/>
                  </a:moveTo>
                  <a:lnTo>
                    <a:pt x="6304204" y="4727113"/>
                  </a:lnTo>
                </a:path>
                <a:path w="6304280" h="5673090">
                  <a:moveTo>
                    <a:pt x="0" y="5672536"/>
                  </a:moveTo>
                  <a:lnTo>
                    <a:pt x="6304204" y="5672536"/>
                  </a:lnTo>
                </a:path>
              </a:pathLst>
            </a:custGeom>
            <a:ln w="9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00825" y="785452"/>
            <a:ext cx="5770880" cy="1015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3695" algn="l"/>
              </a:tabLst>
            </a:pPr>
            <a:r>
              <a:rPr sz="1200" b="1" spc="-25" dirty="0">
                <a:latin typeface="Times New Roman"/>
                <a:cs typeface="Times New Roman"/>
              </a:rPr>
              <a:t>1.7</a:t>
            </a:r>
            <a:r>
              <a:rPr sz="1200" b="1" dirty="0">
                <a:latin typeface="Times New Roman"/>
                <a:cs typeface="Times New Roman"/>
              </a:rPr>
              <a:t>	Relevant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mathematics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associated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with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Project</a:t>
            </a:r>
            <a:endParaRPr sz="1200">
              <a:latin typeface="Times New Roman"/>
              <a:cs typeface="Times New Roman"/>
            </a:endParaRPr>
          </a:p>
          <a:p>
            <a:pPr marL="201295" marR="480059">
              <a:lnSpc>
                <a:spcPct val="112500"/>
              </a:lnSpc>
              <a:spcBef>
                <a:spcPts val="950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project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involves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image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classification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performance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testing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where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core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metrics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measured. Classification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Accuracy: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Computed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Total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PredictionsCorrect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Predictions×100.</a:t>
            </a:r>
            <a:endParaRPr sz="1000">
              <a:latin typeface="Times New Roman"/>
              <a:cs typeface="Times New Roman"/>
            </a:endParaRPr>
          </a:p>
          <a:p>
            <a:pPr marL="201295" marR="5080">
              <a:lnSpc>
                <a:spcPct val="112500"/>
              </a:lnSpc>
            </a:pPr>
            <a:r>
              <a:rPr sz="1000" spc="-20" dirty="0">
                <a:latin typeface="Times New Roman"/>
                <a:cs typeface="Times New Roman"/>
              </a:rPr>
              <a:t>Average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Response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Latency: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Calculated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Number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TestsΣ(Response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Time).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The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AI-</a:t>
            </a:r>
            <a:r>
              <a:rPr sz="1000" dirty="0">
                <a:latin typeface="Times New Roman"/>
                <a:cs typeface="Times New Roman"/>
              </a:rPr>
              <a:t>powered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targets </a:t>
            </a:r>
            <a:r>
              <a:rPr sz="1000" dirty="0">
                <a:latin typeface="Times New Roman"/>
                <a:cs typeface="Times New Roman"/>
              </a:rPr>
              <a:t>higher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classification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accuracy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faster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response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times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compared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baseline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model.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55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50" dirty="0"/>
              <a:t>8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83682" y="2287263"/>
            <a:ext cx="21780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Times New Roman"/>
                <a:cs typeface="Times New Roman"/>
              </a:rPr>
              <a:t>1.8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0825" y="3753942"/>
            <a:ext cx="43980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3695" algn="l"/>
              </a:tabLst>
            </a:pPr>
            <a:r>
              <a:rPr sz="1200" b="1" spc="-25" dirty="0">
                <a:latin typeface="Times New Roman"/>
                <a:cs typeface="Times New Roman"/>
              </a:rPr>
              <a:t>1.9</a:t>
            </a:r>
            <a:r>
              <a:rPr sz="1200" b="1" dirty="0">
                <a:latin typeface="Times New Roman"/>
                <a:cs typeface="Times New Roman"/>
              </a:rPr>
              <a:t>	Review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Conference/Journal </a:t>
            </a:r>
            <a:r>
              <a:rPr sz="1200" b="1" dirty="0">
                <a:latin typeface="Times New Roman"/>
                <a:cs typeface="Times New Roman"/>
              </a:rPr>
              <a:t>Papers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supporting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idea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2329" y="2269697"/>
            <a:ext cx="42056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Names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Conferences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/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Journals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where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papers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published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0141" y="2658480"/>
            <a:ext cx="5273675" cy="7118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00" dirty="0">
                <a:latin typeface="Times New Roman"/>
                <a:cs typeface="Times New Roman"/>
              </a:rPr>
              <a:t>IEEE/ACM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Conference/Journal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latin typeface="Times New Roman"/>
                <a:cs typeface="Times New Roman"/>
              </a:rPr>
              <a:t>Central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Universities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SPPU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Conferences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ct val="112500"/>
              </a:lnSpc>
            </a:pPr>
            <a:r>
              <a:rPr sz="1000" spc="-10" dirty="0">
                <a:latin typeface="Times New Roman"/>
                <a:cs typeface="Times New Roman"/>
              </a:rPr>
              <a:t>International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Journal </a:t>
            </a:r>
            <a:r>
              <a:rPr sz="1000" spc="-10" dirty="0">
                <a:latin typeface="Times New Roman"/>
                <a:cs typeface="Times New Roman"/>
              </a:rPr>
              <a:t>of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Advanced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Research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Computer and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Communication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Engineering (IJARCCE) International </a:t>
            </a:r>
            <a:r>
              <a:rPr sz="1000" dirty="0">
                <a:latin typeface="Times New Roman"/>
                <a:cs typeface="Times New Roman"/>
              </a:rPr>
              <a:t>Journal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Computer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Science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Information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Technologies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(IJCSIT)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1442" y="854315"/>
            <a:ext cx="6357620" cy="2196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945">
              <a:lnSpc>
                <a:spcPct val="100000"/>
              </a:lnSpc>
              <a:spcBef>
                <a:spcPts val="100"/>
              </a:spcBef>
              <a:tabLst>
                <a:tab pos="739140" algn="l"/>
              </a:tabLst>
            </a:pPr>
            <a:r>
              <a:rPr sz="1200" b="1" spc="-20" dirty="0">
                <a:latin typeface="Times New Roman"/>
                <a:cs typeface="Times New Roman"/>
              </a:rPr>
              <a:t>1.10</a:t>
            </a:r>
            <a:r>
              <a:rPr sz="1200" b="1" dirty="0">
                <a:latin typeface="Times New Roman"/>
                <a:cs typeface="Times New Roman"/>
              </a:rPr>
              <a:t>	Plan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Execution:-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project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execution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follows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standard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phased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approach: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Initiation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Phase: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Project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Definition: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Project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constraints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problem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statements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defined.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goal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classify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dirty="0">
                <a:latin typeface="Times New Roman"/>
                <a:cs typeface="Times New Roman"/>
              </a:rPr>
              <a:t>provide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regional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legal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guidance.</a:t>
            </a:r>
            <a:endParaRPr sz="1000">
              <a:latin typeface="Times New Roman"/>
              <a:cs typeface="Times New Roman"/>
            </a:endParaRPr>
          </a:p>
          <a:p>
            <a:pPr marL="12700" marR="247015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Planning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Phase: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Detailed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Planning: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Estimation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&amp;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Scheduling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conducted.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involves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selecting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Python,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Django,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dirty="0">
                <a:latin typeface="Times New Roman"/>
                <a:cs typeface="Times New Roman"/>
              </a:rPr>
              <a:t>Gemini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LLM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core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technologies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designing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modular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architecture.</a:t>
            </a:r>
            <a:endParaRPr sz="1000">
              <a:latin typeface="Times New Roman"/>
              <a:cs typeface="Times New Roman"/>
            </a:endParaRPr>
          </a:p>
          <a:p>
            <a:pPr marL="12700" marR="75565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Execution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Phase: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Project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30" dirty="0">
                <a:latin typeface="Times New Roman"/>
                <a:cs typeface="Times New Roman"/>
              </a:rPr>
              <a:t>Team: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Acquisition,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Development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&amp;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Management.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phase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involves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implementing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frontend </a:t>
            </a:r>
            <a:r>
              <a:rPr sz="1000" dirty="0">
                <a:latin typeface="Times New Roman"/>
                <a:cs typeface="Times New Roman"/>
              </a:rPr>
              <a:t>(Django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Templates,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pure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CSS),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backend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logic,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integrating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the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AI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classification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LLM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legal</a:t>
            </a:r>
            <a:r>
              <a:rPr sz="1000" spc="-20" dirty="0">
                <a:latin typeface="Times New Roman"/>
                <a:cs typeface="Times New Roman"/>
              </a:rPr>
              <a:t> rule </a:t>
            </a:r>
            <a:r>
              <a:rPr sz="1000" spc="-10" dirty="0">
                <a:latin typeface="Times New Roman"/>
                <a:cs typeface="Times New Roman"/>
              </a:rPr>
              <a:t>generation.</a:t>
            </a:r>
            <a:endParaRPr sz="1000">
              <a:latin typeface="Times New Roman"/>
              <a:cs typeface="Times New Roman"/>
            </a:endParaRPr>
          </a:p>
          <a:p>
            <a:pPr marL="12700" marR="27940">
              <a:lnSpc>
                <a:spcPct val="112500"/>
              </a:lnSpc>
              <a:spcBef>
                <a:spcPts val="5"/>
              </a:spcBef>
            </a:pPr>
            <a:r>
              <a:rPr sz="1000" dirty="0">
                <a:latin typeface="Times New Roman"/>
                <a:cs typeface="Times New Roman"/>
              </a:rPr>
              <a:t>Project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Closure: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Monitoring,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Controlling,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Closure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&amp;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Review.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testing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performed,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where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the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AI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performance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verified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(e.g., 93.2%</a:t>
            </a:r>
            <a:r>
              <a:rPr sz="1000" spc="-10" dirty="0">
                <a:latin typeface="Times New Roman"/>
                <a:cs typeface="Times New Roman"/>
              </a:rPr>
              <a:t> accuracy).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Final </a:t>
            </a:r>
            <a:r>
              <a:rPr sz="1000" spc="-10" dirty="0">
                <a:latin typeface="Times New Roman"/>
                <a:cs typeface="Times New Roman"/>
              </a:rPr>
              <a:t>documentation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prepared.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7331" y="275556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07331" y="2927080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7331" y="309859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7331" y="327010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07331" y="34416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07331" y="361313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0825" y="831847"/>
            <a:ext cx="5873750" cy="2877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4664">
              <a:lnSpc>
                <a:spcPct val="100000"/>
              </a:lnSpc>
              <a:spcBef>
                <a:spcPts val="100"/>
              </a:spcBef>
              <a:tabLst>
                <a:tab pos="2038985" algn="l"/>
              </a:tabLst>
            </a:pPr>
            <a:r>
              <a:rPr sz="1400" b="1" spc="-50" dirty="0">
                <a:latin typeface="Times New Roman"/>
                <a:cs typeface="Times New Roman"/>
              </a:rPr>
              <a:t>2</a:t>
            </a:r>
            <a:r>
              <a:rPr sz="1400" b="1" dirty="0">
                <a:latin typeface="Times New Roman"/>
                <a:cs typeface="Times New Roman"/>
              </a:rPr>
              <a:t>	TECHNICAL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KEYWORDS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400">
              <a:latin typeface="Times New Roman"/>
              <a:cs typeface="Times New Roman"/>
            </a:endParaRPr>
          </a:p>
          <a:p>
            <a:pPr marL="353695" lvl="1" indent="-340995">
              <a:lnSpc>
                <a:spcPct val="100000"/>
              </a:lnSpc>
              <a:buAutoNum type="arabicPeriod"/>
              <a:tabLst>
                <a:tab pos="353695" algn="l"/>
              </a:tabLst>
            </a:pPr>
            <a:r>
              <a:rPr sz="1200" b="1" dirty="0">
                <a:latin typeface="Times New Roman"/>
                <a:cs typeface="Times New Roman"/>
              </a:rPr>
              <a:t>Area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project</a:t>
            </a:r>
            <a:endParaRPr sz="1200">
              <a:latin typeface="Times New Roman"/>
              <a:cs typeface="Times New Roman"/>
            </a:endParaRPr>
          </a:p>
          <a:p>
            <a:pPr marL="130175" marR="5080">
              <a:lnSpc>
                <a:spcPct val="112500"/>
              </a:lnSpc>
              <a:spcBef>
                <a:spcPts val="1280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area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project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Smart</a:t>
            </a:r>
            <a:r>
              <a:rPr sz="1000" spc="-10" dirty="0">
                <a:latin typeface="Times New Roman"/>
                <a:cs typeface="Times New Roman"/>
              </a:rPr>
              <a:t> Environmental </a:t>
            </a:r>
            <a:r>
              <a:rPr sz="1000" dirty="0">
                <a:latin typeface="Times New Roman"/>
                <a:cs typeface="Times New Roman"/>
              </a:rPr>
              <a:t>Systems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and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AI-</a:t>
            </a:r>
            <a:r>
              <a:rPr sz="1000" dirty="0">
                <a:latin typeface="Times New Roman"/>
                <a:cs typeface="Times New Roman"/>
              </a:rPr>
              <a:t>Driven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Waste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Management.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implementation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based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45" dirty="0">
                <a:latin typeface="Times New Roman"/>
                <a:cs typeface="Times New Roman"/>
              </a:rPr>
              <a:t>Web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Application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Development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Computer</a:t>
            </a:r>
            <a:r>
              <a:rPr sz="1000" spc="-10" dirty="0">
                <a:latin typeface="Times New Roman"/>
                <a:cs typeface="Times New Roman"/>
              </a:rPr>
              <a:t> Engineering.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Times New Roman"/>
              <a:cs typeface="Times New Roman"/>
            </a:endParaRPr>
          </a:p>
          <a:p>
            <a:pPr marL="353695" lvl="1" indent="-340995">
              <a:lnSpc>
                <a:spcPct val="100000"/>
              </a:lnSpc>
              <a:buAutoNum type="arabicPeriod" startAt="2"/>
              <a:tabLst>
                <a:tab pos="353695" algn="l"/>
              </a:tabLst>
            </a:pPr>
            <a:r>
              <a:rPr sz="1200" b="1" dirty="0">
                <a:latin typeface="Times New Roman"/>
                <a:cs typeface="Times New Roman"/>
              </a:rPr>
              <a:t>Technical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Keywords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(As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ACM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Keywords)</a:t>
            </a:r>
            <a:endParaRPr sz="1200">
              <a:latin typeface="Times New Roman"/>
              <a:cs typeface="Times New Roman"/>
            </a:endParaRPr>
          </a:p>
          <a:p>
            <a:pPr marL="346075" marR="4340860">
              <a:lnSpc>
                <a:spcPct val="112500"/>
              </a:lnSpc>
              <a:spcBef>
                <a:spcPts val="1080"/>
              </a:spcBef>
            </a:pPr>
            <a:r>
              <a:rPr sz="1000" spc="-10" dirty="0">
                <a:latin typeface="Times New Roman"/>
                <a:cs typeface="Times New Roman"/>
              </a:rPr>
              <a:t>Prediction/Recognition </a:t>
            </a:r>
            <a:r>
              <a:rPr sz="1000" dirty="0">
                <a:latin typeface="Times New Roman"/>
                <a:cs typeface="Times New Roman"/>
              </a:rPr>
              <a:t>Machine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Learning </a:t>
            </a:r>
            <a:r>
              <a:rPr sz="1000" dirty="0">
                <a:latin typeface="Times New Roman"/>
                <a:cs typeface="Times New Roman"/>
              </a:rPr>
              <a:t>Deep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Learning</a:t>
            </a:r>
            <a:endParaRPr sz="1000">
              <a:latin typeface="Times New Roman"/>
              <a:cs typeface="Times New Roman"/>
            </a:endParaRPr>
          </a:p>
          <a:p>
            <a:pPr marL="346075">
              <a:lnSpc>
                <a:spcPct val="100000"/>
              </a:lnSpc>
              <a:spcBef>
                <a:spcPts val="150"/>
              </a:spcBef>
            </a:pPr>
            <a:r>
              <a:rPr sz="1000" spc="-10" dirty="0">
                <a:latin typeface="Times New Roman"/>
                <a:cs typeface="Times New Roman"/>
              </a:rPr>
              <a:t>Python</a:t>
            </a:r>
            <a:endParaRPr sz="1000">
              <a:latin typeface="Times New Roman"/>
              <a:cs typeface="Times New Roman"/>
            </a:endParaRPr>
          </a:p>
          <a:p>
            <a:pPr marL="346075" marR="4528185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Django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Framework </a:t>
            </a:r>
            <a:r>
              <a:rPr sz="1000" dirty="0">
                <a:latin typeface="Times New Roman"/>
                <a:cs typeface="Times New Roman"/>
              </a:rPr>
              <a:t>Gemini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LLM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11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513" y="5909843"/>
            <a:ext cx="1360805" cy="34486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200" spc="-10" dirty="0">
                <a:latin typeface="Arial Black"/>
                <a:cs typeface="Arial Black"/>
              </a:rPr>
              <a:t>Category</a:t>
            </a: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550"/>
              </a:spcBef>
            </a:pP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latin typeface="Arial Black"/>
                <a:cs typeface="Arial Black"/>
              </a:rPr>
              <a:t>Classification</a:t>
            </a: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550"/>
              </a:spcBef>
            </a:pP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Arial Black"/>
                <a:cs typeface="Arial Black"/>
              </a:rPr>
              <a:t>Monitoring</a:t>
            </a: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200">
              <a:latin typeface="Arial Black"/>
              <a:cs typeface="Arial Black"/>
            </a:endParaRPr>
          </a:p>
          <a:p>
            <a:pPr>
              <a:lnSpc>
                <a:spcPts val="1430"/>
              </a:lnSpc>
              <a:spcBef>
                <a:spcPts val="5"/>
              </a:spcBef>
            </a:pPr>
            <a:r>
              <a:rPr sz="1200" spc="-70" dirty="0">
                <a:latin typeface="Arial Black"/>
                <a:cs typeface="Arial Black"/>
              </a:rPr>
              <a:t>Framework/Appro </a:t>
            </a:r>
            <a:r>
              <a:rPr sz="1200" spc="-25" dirty="0">
                <a:latin typeface="Arial Black"/>
                <a:cs typeface="Arial Black"/>
              </a:rPr>
              <a:t>ach</a:t>
            </a: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Arial Black"/>
                <a:cs typeface="Arial Black"/>
              </a:rPr>
              <a:t>Adaptability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360" y="5909843"/>
            <a:ext cx="1372235" cy="35439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200" spc="-70" dirty="0">
                <a:latin typeface="Arial Black"/>
                <a:cs typeface="Arial Black"/>
              </a:rPr>
              <a:t>Technology/Focus</a:t>
            </a: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200">
              <a:latin typeface="Arial Black"/>
              <a:cs typeface="Arial Black"/>
            </a:endParaRPr>
          </a:p>
          <a:p>
            <a:pPr marR="20320" algn="just">
              <a:lnSpc>
                <a:spcPct val="96400"/>
              </a:lnSpc>
            </a:pPr>
            <a:r>
              <a:rPr sz="1200" spc="-200" dirty="0">
                <a:latin typeface="Arial Black"/>
                <a:cs typeface="Arial Black"/>
              </a:rPr>
              <a:t>AI</a:t>
            </a:r>
            <a:r>
              <a:rPr sz="1200" spc="100" dirty="0">
                <a:latin typeface="Arial Black"/>
                <a:cs typeface="Arial Black"/>
              </a:rPr>
              <a:t> </a:t>
            </a:r>
            <a:r>
              <a:rPr sz="1200" spc="-40" dirty="0">
                <a:latin typeface="Arial Black"/>
                <a:cs typeface="Arial Black"/>
              </a:rPr>
              <a:t>(Convolutional </a:t>
            </a:r>
            <a:r>
              <a:rPr sz="1200" spc="-90" dirty="0">
                <a:latin typeface="Arial Black"/>
                <a:cs typeface="Arial Black"/>
              </a:rPr>
              <a:t>Neural</a:t>
            </a:r>
            <a:r>
              <a:rPr sz="1200" spc="40" dirty="0">
                <a:latin typeface="Arial Black"/>
                <a:cs typeface="Arial Black"/>
              </a:rPr>
              <a:t> </a:t>
            </a:r>
            <a:r>
              <a:rPr sz="1200" spc="-125" dirty="0">
                <a:latin typeface="Arial Black"/>
                <a:cs typeface="Arial Black"/>
              </a:rPr>
              <a:t>Networks</a:t>
            </a:r>
            <a:r>
              <a:rPr sz="1200" spc="40" dirty="0">
                <a:latin typeface="Arial Black"/>
                <a:cs typeface="Arial Black"/>
              </a:rPr>
              <a:t> </a:t>
            </a:r>
            <a:r>
              <a:rPr sz="1200" spc="10" dirty="0">
                <a:latin typeface="Arial Black"/>
                <a:cs typeface="Arial Black"/>
              </a:rPr>
              <a:t>- </a:t>
            </a:r>
            <a:r>
              <a:rPr sz="1200" spc="-10" dirty="0">
                <a:latin typeface="Arial Black"/>
                <a:cs typeface="Arial Black"/>
              </a:rPr>
              <a:t>CNNs)</a:t>
            </a: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200">
              <a:latin typeface="Arial Black"/>
              <a:cs typeface="Arial Black"/>
            </a:endParaRPr>
          </a:p>
          <a:p>
            <a:pPr marR="238760">
              <a:lnSpc>
                <a:spcPts val="1430"/>
              </a:lnSpc>
            </a:pPr>
            <a:r>
              <a:rPr sz="1200" spc="-100" dirty="0">
                <a:latin typeface="Arial Black"/>
                <a:cs typeface="Arial Black"/>
              </a:rPr>
              <a:t>IoT</a:t>
            </a:r>
            <a:r>
              <a:rPr sz="1200" spc="-105" dirty="0">
                <a:latin typeface="Arial Black"/>
                <a:cs typeface="Arial Black"/>
              </a:rPr>
              <a:t> </a:t>
            </a:r>
            <a:r>
              <a:rPr sz="1200" spc="-60" dirty="0">
                <a:latin typeface="Arial Black"/>
                <a:cs typeface="Arial Black"/>
              </a:rPr>
              <a:t>(Ultrasonic </a:t>
            </a:r>
            <a:r>
              <a:rPr sz="1200" spc="-105" dirty="0">
                <a:latin typeface="Arial Black"/>
                <a:cs typeface="Arial Black"/>
              </a:rPr>
              <a:t>Sensors</a:t>
            </a:r>
            <a:r>
              <a:rPr sz="1200" spc="-90" dirty="0">
                <a:latin typeface="Arial Black"/>
                <a:cs typeface="Arial Black"/>
              </a:rPr>
              <a:t> </a:t>
            </a:r>
            <a:r>
              <a:rPr sz="1200" spc="-270" dirty="0">
                <a:latin typeface="Arial Black"/>
                <a:cs typeface="Arial Black"/>
              </a:rPr>
              <a:t>&amp;</a:t>
            </a:r>
            <a:r>
              <a:rPr sz="1200" spc="-90" dirty="0">
                <a:latin typeface="Arial Black"/>
                <a:cs typeface="Arial Black"/>
              </a:rPr>
              <a:t> </a:t>
            </a:r>
            <a:r>
              <a:rPr sz="1200" spc="-85" dirty="0">
                <a:latin typeface="Arial Black"/>
                <a:cs typeface="Arial Black"/>
              </a:rPr>
              <a:t>GPS)</a:t>
            </a: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200">
              <a:latin typeface="Arial Black"/>
              <a:cs typeface="Arial Black"/>
            </a:endParaRPr>
          </a:p>
          <a:p>
            <a:pPr algn="just">
              <a:lnSpc>
                <a:spcPct val="100000"/>
              </a:lnSpc>
            </a:pPr>
            <a:r>
              <a:rPr sz="1200" spc="-135" dirty="0">
                <a:latin typeface="Arial Black"/>
                <a:cs typeface="Arial Black"/>
              </a:rPr>
              <a:t>SERC</a:t>
            </a:r>
            <a:r>
              <a:rPr sz="1200" spc="-100" dirty="0">
                <a:latin typeface="Arial Black"/>
                <a:cs typeface="Arial Black"/>
              </a:rPr>
              <a:t> </a:t>
            </a:r>
            <a:r>
              <a:rPr sz="1200" spc="-10" dirty="0">
                <a:latin typeface="Arial Black"/>
                <a:cs typeface="Arial Black"/>
              </a:rPr>
              <a:t>Framework</a:t>
            </a: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200">
              <a:latin typeface="Arial Black"/>
              <a:cs typeface="Arial Black"/>
            </a:endParaRPr>
          </a:p>
          <a:p>
            <a:pPr marR="154940">
              <a:lnSpc>
                <a:spcPts val="1430"/>
              </a:lnSpc>
            </a:pPr>
            <a:r>
              <a:rPr sz="1200" spc="-85" dirty="0">
                <a:latin typeface="Arial Black"/>
                <a:cs typeface="Arial Black"/>
              </a:rPr>
              <a:t>Compliance</a:t>
            </a:r>
            <a:r>
              <a:rPr sz="1200" spc="-65" dirty="0">
                <a:latin typeface="Arial Black"/>
                <a:cs typeface="Arial Black"/>
              </a:rPr>
              <a:t> </a:t>
            </a:r>
            <a:r>
              <a:rPr sz="1200" spc="-55" dirty="0">
                <a:latin typeface="Arial Black"/>
                <a:cs typeface="Arial Black"/>
              </a:rPr>
              <a:t>and </a:t>
            </a:r>
            <a:r>
              <a:rPr sz="1200" spc="-10" dirty="0">
                <a:latin typeface="Arial Black"/>
                <a:cs typeface="Arial Black"/>
              </a:rPr>
              <a:t>Localization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2206" y="5824085"/>
            <a:ext cx="1339850" cy="373951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R="43815">
              <a:lnSpc>
                <a:spcPts val="1430"/>
              </a:lnSpc>
              <a:spcBef>
                <a:spcPts val="140"/>
              </a:spcBef>
            </a:pPr>
            <a:r>
              <a:rPr sz="1200" spc="-25" dirty="0">
                <a:latin typeface="Arial Black"/>
                <a:cs typeface="Arial Black"/>
              </a:rPr>
              <a:t>Key </a:t>
            </a:r>
            <a:r>
              <a:rPr sz="1200" spc="-70" dirty="0">
                <a:latin typeface="Arial Black"/>
                <a:cs typeface="Arial Black"/>
              </a:rPr>
              <a:t>Findings/Context</a:t>
            </a: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Arial Black"/>
              <a:cs typeface="Arial Black"/>
            </a:endParaRPr>
          </a:p>
          <a:p>
            <a:pPr marR="33020">
              <a:lnSpc>
                <a:spcPct val="95500"/>
              </a:lnSpc>
            </a:pPr>
            <a:r>
              <a:rPr sz="1200" spc="-10" dirty="0">
                <a:latin typeface="Verdana"/>
                <a:cs typeface="Verdana"/>
              </a:rPr>
              <a:t>CNNs</a:t>
            </a:r>
            <a:r>
              <a:rPr sz="1200" spc="-114" dirty="0">
                <a:latin typeface="Verdana"/>
                <a:cs typeface="Verdana"/>
              </a:rPr>
              <a:t> </a:t>
            </a:r>
            <a:r>
              <a:rPr sz="1200" spc="-45" dirty="0">
                <a:latin typeface="Verdana"/>
                <a:cs typeface="Verdana"/>
              </a:rPr>
              <a:t>have</a:t>
            </a:r>
            <a:r>
              <a:rPr sz="1200" spc="-110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been </a:t>
            </a:r>
            <a:r>
              <a:rPr sz="1200" spc="-10" dirty="0">
                <a:latin typeface="Verdana"/>
                <a:cs typeface="Verdana"/>
              </a:rPr>
              <a:t>successfully</a:t>
            </a:r>
            <a:r>
              <a:rPr sz="1200" spc="-12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used </a:t>
            </a:r>
            <a:r>
              <a:rPr sz="1200" dirty="0">
                <a:latin typeface="Verdana"/>
                <a:cs typeface="Verdana"/>
              </a:rPr>
              <a:t>for</a:t>
            </a:r>
            <a:r>
              <a:rPr sz="1200" spc="-1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waste classification.</a:t>
            </a:r>
            <a:endParaRPr sz="1200">
              <a:latin typeface="Verdana"/>
              <a:cs typeface="Verdana"/>
            </a:endParaRPr>
          </a:p>
          <a:p>
            <a:pPr marR="24765">
              <a:lnSpc>
                <a:spcPct val="95500"/>
              </a:lnSpc>
              <a:spcBef>
                <a:spcPts val="875"/>
              </a:spcBef>
            </a:pPr>
            <a:r>
              <a:rPr sz="1200" spc="-10" dirty="0">
                <a:latin typeface="Verdana"/>
                <a:cs typeface="Verdana"/>
              </a:rPr>
              <a:t>Focused</a:t>
            </a:r>
            <a:r>
              <a:rPr sz="1200" spc="-114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on </a:t>
            </a:r>
            <a:r>
              <a:rPr sz="1200" spc="-30" dirty="0">
                <a:latin typeface="Verdana"/>
                <a:cs typeface="Verdana"/>
              </a:rPr>
              <a:t>monitoring</a:t>
            </a:r>
            <a:r>
              <a:rPr sz="1200" spc="-9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bin</a:t>
            </a:r>
            <a:r>
              <a:rPr sz="1200" spc="-90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fill </a:t>
            </a:r>
            <a:r>
              <a:rPr sz="1200" spc="-15" dirty="0">
                <a:latin typeface="Verdana"/>
                <a:cs typeface="Verdana"/>
              </a:rPr>
              <a:t>levels</a:t>
            </a:r>
            <a:r>
              <a:rPr sz="1200" spc="-13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and </a:t>
            </a:r>
            <a:r>
              <a:rPr sz="1200" spc="-35" dirty="0">
                <a:latin typeface="Verdana"/>
                <a:cs typeface="Verdana"/>
              </a:rPr>
              <a:t>improving</a:t>
            </a:r>
            <a:r>
              <a:rPr sz="1200" spc="-60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waste</a:t>
            </a:r>
            <a:endParaRPr sz="1200">
              <a:latin typeface="Verdana"/>
              <a:cs typeface="Verdana"/>
            </a:endParaRPr>
          </a:p>
          <a:p>
            <a:pPr marR="65405">
              <a:lnSpc>
                <a:spcPts val="1130"/>
              </a:lnSpc>
              <a:spcBef>
                <a:spcPts val="910"/>
              </a:spcBef>
            </a:pPr>
            <a:r>
              <a:rPr sz="1000" spc="-10" dirty="0">
                <a:latin typeface="Verdana"/>
                <a:cs typeface="Verdana"/>
              </a:rPr>
              <a:t>Proposed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linking: </a:t>
            </a:r>
            <a:r>
              <a:rPr sz="1000" spc="-95" dirty="0">
                <a:latin typeface="Arial Black"/>
                <a:cs typeface="Arial Black"/>
              </a:rPr>
              <a:t>Image</a:t>
            </a:r>
            <a:r>
              <a:rPr sz="1000" spc="-70" dirty="0">
                <a:latin typeface="Arial Black"/>
                <a:cs typeface="Arial Black"/>
              </a:rPr>
              <a:t> </a:t>
            </a:r>
            <a:r>
              <a:rPr sz="1000" spc="-45" dirty="0">
                <a:latin typeface="Arial Black"/>
                <a:cs typeface="Arial Black"/>
              </a:rPr>
              <a:t>input</a:t>
            </a:r>
            <a:r>
              <a:rPr sz="1000" spc="-70" dirty="0">
                <a:latin typeface="Arial Black"/>
                <a:cs typeface="Arial Black"/>
              </a:rPr>
              <a:t> </a:t>
            </a:r>
            <a:r>
              <a:rPr sz="1000" spc="-50" dirty="0">
                <a:latin typeface="Arial Black"/>
                <a:cs typeface="Arial Black"/>
              </a:rPr>
              <a:t>(I)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25" dirty="0">
                <a:latin typeface="Verdana"/>
                <a:cs typeface="Verdana"/>
              </a:rPr>
              <a:t>$\to$ </a:t>
            </a:r>
            <a:r>
              <a:rPr sz="1000" spc="-70" dirty="0">
                <a:latin typeface="Arial Black"/>
                <a:cs typeface="Arial Black"/>
              </a:rPr>
              <a:t>Detected</a:t>
            </a:r>
            <a:r>
              <a:rPr sz="1000" spc="-35" dirty="0">
                <a:latin typeface="Arial Black"/>
                <a:cs typeface="Arial Black"/>
              </a:rPr>
              <a:t> </a:t>
            </a:r>
            <a:r>
              <a:rPr sz="1000" spc="-70" dirty="0">
                <a:latin typeface="Arial Black"/>
                <a:cs typeface="Arial Black"/>
              </a:rPr>
              <a:t>categories</a:t>
            </a:r>
            <a:endParaRPr sz="1000">
              <a:latin typeface="Arial Black"/>
              <a:cs typeface="Arial Black"/>
            </a:endParaRPr>
          </a:p>
          <a:p>
            <a:pPr>
              <a:lnSpc>
                <a:spcPts val="1055"/>
              </a:lnSpc>
            </a:pPr>
            <a:r>
              <a:rPr sz="1000" spc="-40" dirty="0">
                <a:latin typeface="Arial Black"/>
                <a:cs typeface="Arial Black"/>
              </a:rPr>
              <a:t>(D)</a:t>
            </a:r>
            <a:r>
              <a:rPr sz="1000" spc="-65" dirty="0">
                <a:latin typeface="Arial Black"/>
                <a:cs typeface="Arial Black"/>
              </a:rPr>
              <a:t> </a:t>
            </a:r>
            <a:r>
              <a:rPr sz="1000" spc="-10" dirty="0">
                <a:latin typeface="Verdana"/>
                <a:cs typeface="Verdana"/>
              </a:rPr>
              <a:t>$\to$</a:t>
            </a:r>
            <a:r>
              <a:rPr sz="1000" spc="-10" dirty="0">
                <a:latin typeface="Arial Black"/>
                <a:cs typeface="Arial Black"/>
              </a:rPr>
              <a:t>Regulatory</a:t>
            </a:r>
            <a:endParaRPr sz="1000">
              <a:latin typeface="Arial Black"/>
              <a:cs typeface="Arial Black"/>
            </a:endParaRPr>
          </a:p>
          <a:p>
            <a:pPr>
              <a:lnSpc>
                <a:spcPts val="1165"/>
              </a:lnSpc>
            </a:pPr>
            <a:r>
              <a:rPr sz="1000" spc="-70" dirty="0">
                <a:latin typeface="Arial Black"/>
                <a:cs typeface="Arial Black"/>
              </a:rPr>
              <a:t>rules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80" dirty="0">
                <a:latin typeface="Arial Black"/>
                <a:cs typeface="Arial Black"/>
              </a:rPr>
              <a:t>(R)</a:t>
            </a:r>
            <a:r>
              <a:rPr sz="1000" spc="-80" dirty="0">
                <a:latin typeface="Verdana"/>
                <a:cs typeface="Verdana"/>
              </a:rPr>
              <a:t>,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mapped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to</a:t>
            </a:r>
            <a:endParaRPr sz="1000">
              <a:latin typeface="Verdana"/>
              <a:cs typeface="Verdana"/>
            </a:endParaRPr>
          </a:p>
          <a:p>
            <a:pPr>
              <a:lnSpc>
                <a:spcPts val="1130"/>
              </a:lnSpc>
              <a:spcBef>
                <a:spcPts val="1150"/>
              </a:spcBef>
            </a:pPr>
            <a:r>
              <a:rPr sz="1000" spc="-55" dirty="0">
                <a:latin typeface="Arial Black"/>
                <a:cs typeface="Arial Black"/>
              </a:rPr>
              <a:t>Interpretability</a:t>
            </a:r>
            <a:r>
              <a:rPr sz="1000" dirty="0">
                <a:latin typeface="Arial Black"/>
                <a:cs typeface="Arial Black"/>
              </a:rPr>
              <a:t> </a:t>
            </a:r>
            <a:r>
              <a:rPr sz="1000" spc="-25" dirty="0">
                <a:latin typeface="Verdana"/>
                <a:cs typeface="Verdana"/>
              </a:rPr>
              <a:t>and </a:t>
            </a:r>
            <a:r>
              <a:rPr sz="1000" spc="-70" dirty="0">
                <a:latin typeface="Arial Black"/>
                <a:cs typeface="Arial Black"/>
              </a:rPr>
              <a:t>localized</a:t>
            </a:r>
            <a:r>
              <a:rPr sz="1000" spc="-30" dirty="0">
                <a:latin typeface="Arial Black"/>
                <a:cs typeface="Arial Black"/>
              </a:rPr>
              <a:t> </a:t>
            </a:r>
            <a:r>
              <a:rPr sz="1000" spc="-55" dirty="0">
                <a:latin typeface="Arial Black"/>
                <a:cs typeface="Arial Black"/>
              </a:rPr>
              <a:t>adaptability </a:t>
            </a:r>
            <a:r>
              <a:rPr sz="1000" spc="-40" dirty="0">
                <a:latin typeface="Verdana"/>
                <a:cs typeface="Verdana"/>
              </a:rPr>
              <a:t>are</a:t>
            </a:r>
            <a:r>
              <a:rPr sz="1000" spc="-9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crucial</a:t>
            </a:r>
            <a:r>
              <a:rPr sz="1000" spc="-95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for </a:t>
            </a:r>
            <a:r>
              <a:rPr sz="1000" spc="-10" dirty="0">
                <a:latin typeface="Verdana"/>
                <a:cs typeface="Verdana"/>
              </a:rPr>
              <a:t>deployment.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2053" y="5738328"/>
            <a:ext cx="1372235" cy="39058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375285">
              <a:lnSpc>
                <a:spcPct val="96400"/>
              </a:lnSpc>
              <a:spcBef>
                <a:spcPts val="135"/>
              </a:spcBef>
            </a:pPr>
            <a:r>
              <a:rPr sz="1200" spc="-85" dirty="0">
                <a:latin typeface="Arial Black"/>
                <a:cs typeface="Arial Black"/>
              </a:rPr>
              <a:t>Unaddressed </a:t>
            </a:r>
            <a:r>
              <a:rPr sz="1200" spc="-25" dirty="0">
                <a:latin typeface="Arial Black"/>
                <a:cs typeface="Arial Black"/>
              </a:rPr>
              <a:t>Gaps/Future </a:t>
            </a:r>
            <a:r>
              <a:rPr sz="1200" spc="-10" dirty="0">
                <a:latin typeface="Arial Black"/>
                <a:cs typeface="Arial Black"/>
              </a:rPr>
              <a:t>Direction</a:t>
            </a: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 Black"/>
              <a:cs typeface="Arial Black"/>
            </a:endParaRPr>
          </a:p>
          <a:p>
            <a:pPr marR="72390">
              <a:lnSpc>
                <a:spcPts val="1130"/>
              </a:lnSpc>
            </a:pPr>
            <a:r>
              <a:rPr sz="1000" spc="-70" dirty="0">
                <a:latin typeface="Arial Black"/>
                <a:cs typeface="Arial Black"/>
              </a:rPr>
              <a:t>Efficiency</a:t>
            </a:r>
            <a:r>
              <a:rPr sz="1000" spc="-20" dirty="0">
                <a:latin typeface="Arial Black"/>
                <a:cs typeface="Arial Black"/>
              </a:rPr>
              <a:t> </a:t>
            </a:r>
            <a:r>
              <a:rPr sz="1000" spc="-25" dirty="0">
                <a:latin typeface="Verdana"/>
                <a:cs typeface="Verdana"/>
              </a:rPr>
              <a:t>for </a:t>
            </a:r>
            <a:r>
              <a:rPr sz="1000" spc="-30" dirty="0">
                <a:latin typeface="Verdana"/>
                <a:cs typeface="Verdana"/>
              </a:rPr>
              <a:t>lightweight</a:t>
            </a:r>
            <a:r>
              <a:rPr sz="1000" spc="-5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web </a:t>
            </a:r>
            <a:r>
              <a:rPr sz="1000" spc="-20" dirty="0">
                <a:latin typeface="Verdana"/>
                <a:cs typeface="Verdana"/>
              </a:rPr>
              <a:t>applications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requires </a:t>
            </a:r>
            <a:r>
              <a:rPr sz="1000" spc="-30" dirty="0">
                <a:latin typeface="Verdana"/>
                <a:cs typeface="Verdana"/>
              </a:rPr>
              <a:t>optimization,</a:t>
            </a:r>
            <a:r>
              <a:rPr sz="1000" spc="-4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guiding </a:t>
            </a:r>
            <a:r>
              <a:rPr sz="1000" spc="-25" dirty="0">
                <a:latin typeface="Verdana"/>
                <a:cs typeface="Verdana"/>
              </a:rPr>
              <a:t>the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need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for</a:t>
            </a:r>
            <a:endParaRPr sz="1000">
              <a:latin typeface="Verdana"/>
              <a:cs typeface="Verdana"/>
            </a:endParaRPr>
          </a:p>
          <a:p>
            <a:pPr>
              <a:lnSpc>
                <a:spcPts val="1130"/>
              </a:lnSpc>
              <a:spcBef>
                <a:spcPts val="1105"/>
              </a:spcBef>
            </a:pPr>
            <a:r>
              <a:rPr sz="1000" spc="-70" dirty="0">
                <a:latin typeface="Arial Black"/>
                <a:cs typeface="Arial Black"/>
              </a:rPr>
              <a:t>Material</a:t>
            </a:r>
            <a:r>
              <a:rPr sz="1000" spc="-35" dirty="0">
                <a:latin typeface="Arial Black"/>
                <a:cs typeface="Arial Black"/>
              </a:rPr>
              <a:t> </a:t>
            </a:r>
            <a:r>
              <a:rPr sz="1000" spc="-70" dirty="0">
                <a:latin typeface="Arial Black"/>
                <a:cs typeface="Arial Black"/>
              </a:rPr>
              <a:t>classification </a:t>
            </a:r>
            <a:r>
              <a:rPr sz="1000" spc="-50" dirty="0">
                <a:latin typeface="Verdana"/>
                <a:cs typeface="Verdana"/>
              </a:rPr>
              <a:t>was</a:t>
            </a:r>
            <a:r>
              <a:rPr sz="1000" spc="-8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not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solved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by </a:t>
            </a:r>
            <a:r>
              <a:rPr sz="1000" spc="-30" dirty="0">
                <a:latin typeface="Verdana"/>
                <a:cs typeface="Verdana"/>
              </a:rPr>
              <a:t>these</a:t>
            </a:r>
            <a:r>
              <a:rPr sz="1000" spc="-8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monitoring studies.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95500"/>
              </a:lnSpc>
              <a:spcBef>
                <a:spcPts val="5"/>
              </a:spcBef>
            </a:pPr>
            <a:r>
              <a:rPr sz="1200" spc="-45" dirty="0">
                <a:latin typeface="Verdana"/>
                <a:cs typeface="Verdana"/>
              </a:rPr>
              <a:t>N/A</a:t>
            </a:r>
            <a:r>
              <a:rPr sz="1200" spc="-105" dirty="0">
                <a:latin typeface="Verdana"/>
                <a:cs typeface="Verdana"/>
              </a:rPr>
              <a:t> </a:t>
            </a:r>
            <a:r>
              <a:rPr sz="1200" spc="-65" dirty="0">
                <a:latin typeface="Verdana"/>
                <a:cs typeface="Verdana"/>
              </a:rPr>
              <a:t>(This</a:t>
            </a:r>
            <a:r>
              <a:rPr sz="1200" spc="-100" dirty="0">
                <a:latin typeface="Verdana"/>
                <a:cs typeface="Verdana"/>
              </a:rPr>
              <a:t> </a:t>
            </a:r>
            <a:r>
              <a:rPr sz="1200" spc="-30" dirty="0">
                <a:latin typeface="Verdana"/>
                <a:cs typeface="Verdana"/>
              </a:rPr>
              <a:t>is</a:t>
            </a:r>
            <a:r>
              <a:rPr sz="1200" spc="-100" dirty="0">
                <a:latin typeface="Verdana"/>
                <a:cs typeface="Verdana"/>
              </a:rPr>
              <a:t> </a:t>
            </a:r>
            <a:r>
              <a:rPr sz="1200" spc="-50" dirty="0">
                <a:latin typeface="Verdana"/>
                <a:cs typeface="Verdana"/>
              </a:rPr>
              <a:t>a </a:t>
            </a:r>
            <a:r>
              <a:rPr sz="1200" spc="-10" dirty="0">
                <a:latin typeface="Verdana"/>
                <a:cs typeface="Verdana"/>
              </a:rPr>
              <a:t>proposed </a:t>
            </a:r>
            <a:r>
              <a:rPr sz="1200" spc="-25" dirty="0">
                <a:latin typeface="Verdana"/>
                <a:cs typeface="Verdana"/>
              </a:rPr>
              <a:t>solution/framewor k).</a:t>
            </a:r>
            <a:endParaRPr sz="1200">
              <a:latin typeface="Verdana"/>
              <a:cs typeface="Verdana"/>
            </a:endParaRPr>
          </a:p>
          <a:p>
            <a:pPr marR="139700">
              <a:lnSpc>
                <a:spcPct val="95500"/>
              </a:lnSpc>
              <a:spcBef>
                <a:spcPts val="875"/>
              </a:spcBef>
            </a:pPr>
            <a:r>
              <a:rPr sz="1200" spc="-40" dirty="0">
                <a:latin typeface="Verdana"/>
                <a:cs typeface="Verdana"/>
              </a:rPr>
              <a:t>The</a:t>
            </a:r>
            <a:r>
              <a:rPr sz="1200" spc="-1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proposed </a:t>
            </a:r>
            <a:r>
              <a:rPr sz="1200" spc="-20" dirty="0">
                <a:latin typeface="Verdana"/>
                <a:cs typeface="Verdana"/>
              </a:rPr>
              <a:t>approach</a:t>
            </a:r>
            <a:r>
              <a:rPr sz="1200" spc="-6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must </a:t>
            </a:r>
            <a:r>
              <a:rPr sz="1200" spc="-60" dirty="0">
                <a:latin typeface="Verdana"/>
                <a:cs typeface="Verdana"/>
              </a:rPr>
              <a:t>merge</a:t>
            </a:r>
            <a:r>
              <a:rPr sz="1200" spc="-8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computer </a:t>
            </a:r>
            <a:r>
              <a:rPr sz="1200" spc="-40" dirty="0">
                <a:latin typeface="Verdana"/>
                <a:cs typeface="Verdana"/>
              </a:rPr>
              <a:t>vision,</a:t>
            </a:r>
            <a:r>
              <a:rPr sz="1200" spc="-8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cloud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51543" y="5610966"/>
            <a:ext cx="6249035" cy="4060190"/>
            <a:chOff x="751543" y="5610966"/>
            <a:chExt cx="6249035" cy="4060190"/>
          </a:xfrm>
        </p:grpSpPr>
        <p:sp>
          <p:nvSpPr>
            <p:cNvPr id="7" name="object 7"/>
            <p:cNvSpPr/>
            <p:nvPr/>
          </p:nvSpPr>
          <p:spPr>
            <a:xfrm>
              <a:off x="756297" y="5620498"/>
              <a:ext cx="6239510" cy="4041140"/>
            </a:xfrm>
            <a:custGeom>
              <a:avLst/>
              <a:gdLst/>
              <a:ahLst/>
              <a:cxnLst/>
              <a:rect l="l" t="t" r="r" b="b"/>
              <a:pathLst>
                <a:path w="6239509" h="4041140">
                  <a:moveTo>
                    <a:pt x="6239243" y="0"/>
                  </a:moveTo>
                  <a:lnTo>
                    <a:pt x="4679442" y="0"/>
                  </a:lnTo>
                  <a:lnTo>
                    <a:pt x="3119628" y="0"/>
                  </a:lnTo>
                  <a:lnTo>
                    <a:pt x="1559814" y="0"/>
                  </a:lnTo>
                  <a:lnTo>
                    <a:pt x="0" y="0"/>
                  </a:lnTo>
                  <a:lnTo>
                    <a:pt x="0" y="4040873"/>
                  </a:lnTo>
                  <a:lnTo>
                    <a:pt x="1559814" y="4040873"/>
                  </a:lnTo>
                  <a:lnTo>
                    <a:pt x="3119628" y="4040873"/>
                  </a:lnTo>
                  <a:lnTo>
                    <a:pt x="4679442" y="4040873"/>
                  </a:lnTo>
                  <a:lnTo>
                    <a:pt x="6239243" y="4040873"/>
                  </a:lnTo>
                  <a:lnTo>
                    <a:pt x="62392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1543" y="5615730"/>
              <a:ext cx="6249035" cy="4050665"/>
            </a:xfrm>
            <a:custGeom>
              <a:avLst/>
              <a:gdLst/>
              <a:ahLst/>
              <a:cxnLst/>
              <a:rect l="l" t="t" r="r" b="b"/>
              <a:pathLst>
                <a:path w="6249034" h="4050665">
                  <a:moveTo>
                    <a:pt x="4764" y="4764"/>
                  </a:moveTo>
                  <a:lnTo>
                    <a:pt x="4764" y="4045631"/>
                  </a:lnTo>
                </a:path>
                <a:path w="6249034" h="4050665">
                  <a:moveTo>
                    <a:pt x="1564575" y="4764"/>
                  </a:moveTo>
                  <a:lnTo>
                    <a:pt x="1564575" y="4045631"/>
                  </a:lnTo>
                </a:path>
                <a:path w="6249034" h="4050665">
                  <a:moveTo>
                    <a:pt x="3124386" y="4764"/>
                  </a:moveTo>
                  <a:lnTo>
                    <a:pt x="3124386" y="4045631"/>
                  </a:lnTo>
                </a:path>
                <a:path w="6249034" h="4050665">
                  <a:moveTo>
                    <a:pt x="4684198" y="4764"/>
                  </a:moveTo>
                  <a:lnTo>
                    <a:pt x="4684198" y="4045631"/>
                  </a:lnTo>
                </a:path>
                <a:path w="6249034" h="4050665">
                  <a:moveTo>
                    <a:pt x="6244009" y="4764"/>
                  </a:moveTo>
                  <a:lnTo>
                    <a:pt x="6244009" y="4045631"/>
                  </a:lnTo>
                </a:path>
                <a:path w="6249034" h="4050665">
                  <a:moveTo>
                    <a:pt x="0" y="0"/>
                  </a:moveTo>
                  <a:lnTo>
                    <a:pt x="6248773" y="0"/>
                  </a:lnTo>
                </a:path>
                <a:path w="6249034" h="4050665">
                  <a:moveTo>
                    <a:pt x="0" y="810079"/>
                  </a:moveTo>
                  <a:lnTo>
                    <a:pt x="6248773" y="810079"/>
                  </a:lnTo>
                </a:path>
                <a:path w="6249034" h="4050665">
                  <a:moveTo>
                    <a:pt x="0" y="1620158"/>
                  </a:moveTo>
                  <a:lnTo>
                    <a:pt x="6248773" y="1620158"/>
                  </a:lnTo>
                </a:path>
                <a:path w="6249034" h="4050665">
                  <a:moveTo>
                    <a:pt x="0" y="2430237"/>
                  </a:moveTo>
                  <a:lnTo>
                    <a:pt x="6248773" y="2430237"/>
                  </a:lnTo>
                </a:path>
                <a:path w="6249034" h="4050665">
                  <a:moveTo>
                    <a:pt x="0" y="3240316"/>
                  </a:moveTo>
                  <a:lnTo>
                    <a:pt x="6248773" y="3240316"/>
                  </a:lnTo>
                </a:path>
                <a:path w="6249034" h="4050665">
                  <a:moveTo>
                    <a:pt x="0" y="4050395"/>
                  </a:moveTo>
                  <a:lnTo>
                    <a:pt x="6248773" y="4050395"/>
                  </a:lnTo>
                </a:path>
              </a:pathLst>
            </a:custGeom>
            <a:ln w="9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98850" y="831847"/>
            <a:ext cx="5925185" cy="4507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6790">
              <a:lnSpc>
                <a:spcPct val="100000"/>
              </a:lnSpc>
              <a:spcBef>
                <a:spcPts val="100"/>
              </a:spcBef>
              <a:tabLst>
                <a:tab pos="2529840" algn="l"/>
              </a:tabLst>
            </a:pPr>
            <a:r>
              <a:rPr sz="1400" b="1" spc="-50" dirty="0">
                <a:latin typeface="Times New Roman"/>
                <a:cs typeface="Times New Roman"/>
              </a:rPr>
              <a:t>3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b="1" spc="-10" dirty="0">
                <a:latin typeface="Times New Roman"/>
                <a:cs typeface="Times New Roman"/>
              </a:rPr>
              <a:t>INTRODUCTION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400">
              <a:latin typeface="Times New Roman"/>
              <a:cs typeface="Times New Roman"/>
            </a:endParaRPr>
          </a:p>
          <a:p>
            <a:pPr marL="455930" lvl="1" indent="-341630">
              <a:lnSpc>
                <a:spcPct val="100000"/>
              </a:lnSpc>
              <a:buAutoNum type="arabicPeriod"/>
              <a:tabLst>
                <a:tab pos="455930" algn="l"/>
              </a:tabLst>
            </a:pP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Idea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12500"/>
              </a:lnSpc>
              <a:spcBef>
                <a:spcPts val="875"/>
              </a:spcBef>
            </a:pPr>
            <a:r>
              <a:rPr sz="1000" i="1" dirty="0">
                <a:latin typeface="Times New Roman"/>
                <a:cs typeface="Times New Roman"/>
              </a:rPr>
              <a:t>The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core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idea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is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20" dirty="0">
                <a:latin typeface="Times New Roman"/>
                <a:cs typeface="Times New Roman"/>
              </a:rPr>
              <a:t>Waste </a:t>
            </a:r>
            <a:r>
              <a:rPr sz="1000" i="1" dirty="0">
                <a:latin typeface="Times New Roman"/>
                <a:cs typeface="Times New Roman"/>
              </a:rPr>
              <a:t>Mitra,</a:t>
            </a:r>
            <a:r>
              <a:rPr sz="1000" i="1" spc="-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an</a:t>
            </a:r>
            <a:r>
              <a:rPr sz="1000" i="1" spc="-3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AI-powered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web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application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that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automates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waste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recognition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provides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users </a:t>
            </a:r>
            <a:r>
              <a:rPr sz="1000" i="1" dirty="0">
                <a:latin typeface="Times New Roman"/>
                <a:cs typeface="Times New Roman"/>
              </a:rPr>
              <a:t>with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precise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disposal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guidance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based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on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regional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environmental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policies.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Users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upload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waste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image,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which</a:t>
            </a:r>
            <a:r>
              <a:rPr sz="1000" i="1" spc="-25" dirty="0">
                <a:latin typeface="Times New Roman"/>
                <a:cs typeface="Times New Roman"/>
              </a:rPr>
              <a:t> is </a:t>
            </a:r>
            <a:r>
              <a:rPr sz="1000" i="1" dirty="0">
                <a:latin typeface="Times New Roman"/>
                <a:cs typeface="Times New Roman"/>
              </a:rPr>
              <a:t>analyzed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by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the</a:t>
            </a:r>
            <a:r>
              <a:rPr sz="1000" i="1" spc="-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AI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Classification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Engine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(Gemini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LLM)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to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classify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the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type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(organic,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recyclable,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electronic,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25" dirty="0">
                <a:latin typeface="Times New Roman"/>
                <a:cs typeface="Times New Roman"/>
              </a:rPr>
              <a:t>or </a:t>
            </a:r>
            <a:r>
              <a:rPr sz="1000" i="1" spc="-10" dirty="0">
                <a:latin typeface="Times New Roman"/>
                <a:cs typeface="Times New Roman"/>
              </a:rPr>
              <a:t>hazardous). </a:t>
            </a:r>
            <a:r>
              <a:rPr sz="1000" i="1" dirty="0">
                <a:latin typeface="Times New Roman"/>
                <a:cs typeface="Times New Roman"/>
              </a:rPr>
              <a:t>The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system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then</a:t>
            </a:r>
            <a:r>
              <a:rPr sz="1000" i="1" spc="-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links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this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classification</a:t>
            </a:r>
            <a:r>
              <a:rPr sz="1000" i="1" spc="-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to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state-</a:t>
            </a:r>
            <a:r>
              <a:rPr sz="1000" i="1" dirty="0">
                <a:latin typeface="Times New Roman"/>
                <a:cs typeface="Times New Roman"/>
              </a:rPr>
              <a:t>specific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regulations </a:t>
            </a:r>
            <a:r>
              <a:rPr sz="1000" i="1" dirty="0">
                <a:latin typeface="Times New Roman"/>
                <a:cs typeface="Times New Roman"/>
              </a:rPr>
              <a:t>to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recommend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proper </a:t>
            </a:r>
            <a:r>
              <a:rPr sz="1000" i="1" dirty="0">
                <a:latin typeface="Times New Roman"/>
                <a:cs typeface="Times New Roman"/>
              </a:rPr>
              <a:t>disposal</a:t>
            </a:r>
            <a:r>
              <a:rPr sz="1000" i="1" spc="-10" dirty="0">
                <a:latin typeface="Times New Roman"/>
                <a:cs typeface="Times New Roman"/>
              </a:rPr>
              <a:t> </a:t>
            </a:r>
            <a:r>
              <a:rPr sz="1000" i="1" spc="-25" dirty="0">
                <a:latin typeface="Times New Roman"/>
                <a:cs typeface="Times New Roman"/>
              </a:rPr>
              <a:t>or </a:t>
            </a:r>
            <a:r>
              <a:rPr sz="1000" i="1" spc="-10" dirty="0">
                <a:latin typeface="Times New Roman"/>
                <a:cs typeface="Times New Roman"/>
              </a:rPr>
              <a:t>recycling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methods.</a:t>
            </a:r>
            <a:r>
              <a:rPr sz="1000" i="1" spc="-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The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front-</a:t>
            </a:r>
            <a:r>
              <a:rPr sz="1000" i="1" dirty="0">
                <a:latin typeface="Times New Roman"/>
                <a:cs typeface="Times New Roman"/>
              </a:rPr>
              <a:t>end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uses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Django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Templates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pure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CSS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to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offer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20" dirty="0">
                <a:latin typeface="Times New Roman"/>
                <a:cs typeface="Times New Roman"/>
              </a:rPr>
              <a:t>user-</a:t>
            </a:r>
            <a:r>
              <a:rPr sz="1000" i="1" spc="-10" dirty="0">
                <a:latin typeface="Times New Roman"/>
                <a:cs typeface="Times New Roman"/>
              </a:rPr>
              <a:t>friendly, responsive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interface.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000">
              <a:latin typeface="Times New Roman"/>
              <a:cs typeface="Times New Roman"/>
            </a:endParaRPr>
          </a:p>
          <a:p>
            <a:pPr marL="342900" lvl="1" indent="-228600">
              <a:lnSpc>
                <a:spcPct val="100000"/>
              </a:lnSpc>
              <a:buAutoNum type="arabicPeriod" startAt="2"/>
              <a:tabLst>
                <a:tab pos="3429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Motivation</a:t>
            </a:r>
            <a:endParaRPr sz="1200">
              <a:latin typeface="Times New Roman"/>
              <a:cs typeface="Times New Roman"/>
            </a:endParaRPr>
          </a:p>
          <a:p>
            <a:pPr marL="58419" marR="10795">
              <a:lnSpc>
                <a:spcPct val="112500"/>
              </a:lnSpc>
              <a:spcBef>
                <a:spcPts val="825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motivation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stems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from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environmental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intensification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caused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improper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resource mismanagement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 the digital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age.</a:t>
            </a:r>
            <a:endParaRPr sz="1000">
              <a:latin typeface="Times New Roman"/>
              <a:cs typeface="Times New Roman"/>
            </a:endParaRPr>
          </a:p>
          <a:p>
            <a:pPr marL="58419" marR="10795">
              <a:lnSpc>
                <a:spcPct val="112500"/>
              </a:lnSpc>
              <a:spcBef>
                <a:spcPts val="5"/>
              </a:spcBef>
            </a:pPr>
            <a:r>
              <a:rPr sz="1000" dirty="0">
                <a:latin typeface="Times New Roman"/>
                <a:cs typeface="Times New Roman"/>
              </a:rPr>
              <a:t>Inefficient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Traditional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Systems: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Traditional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segregation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systems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rely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heavily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manual,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slow,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error-</a:t>
            </a:r>
            <a:r>
              <a:rPr sz="1000" spc="-10" dirty="0">
                <a:latin typeface="Times New Roman"/>
                <a:cs typeface="Times New Roman"/>
              </a:rPr>
              <a:t>prone classification.</a:t>
            </a:r>
            <a:endParaRPr sz="1000">
              <a:latin typeface="Times New Roman"/>
              <a:cs typeface="Times New Roman"/>
            </a:endParaRPr>
          </a:p>
          <a:p>
            <a:pPr marL="58419" marR="10795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Lack</a:t>
            </a:r>
            <a:r>
              <a:rPr sz="1000" spc="3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3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Compliance:</a:t>
            </a:r>
            <a:r>
              <a:rPr sz="1000" spc="3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Improper</a:t>
            </a:r>
            <a:r>
              <a:rPr sz="1000" spc="3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handling</a:t>
            </a:r>
            <a:r>
              <a:rPr sz="1000" spc="3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3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materials</a:t>
            </a:r>
            <a:r>
              <a:rPr sz="1000" spc="3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due</a:t>
            </a:r>
            <a:r>
              <a:rPr sz="1000" spc="3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3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lack</a:t>
            </a:r>
            <a:r>
              <a:rPr sz="1000" spc="3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3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awareness</a:t>
            </a:r>
            <a:r>
              <a:rPr sz="1000" spc="3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causes</a:t>
            </a:r>
            <a:r>
              <a:rPr sz="1000" spc="3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soil</a:t>
            </a:r>
            <a:r>
              <a:rPr sz="1000" spc="3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37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water contamination.</a:t>
            </a:r>
            <a:endParaRPr sz="1000">
              <a:latin typeface="Times New Roman"/>
              <a:cs typeface="Times New Roman"/>
            </a:endParaRPr>
          </a:p>
          <a:p>
            <a:pPr marL="58419" marR="10795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Technological</a:t>
            </a:r>
            <a:r>
              <a:rPr sz="1000" spc="3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Solution: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3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adoption</a:t>
            </a:r>
            <a:r>
              <a:rPr sz="1000" spc="3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AI</a:t>
            </a:r>
            <a:r>
              <a:rPr sz="1000" spc="3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3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automation</a:t>
            </a:r>
            <a:r>
              <a:rPr sz="1000" spc="3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presents</a:t>
            </a:r>
            <a:r>
              <a:rPr sz="1000" spc="3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3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promising</a:t>
            </a:r>
            <a:r>
              <a:rPr sz="1000" spc="3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solution</a:t>
            </a:r>
            <a:r>
              <a:rPr sz="1000" spc="3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3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precision, consistency,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adaptability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management.</a:t>
            </a:r>
            <a:endParaRPr sz="1000">
              <a:latin typeface="Times New Roman"/>
              <a:cs typeface="Times New Roman"/>
            </a:endParaRPr>
          </a:p>
          <a:p>
            <a:pPr marL="58419" marR="10795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Empowering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Citizens: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decentralizes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awareness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responsibility,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empowering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every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citizen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to </a:t>
            </a:r>
            <a:r>
              <a:rPr sz="1000" dirty="0">
                <a:latin typeface="Times New Roman"/>
                <a:cs typeface="Times New Roman"/>
              </a:rPr>
              <a:t>contribute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directly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sustainability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goals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000">
              <a:latin typeface="Times New Roman"/>
              <a:cs typeface="Times New Roman"/>
            </a:endParaRPr>
          </a:p>
          <a:p>
            <a:pPr marL="347980" lvl="1" indent="-278130">
              <a:lnSpc>
                <a:spcPct val="100000"/>
              </a:lnSpc>
              <a:buAutoNum type="arabicPeriod" startAt="3"/>
              <a:tabLst>
                <a:tab pos="347980" algn="l"/>
              </a:tabLst>
            </a:pPr>
            <a:r>
              <a:rPr sz="1200" b="1" dirty="0">
                <a:latin typeface="Times New Roman"/>
                <a:cs typeface="Times New Roman"/>
              </a:rPr>
              <a:t>Literature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Survey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12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3624" y="2024330"/>
            <a:ext cx="2089150" cy="4291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 Black"/>
                <a:cs typeface="Arial Black"/>
              </a:rPr>
              <a:t>Title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500">
              <a:latin typeface="Arial Black"/>
              <a:cs typeface="Arial Black"/>
            </a:endParaRPr>
          </a:p>
          <a:p>
            <a:pPr marR="154940" algn="just">
              <a:lnSpc>
                <a:spcPts val="1730"/>
              </a:lnSpc>
              <a:spcBef>
                <a:spcPts val="5"/>
              </a:spcBef>
            </a:pPr>
            <a:r>
              <a:rPr sz="1500" spc="-70" dirty="0">
                <a:latin typeface="Verdana"/>
                <a:cs typeface="Verdana"/>
              </a:rPr>
              <a:t>Waste</a:t>
            </a:r>
            <a:r>
              <a:rPr sz="1500" spc="-4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Classification </a:t>
            </a:r>
            <a:r>
              <a:rPr sz="1500" spc="-65" dirty="0">
                <a:latin typeface="Verdana"/>
                <a:cs typeface="Verdana"/>
              </a:rPr>
              <a:t>Using</a:t>
            </a:r>
            <a:r>
              <a:rPr sz="1500" spc="-4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Convolutional </a:t>
            </a:r>
            <a:r>
              <a:rPr sz="1500" spc="-25" dirty="0">
                <a:latin typeface="Verdana"/>
                <a:cs typeface="Verdana"/>
              </a:rPr>
              <a:t>Neural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Networks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spc="-40" dirty="0">
                <a:latin typeface="Verdana"/>
                <a:cs typeface="Verdana"/>
              </a:rPr>
              <a:t>104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500">
              <a:latin typeface="Verdana"/>
              <a:cs typeface="Verdana"/>
            </a:endParaRPr>
          </a:p>
          <a:p>
            <a:pPr marR="175260">
              <a:lnSpc>
                <a:spcPts val="1730"/>
              </a:lnSpc>
            </a:pPr>
            <a:r>
              <a:rPr sz="1500" spc="-30" dirty="0">
                <a:latin typeface="Verdana"/>
                <a:cs typeface="Verdana"/>
              </a:rPr>
              <a:t>A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spc="-45" dirty="0">
                <a:latin typeface="Verdana"/>
                <a:cs typeface="Verdana"/>
              </a:rPr>
              <a:t>Legal-</a:t>
            </a:r>
            <a:r>
              <a:rPr sz="1500" spc="-55" dirty="0">
                <a:latin typeface="Verdana"/>
                <a:cs typeface="Verdana"/>
              </a:rPr>
              <a:t>Aware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spc="-55" dirty="0">
                <a:latin typeface="Verdana"/>
                <a:cs typeface="Verdana"/>
              </a:rPr>
              <a:t>Smart Waste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Disposal </a:t>
            </a:r>
            <a:r>
              <a:rPr sz="1500" spc="-55" dirty="0">
                <a:latin typeface="Verdana"/>
                <a:cs typeface="Verdana"/>
              </a:rPr>
              <a:t>Framework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106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500">
              <a:latin typeface="Verdana"/>
              <a:cs typeface="Verdana"/>
            </a:endParaRPr>
          </a:p>
          <a:p>
            <a:pPr algn="just">
              <a:lnSpc>
                <a:spcPts val="1730"/>
              </a:lnSpc>
            </a:pPr>
            <a:r>
              <a:rPr sz="1500" spc="-25" dirty="0">
                <a:latin typeface="Verdana"/>
                <a:cs typeface="Verdana"/>
              </a:rPr>
              <a:t>Location-</a:t>
            </a:r>
            <a:r>
              <a:rPr sz="1500" spc="-30" dirty="0">
                <a:latin typeface="Verdana"/>
                <a:cs typeface="Verdana"/>
              </a:rPr>
              <a:t>Based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Waste </a:t>
            </a:r>
            <a:r>
              <a:rPr sz="1500" spc="-50" dirty="0">
                <a:latin typeface="Verdana"/>
                <a:cs typeface="Verdana"/>
              </a:rPr>
              <a:t>Management </a:t>
            </a:r>
            <a:r>
              <a:rPr sz="1500" spc="-20" dirty="0">
                <a:latin typeface="Verdana"/>
                <a:cs typeface="Verdana"/>
              </a:rPr>
              <a:t>Assistant </a:t>
            </a:r>
            <a:r>
              <a:rPr sz="1500" spc="-25" dirty="0">
                <a:latin typeface="Verdana"/>
                <a:cs typeface="Verdana"/>
              </a:rPr>
              <a:t>108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67413" y="2024330"/>
            <a:ext cx="2232025" cy="4291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 Black"/>
                <a:cs typeface="Arial Black"/>
              </a:rPr>
              <a:t>Description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500">
              <a:latin typeface="Arial Black"/>
              <a:cs typeface="Arial Black"/>
            </a:endParaRPr>
          </a:p>
          <a:p>
            <a:pPr marR="184150">
              <a:lnSpc>
                <a:spcPts val="1730"/>
              </a:lnSpc>
              <a:spcBef>
                <a:spcPts val="5"/>
              </a:spcBef>
            </a:pPr>
            <a:r>
              <a:rPr sz="1500" spc="-10" dirty="0">
                <a:latin typeface="Verdana"/>
                <a:cs typeface="Verdana"/>
              </a:rPr>
              <a:t>Used</a:t>
            </a:r>
            <a:r>
              <a:rPr sz="1500" spc="-15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CNN</a:t>
            </a:r>
            <a:r>
              <a:rPr sz="1500" spc="-15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but</a:t>
            </a:r>
            <a:r>
              <a:rPr sz="1500" spc="-14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needed </a:t>
            </a:r>
            <a:r>
              <a:rPr sz="1500" spc="-50" dirty="0">
                <a:latin typeface="Verdana"/>
                <a:cs typeface="Verdana"/>
              </a:rPr>
              <a:t>high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computational resources105.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500">
              <a:latin typeface="Verdana"/>
              <a:cs typeface="Verdana"/>
            </a:endParaRPr>
          </a:p>
          <a:p>
            <a:pPr marR="19050">
              <a:lnSpc>
                <a:spcPts val="1730"/>
              </a:lnSpc>
            </a:pPr>
            <a:r>
              <a:rPr sz="1500" spc="-55" dirty="0">
                <a:latin typeface="Verdana"/>
                <a:cs typeface="Verdana"/>
              </a:rPr>
              <a:t>Integrates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spc="-40" dirty="0">
                <a:latin typeface="Verdana"/>
                <a:cs typeface="Verdana"/>
              </a:rPr>
              <a:t>regional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legal </a:t>
            </a:r>
            <a:r>
              <a:rPr sz="1500" spc="-30" dirty="0">
                <a:latin typeface="Verdana"/>
                <a:cs typeface="Verdana"/>
              </a:rPr>
              <a:t>data</a:t>
            </a:r>
            <a:r>
              <a:rPr sz="1500" spc="-15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into</a:t>
            </a:r>
            <a:r>
              <a:rPr sz="1500" spc="-15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disposal guidance107.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500">
              <a:latin typeface="Verdana"/>
              <a:cs typeface="Verdana"/>
            </a:endParaRPr>
          </a:p>
          <a:p>
            <a:pPr algn="just">
              <a:lnSpc>
                <a:spcPts val="1730"/>
              </a:lnSpc>
            </a:pPr>
            <a:r>
              <a:rPr sz="1500" spc="-30" dirty="0">
                <a:latin typeface="Verdana"/>
                <a:cs typeface="Verdana"/>
              </a:rPr>
              <a:t>Combines</a:t>
            </a:r>
            <a:r>
              <a:rPr sz="1500" spc="-9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deep</a:t>
            </a:r>
            <a:r>
              <a:rPr sz="1500" spc="-95" dirty="0">
                <a:latin typeface="Verdana"/>
                <a:cs typeface="Verdana"/>
              </a:rPr>
              <a:t> </a:t>
            </a:r>
            <a:r>
              <a:rPr sz="1500" spc="-30" dirty="0">
                <a:latin typeface="Verdana"/>
                <a:cs typeface="Verdana"/>
              </a:rPr>
              <a:t>learning </a:t>
            </a:r>
            <a:r>
              <a:rPr sz="1500" spc="-40" dirty="0">
                <a:latin typeface="Verdana"/>
                <a:cs typeface="Verdana"/>
              </a:rPr>
              <a:t>with</a:t>
            </a:r>
            <a:r>
              <a:rPr sz="1500" spc="-95" dirty="0">
                <a:latin typeface="Verdana"/>
                <a:cs typeface="Verdana"/>
              </a:rPr>
              <a:t> </a:t>
            </a:r>
            <a:r>
              <a:rPr sz="1500" spc="-200" dirty="0">
                <a:latin typeface="Verdana"/>
                <a:cs typeface="Verdana"/>
              </a:rPr>
              <a:t>GIS</a:t>
            </a:r>
            <a:r>
              <a:rPr sz="1500" spc="70" dirty="0">
                <a:latin typeface="Verdana"/>
                <a:cs typeface="Verdana"/>
              </a:rPr>
              <a:t> </a:t>
            </a:r>
            <a:r>
              <a:rPr sz="1500" spc="-30" dirty="0">
                <a:latin typeface="Verdana"/>
                <a:cs typeface="Verdana"/>
              </a:rPr>
              <a:t>based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spc="-50" dirty="0">
                <a:latin typeface="Verdana"/>
                <a:cs typeface="Verdana"/>
              </a:rPr>
              <a:t>on</a:t>
            </a:r>
            <a:r>
              <a:rPr sz="1500" spc="-45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user's </a:t>
            </a:r>
            <a:r>
              <a:rPr sz="1500" spc="-40" dirty="0">
                <a:latin typeface="Verdana"/>
                <a:cs typeface="Verdana"/>
              </a:rPr>
              <a:t>GPS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location109.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52689" y="1518142"/>
            <a:ext cx="5077460" cy="5092700"/>
            <a:chOff x="1252689" y="1518142"/>
            <a:chExt cx="5077460" cy="5092700"/>
          </a:xfrm>
        </p:grpSpPr>
        <p:sp>
          <p:nvSpPr>
            <p:cNvPr id="5" name="object 5"/>
            <p:cNvSpPr/>
            <p:nvPr/>
          </p:nvSpPr>
          <p:spPr>
            <a:xfrm>
              <a:off x="1257452" y="1527682"/>
              <a:ext cx="5067935" cy="5073650"/>
            </a:xfrm>
            <a:custGeom>
              <a:avLst/>
              <a:gdLst/>
              <a:ahLst/>
              <a:cxnLst/>
              <a:rect l="l" t="t" r="r" b="b"/>
              <a:pathLst>
                <a:path w="5067935" h="5073650">
                  <a:moveTo>
                    <a:pt x="5067452" y="0"/>
                  </a:moveTo>
                  <a:lnTo>
                    <a:pt x="2533726" y="0"/>
                  </a:lnTo>
                  <a:lnTo>
                    <a:pt x="0" y="0"/>
                  </a:lnTo>
                  <a:lnTo>
                    <a:pt x="0" y="5073231"/>
                  </a:lnTo>
                  <a:lnTo>
                    <a:pt x="2533726" y="5073231"/>
                  </a:lnTo>
                  <a:lnTo>
                    <a:pt x="5067452" y="5073231"/>
                  </a:lnTo>
                  <a:lnTo>
                    <a:pt x="50674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52689" y="1522906"/>
              <a:ext cx="5077460" cy="5083175"/>
            </a:xfrm>
            <a:custGeom>
              <a:avLst/>
              <a:gdLst/>
              <a:ahLst/>
              <a:cxnLst/>
              <a:rect l="l" t="t" r="r" b="b"/>
              <a:pathLst>
                <a:path w="5077460" h="5083175">
                  <a:moveTo>
                    <a:pt x="4764" y="4764"/>
                  </a:moveTo>
                  <a:lnTo>
                    <a:pt x="4764" y="5077994"/>
                  </a:lnTo>
                </a:path>
                <a:path w="5077460" h="5083175">
                  <a:moveTo>
                    <a:pt x="2538492" y="4764"/>
                  </a:moveTo>
                  <a:lnTo>
                    <a:pt x="2538492" y="5077994"/>
                  </a:lnTo>
                </a:path>
                <a:path w="5077460" h="5083175">
                  <a:moveTo>
                    <a:pt x="5072220" y="4764"/>
                  </a:moveTo>
                  <a:lnTo>
                    <a:pt x="5072220" y="5077994"/>
                  </a:lnTo>
                </a:path>
                <a:path w="5077460" h="5083175">
                  <a:moveTo>
                    <a:pt x="0" y="0"/>
                  </a:moveTo>
                  <a:lnTo>
                    <a:pt x="5076984" y="0"/>
                  </a:lnTo>
                </a:path>
                <a:path w="5077460" h="5083175">
                  <a:moveTo>
                    <a:pt x="0" y="1270689"/>
                  </a:moveTo>
                  <a:lnTo>
                    <a:pt x="5076984" y="1270689"/>
                  </a:lnTo>
                </a:path>
                <a:path w="5077460" h="5083175">
                  <a:moveTo>
                    <a:pt x="0" y="2541379"/>
                  </a:moveTo>
                  <a:lnTo>
                    <a:pt x="5076984" y="2541379"/>
                  </a:lnTo>
                </a:path>
                <a:path w="5077460" h="5083175">
                  <a:moveTo>
                    <a:pt x="0" y="3812069"/>
                  </a:moveTo>
                  <a:lnTo>
                    <a:pt x="5076984" y="3812069"/>
                  </a:lnTo>
                </a:path>
                <a:path w="5077460" h="5083175">
                  <a:moveTo>
                    <a:pt x="0" y="5082758"/>
                  </a:moveTo>
                  <a:lnTo>
                    <a:pt x="5076984" y="5082758"/>
                  </a:lnTo>
                </a:path>
              </a:pathLst>
            </a:custGeom>
            <a:ln w="9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13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9872" y="2289934"/>
            <a:ext cx="69850" cy="7404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i="1" spc="-50" dirty="0">
                <a:latin typeface="Times New Roman"/>
                <a:cs typeface="Times New Roman"/>
              </a:rPr>
              <a:t>•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000" i="1" spc="-50" dirty="0">
                <a:latin typeface="Times New Roman"/>
                <a:cs typeface="Times New Roman"/>
              </a:rPr>
              <a:t>•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000" i="1" spc="-50" dirty="0">
                <a:latin typeface="Times New Roman"/>
                <a:cs typeface="Times New Roman"/>
              </a:rPr>
              <a:t>•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9872" y="3263067"/>
            <a:ext cx="69850" cy="7404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i="1" spc="-50" dirty="0">
                <a:latin typeface="Times New Roman"/>
                <a:cs typeface="Times New Roman"/>
              </a:rPr>
              <a:t>•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000" i="1" spc="-50" dirty="0">
                <a:latin typeface="Times New Roman"/>
                <a:cs typeface="Times New Roman"/>
              </a:rPr>
              <a:t>•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000" i="1" spc="-50" dirty="0">
                <a:latin typeface="Times New Roman"/>
                <a:cs typeface="Times New Roman"/>
              </a:rPr>
              <a:t>•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0825" y="183141"/>
            <a:ext cx="6084570" cy="2135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1295" algn="just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100">
              <a:latin typeface="Times New Roman"/>
              <a:cs typeface="Times New Roman"/>
            </a:endParaRPr>
          </a:p>
          <a:p>
            <a:pPr marL="1301115">
              <a:lnSpc>
                <a:spcPct val="100000"/>
              </a:lnSpc>
              <a:tabLst>
                <a:tab pos="1573530" algn="l"/>
              </a:tabLst>
            </a:pPr>
            <a:r>
              <a:rPr sz="1400" b="1" spc="-50" dirty="0">
                <a:latin typeface="Times New Roman"/>
                <a:cs typeface="Times New Roman"/>
              </a:rPr>
              <a:t>4</a:t>
            </a:r>
            <a:r>
              <a:rPr sz="1400" b="1" dirty="0">
                <a:latin typeface="Times New Roman"/>
                <a:cs typeface="Times New Roman"/>
              </a:rPr>
              <a:t>	PROBLEM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DEFINITION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SCOPE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400">
              <a:latin typeface="Times New Roman"/>
              <a:cs typeface="Times New Roman"/>
            </a:endParaRPr>
          </a:p>
          <a:p>
            <a:pPr marL="353695" lvl="1" indent="-340995">
              <a:lnSpc>
                <a:spcPct val="100000"/>
              </a:lnSpc>
              <a:buAutoNum type="arabicPeriod"/>
              <a:tabLst>
                <a:tab pos="353695" algn="l"/>
              </a:tabLst>
            </a:pPr>
            <a:r>
              <a:rPr sz="1200" b="1" dirty="0">
                <a:latin typeface="Times New Roman"/>
                <a:cs typeface="Times New Roman"/>
              </a:rPr>
              <a:t>Problem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Statement</a:t>
            </a:r>
            <a:endParaRPr sz="1200">
              <a:latin typeface="Times New Roman"/>
              <a:cs typeface="Times New Roman"/>
            </a:endParaRPr>
          </a:p>
          <a:p>
            <a:pPr marL="201295" marR="5080" algn="just">
              <a:lnSpc>
                <a:spcPct val="112500"/>
              </a:lnSpc>
              <a:spcBef>
                <a:spcPts val="305"/>
              </a:spcBef>
            </a:pPr>
            <a:r>
              <a:rPr sz="1000" spc="-20" dirty="0">
                <a:latin typeface="Times New Roman"/>
                <a:cs typeface="Times New Roman"/>
              </a:rPr>
              <a:t>To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provide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accurate,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automated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solution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classification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legal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guidance,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addressing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core </a:t>
            </a:r>
            <a:r>
              <a:rPr sz="1000" dirty="0">
                <a:latin typeface="Times New Roman"/>
                <a:cs typeface="Times New Roman"/>
              </a:rPr>
              <a:t>issue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improper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segregation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environmental compliance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due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manual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methods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lack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clear, state- </a:t>
            </a:r>
            <a:r>
              <a:rPr sz="1000" dirty="0">
                <a:latin typeface="Times New Roman"/>
                <a:cs typeface="Times New Roman"/>
              </a:rPr>
              <a:t>specific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guidelines</a:t>
            </a:r>
            <a:endParaRPr sz="1000">
              <a:latin typeface="Times New Roman"/>
              <a:cs typeface="Times New Roman"/>
            </a:endParaRPr>
          </a:p>
          <a:p>
            <a:pPr marL="313690" marR="4649470" lvl="2" indent="-281305" algn="just">
              <a:lnSpc>
                <a:spcPct val="117200"/>
              </a:lnSpc>
              <a:spcBef>
                <a:spcPts val="405"/>
              </a:spcBef>
              <a:buAutoNum type="arabicPeriod"/>
              <a:tabLst>
                <a:tab pos="373380" algn="l"/>
              </a:tabLst>
            </a:pPr>
            <a:r>
              <a:rPr sz="1000" b="1" dirty="0">
                <a:latin typeface="Times New Roman"/>
                <a:cs typeface="Times New Roman"/>
              </a:rPr>
              <a:t>Goals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and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objectives 	Goals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0825" y="4182435"/>
            <a:ext cx="6318250" cy="4440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imes New Roman"/>
                <a:cs typeface="Times New Roman"/>
              </a:rPr>
              <a:t>4.1.2</a:t>
            </a:r>
            <a:r>
              <a:rPr sz="1000" b="1" spc="204" dirty="0">
                <a:latin typeface="Times New Roman"/>
                <a:cs typeface="Times New Roman"/>
              </a:rPr>
              <a:t>  </a:t>
            </a:r>
            <a:r>
              <a:rPr sz="1000" b="1" dirty="0">
                <a:latin typeface="Times New Roman"/>
                <a:cs typeface="Times New Roman"/>
              </a:rPr>
              <a:t>Statement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of</a:t>
            </a:r>
            <a:r>
              <a:rPr sz="1000" b="1" spc="-10" dirty="0">
                <a:latin typeface="Times New Roman"/>
                <a:cs typeface="Times New Roman"/>
              </a:rPr>
              <a:t> </a:t>
            </a:r>
            <a:r>
              <a:rPr sz="1000" b="1" spc="-20" dirty="0">
                <a:latin typeface="Times New Roman"/>
                <a:cs typeface="Times New Roman"/>
              </a:rPr>
              <a:t>scope</a:t>
            </a:r>
            <a:endParaRPr sz="1000">
              <a:latin typeface="Times New Roman"/>
              <a:cs typeface="Times New Roman"/>
            </a:endParaRPr>
          </a:p>
          <a:p>
            <a:pPr marL="215900" marR="186690">
              <a:lnSpc>
                <a:spcPct val="112500"/>
              </a:lnSpc>
              <a:spcBef>
                <a:spcPts val="800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scoped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build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an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AI-</a:t>
            </a:r>
            <a:r>
              <a:rPr sz="1000" dirty="0">
                <a:latin typeface="Times New Roman"/>
                <a:cs typeface="Times New Roman"/>
              </a:rPr>
              <a:t>driven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platform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recognition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compliance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management. </a:t>
            </a:r>
            <a:r>
              <a:rPr sz="1000" dirty="0">
                <a:latin typeface="Times New Roman"/>
                <a:cs typeface="Times New Roman"/>
              </a:rPr>
              <a:t>It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includes: </a:t>
            </a:r>
            <a:r>
              <a:rPr sz="1000" dirty="0">
                <a:latin typeface="Times New Roman"/>
                <a:cs typeface="Times New Roman"/>
              </a:rPr>
              <a:t>AI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classification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via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image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upload,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storage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analysis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history,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role-</a:t>
            </a:r>
            <a:r>
              <a:rPr sz="1000" dirty="0">
                <a:latin typeface="Times New Roman"/>
                <a:cs typeface="Times New Roman"/>
              </a:rPr>
              <a:t>based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access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and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Admin,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dynamic generation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state-</a:t>
            </a:r>
            <a:r>
              <a:rPr sz="1000" dirty="0">
                <a:latin typeface="Times New Roman"/>
                <a:cs typeface="Times New Roman"/>
              </a:rPr>
              <a:t>specific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rules.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does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currently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include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physical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hardware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(IoT)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municipal </a:t>
            </a:r>
            <a:r>
              <a:rPr sz="1000" dirty="0">
                <a:latin typeface="Times New Roman"/>
                <a:cs typeface="Times New Roman"/>
              </a:rPr>
              <a:t>collection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logistics.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000">
              <a:latin typeface="Times New Roman"/>
              <a:cs typeface="Times New Roman"/>
            </a:endParaRPr>
          </a:p>
          <a:p>
            <a:pPr marL="353695" lvl="1" indent="-340995">
              <a:lnSpc>
                <a:spcPct val="100000"/>
              </a:lnSpc>
              <a:buAutoNum type="arabicPeriod" startAt="2"/>
              <a:tabLst>
                <a:tab pos="353695" algn="l"/>
              </a:tabLst>
            </a:pPr>
            <a:r>
              <a:rPr sz="1200" b="1" dirty="0">
                <a:latin typeface="Times New Roman"/>
                <a:cs typeface="Times New Roman"/>
              </a:rPr>
              <a:t>Software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Context</a:t>
            </a:r>
            <a:endParaRPr sz="1200">
              <a:latin typeface="Times New Roman"/>
              <a:cs typeface="Times New Roman"/>
            </a:endParaRPr>
          </a:p>
          <a:p>
            <a:pPr marL="213360">
              <a:lnSpc>
                <a:spcPct val="100000"/>
              </a:lnSpc>
              <a:spcBef>
                <a:spcPts val="1019"/>
              </a:spcBef>
            </a:pPr>
            <a:r>
              <a:rPr sz="1000" dirty="0">
                <a:latin typeface="Times New Roman"/>
                <a:cs typeface="Times New Roman"/>
              </a:rPr>
              <a:t>Operating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System: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Windows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/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Linux</a:t>
            </a:r>
            <a:endParaRPr sz="1000">
              <a:latin typeface="Times New Roman"/>
              <a:cs typeface="Times New Roman"/>
            </a:endParaRPr>
          </a:p>
          <a:p>
            <a:pPr marL="213360" marR="3179445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Platform/IDE: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Pycharm,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Anaconda-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Jupyter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Notebook ML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Tools: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TensorFlow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/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PyTorch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image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classification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000">
              <a:latin typeface="Times New Roman"/>
              <a:cs typeface="Times New Roman"/>
            </a:endParaRPr>
          </a:p>
          <a:p>
            <a:pPr marL="241300" lvl="1" indent="-228600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Major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Constraints</a:t>
            </a:r>
            <a:endParaRPr sz="1200">
              <a:latin typeface="Times New Roman"/>
              <a:cs typeface="Times New Roman"/>
            </a:endParaRPr>
          </a:p>
          <a:p>
            <a:pPr marL="203200" marR="123825">
              <a:lnSpc>
                <a:spcPct val="112500"/>
              </a:lnSpc>
              <a:spcBef>
                <a:spcPts val="295"/>
              </a:spcBef>
            </a:pPr>
            <a:r>
              <a:rPr sz="1000" dirty="0">
                <a:latin typeface="Times New Roman"/>
                <a:cs typeface="Times New Roman"/>
              </a:rPr>
              <a:t>Model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Scalability: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may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experience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slower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response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times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require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significant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computational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resources </a:t>
            </a:r>
            <a:r>
              <a:rPr sz="1000" dirty="0">
                <a:latin typeface="Times New Roman"/>
                <a:cs typeface="Times New Roman"/>
              </a:rPr>
              <a:t>as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numbers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increase.</a:t>
            </a:r>
            <a:endParaRPr sz="1000">
              <a:latin typeface="Times New Roman"/>
              <a:cs typeface="Times New Roman"/>
            </a:endParaRPr>
          </a:p>
          <a:p>
            <a:pPr marL="203200" marR="5080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Dataset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Diversity: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Image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recognition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performance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degrade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under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different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lighting,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camera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qualities,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background clutter.</a:t>
            </a:r>
            <a:endParaRPr sz="1000">
              <a:latin typeface="Times New Roman"/>
              <a:cs typeface="Times New Roman"/>
            </a:endParaRPr>
          </a:p>
          <a:p>
            <a:pPr marL="203200" marR="125095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API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Dependency: </a:t>
            </a:r>
            <a:r>
              <a:rPr sz="1000" dirty="0">
                <a:latin typeface="Times New Roman"/>
                <a:cs typeface="Times New Roman"/>
              </a:rPr>
              <a:t>Reliance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third-party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APIs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for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AI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classification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guideline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retrieval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introduces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vulnerability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to </a:t>
            </a:r>
            <a:r>
              <a:rPr sz="1000" dirty="0">
                <a:latin typeface="Times New Roman"/>
                <a:cs typeface="Times New Roman"/>
              </a:rPr>
              <a:t>downtime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policy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change.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000">
              <a:latin typeface="Times New Roman"/>
              <a:cs typeface="Times New Roman"/>
            </a:endParaRPr>
          </a:p>
          <a:p>
            <a:pPr marL="241300" lvl="1" indent="-228600">
              <a:lnSpc>
                <a:spcPct val="100000"/>
              </a:lnSpc>
              <a:buAutoNum type="arabicPeriod" startAt="4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Methodologies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Problem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solving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efficiency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issues</a:t>
            </a:r>
            <a:endParaRPr sz="1200">
              <a:latin typeface="Times New Roman"/>
              <a:cs typeface="Times New Roman"/>
            </a:endParaRPr>
          </a:p>
          <a:p>
            <a:pPr marL="183515" marR="147320">
              <a:lnSpc>
                <a:spcPct val="112500"/>
              </a:lnSpc>
              <a:spcBef>
                <a:spcPts val="1195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divide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conquer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approach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modularizing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architecture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(client–server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model).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supports </a:t>
            </a:r>
            <a:r>
              <a:rPr sz="1000" dirty="0">
                <a:latin typeface="Times New Roman"/>
                <a:cs typeface="Times New Roman"/>
              </a:rPr>
              <a:t>distributed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multi-</a:t>
            </a:r>
            <a:r>
              <a:rPr sz="1000" dirty="0">
                <a:latin typeface="Times New Roman"/>
                <a:cs typeface="Times New Roman"/>
              </a:rPr>
              <a:t>core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environments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efficiency.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methodology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ensures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quick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processing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autonomously </a:t>
            </a:r>
            <a:r>
              <a:rPr sz="1000" dirty="0">
                <a:latin typeface="Times New Roman"/>
                <a:cs typeface="Times New Roman"/>
              </a:rPr>
              <a:t>identifying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fetching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rules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without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manual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external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verification.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2101" y="3106560"/>
            <a:ext cx="596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Times New Roman"/>
                <a:cs typeface="Times New Roman"/>
              </a:rPr>
              <a:t>Objectives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2329" y="2395202"/>
            <a:ext cx="3398520" cy="540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sz="1000" spc="-20" dirty="0">
                <a:latin typeface="Times New Roman"/>
                <a:cs typeface="Times New Roman"/>
              </a:rPr>
              <a:t>To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drastically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reduce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incidence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improper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segregation. </a:t>
            </a:r>
            <a:r>
              <a:rPr sz="1000" spc="-20" dirty="0">
                <a:latin typeface="Times New Roman"/>
                <a:cs typeface="Times New Roman"/>
              </a:rPr>
              <a:t>To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provide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Real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Time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Access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guidelines.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00" spc="-20" dirty="0">
                <a:latin typeface="Times New Roman"/>
                <a:cs typeface="Times New Roman"/>
              </a:rPr>
              <a:t>To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provide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Security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integrity.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2329" y="3360036"/>
            <a:ext cx="5814695" cy="7118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00" spc="-20" dirty="0">
                <a:latin typeface="Times New Roman"/>
                <a:cs typeface="Times New Roman"/>
              </a:rPr>
              <a:t>To </a:t>
            </a:r>
            <a:r>
              <a:rPr sz="1000" spc="-10" dirty="0">
                <a:latin typeface="Times New Roman"/>
                <a:cs typeface="Times New Roman"/>
              </a:rPr>
              <a:t>increase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efficiency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prediction.</a:t>
            </a:r>
            <a:endParaRPr sz="1000">
              <a:latin typeface="Times New Roman"/>
              <a:cs typeface="Times New Roman"/>
            </a:endParaRPr>
          </a:p>
          <a:p>
            <a:pPr marL="12700" marR="2515870">
              <a:lnSpc>
                <a:spcPct val="112500"/>
              </a:lnSpc>
            </a:pPr>
            <a:r>
              <a:rPr sz="1000" spc="-20" dirty="0">
                <a:latin typeface="Times New Roman"/>
                <a:cs typeface="Times New Roman"/>
              </a:rPr>
              <a:t>To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decrease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time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required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prediction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viewing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results. </a:t>
            </a:r>
            <a:r>
              <a:rPr sz="1000" spc="-20" dirty="0">
                <a:latin typeface="Times New Roman"/>
                <a:cs typeface="Times New Roman"/>
              </a:rPr>
              <a:t>To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make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more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secure.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00" spc="-20" dirty="0">
                <a:latin typeface="Times New Roman"/>
                <a:cs typeface="Times New Roman"/>
              </a:rPr>
              <a:t>To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enable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autonomously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identify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category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fetch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guidelines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from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database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825" y="854315"/>
            <a:ext cx="6131560" cy="574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lvl="1" indent="-34099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 startAt="5"/>
              <a:tabLst>
                <a:tab pos="353695" algn="l"/>
              </a:tabLst>
            </a:pPr>
            <a:r>
              <a:rPr sz="1200" b="1" dirty="0">
                <a:latin typeface="Times New Roman"/>
                <a:cs typeface="Times New Roman"/>
              </a:rPr>
              <a:t>Scenario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which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multi-</a:t>
            </a:r>
            <a:r>
              <a:rPr sz="1200" b="1" dirty="0">
                <a:latin typeface="Times New Roman"/>
                <a:cs typeface="Times New Roman"/>
              </a:rPr>
              <a:t>core,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Embedded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Distributed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Computing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used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65"/>
              </a:spcBef>
              <a:buFont typeface="Times New Roman"/>
              <a:buAutoNum type="arabicPeriod" startAt="5"/>
            </a:pPr>
            <a:endParaRPr sz="1200">
              <a:latin typeface="Times New Roman"/>
              <a:cs typeface="Times New Roman"/>
            </a:endParaRPr>
          </a:p>
          <a:p>
            <a:pPr marL="130175" marR="5080">
              <a:lnSpc>
                <a:spcPct val="112500"/>
              </a:lnSpc>
            </a:pPr>
            <a:r>
              <a:rPr sz="1000" spc="-10" dirty="0">
                <a:latin typeface="Times New Roman"/>
                <a:cs typeface="Times New Roman"/>
              </a:rPr>
              <a:t>The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AI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classification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real-</a:t>
            </a:r>
            <a:r>
              <a:rPr sz="1000" dirty="0">
                <a:latin typeface="Times New Roman"/>
                <a:cs typeface="Times New Roman"/>
              </a:rPr>
              <a:t>time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guideline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fetching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benefit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from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Distributed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Computing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Multi-</a:t>
            </a:r>
            <a:r>
              <a:rPr sz="1000" dirty="0">
                <a:latin typeface="Times New Roman"/>
                <a:cs typeface="Times New Roman"/>
              </a:rPr>
              <a:t>core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Processing.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cloud-based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API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architecture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(Gemini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Pro)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inherently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distributed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computing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solution,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enabling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massive </a:t>
            </a:r>
            <a:r>
              <a:rPr sz="1000" dirty="0">
                <a:latin typeface="Times New Roman"/>
                <a:cs typeface="Times New Roman"/>
              </a:rPr>
              <a:t>computational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load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image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analysis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handled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efficiently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real-</a:t>
            </a:r>
            <a:r>
              <a:rPr sz="1000" dirty="0">
                <a:latin typeface="Times New Roman"/>
                <a:cs typeface="Times New Roman"/>
              </a:rPr>
              <a:t>time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results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000">
              <a:latin typeface="Times New Roman"/>
              <a:cs typeface="Times New Roman"/>
            </a:endParaRPr>
          </a:p>
          <a:p>
            <a:pPr marL="241300" lvl="1" indent="-228600">
              <a:lnSpc>
                <a:spcPct val="100000"/>
              </a:lnSpc>
              <a:buAutoNum type="arabicPeriod" startAt="6"/>
              <a:tabLst>
                <a:tab pos="2413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Outcome</a:t>
            </a:r>
            <a:endParaRPr sz="1200">
              <a:latin typeface="Times New Roman"/>
              <a:cs typeface="Times New Roman"/>
            </a:endParaRPr>
          </a:p>
          <a:p>
            <a:pPr marL="130175" marR="2772410">
              <a:lnSpc>
                <a:spcPct val="112500"/>
              </a:lnSpc>
              <a:spcBef>
                <a:spcPts val="1019"/>
              </a:spcBef>
            </a:pPr>
            <a:r>
              <a:rPr sz="1000" spc="-10" dirty="0">
                <a:latin typeface="Times New Roman"/>
                <a:cs typeface="Times New Roman"/>
              </a:rPr>
              <a:t>Provides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Accuracy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(e.g.,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93.2%)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produces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effective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results. </a:t>
            </a:r>
            <a:r>
              <a:rPr sz="1000" dirty="0">
                <a:latin typeface="Times New Roman"/>
                <a:cs typeface="Times New Roman"/>
              </a:rPr>
              <a:t>Provides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real-</a:t>
            </a:r>
            <a:r>
              <a:rPr sz="1000" dirty="0">
                <a:latin typeface="Times New Roman"/>
                <a:cs typeface="Times New Roman"/>
              </a:rPr>
              <a:t>time,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state-</a:t>
            </a:r>
            <a:r>
              <a:rPr sz="1000" dirty="0">
                <a:latin typeface="Times New Roman"/>
                <a:cs typeface="Times New Roman"/>
              </a:rPr>
              <a:t>specific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instructions.</a:t>
            </a:r>
            <a:endParaRPr sz="1000">
              <a:latin typeface="Times New Roman"/>
              <a:cs typeface="Times New Roman"/>
            </a:endParaRPr>
          </a:p>
          <a:p>
            <a:pPr marL="130175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latin typeface="Times New Roman"/>
                <a:cs typeface="Times New Roman"/>
              </a:rPr>
              <a:t>Reduces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reliance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slow,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error-</a:t>
            </a:r>
            <a:r>
              <a:rPr sz="1000" dirty="0">
                <a:latin typeface="Times New Roman"/>
                <a:cs typeface="Times New Roman"/>
              </a:rPr>
              <a:t>prone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manual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classification.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00">
              <a:latin typeface="Times New Roman"/>
              <a:cs typeface="Times New Roman"/>
            </a:endParaRPr>
          </a:p>
          <a:p>
            <a:pPr marL="353695" lvl="1" indent="-340995">
              <a:lnSpc>
                <a:spcPct val="100000"/>
              </a:lnSpc>
              <a:buAutoNum type="arabicPeriod" startAt="7"/>
              <a:tabLst>
                <a:tab pos="35369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Applications</a:t>
            </a:r>
            <a:endParaRPr sz="1200">
              <a:latin typeface="Times New Roman"/>
              <a:cs typeface="Times New Roman"/>
            </a:endParaRPr>
          </a:p>
          <a:p>
            <a:pPr marL="130175" marR="3030855">
              <a:lnSpc>
                <a:spcPct val="112500"/>
              </a:lnSpc>
              <a:spcBef>
                <a:spcPts val="690"/>
              </a:spcBef>
            </a:pPr>
            <a:r>
              <a:rPr sz="1000" dirty="0">
                <a:latin typeface="Times New Roman"/>
                <a:cs typeface="Times New Roman"/>
              </a:rPr>
              <a:t>Real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time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usage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achieve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prediction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disposal. </a:t>
            </a:r>
            <a:r>
              <a:rPr sz="1000" dirty="0">
                <a:latin typeface="Times New Roman"/>
                <a:cs typeface="Times New Roman"/>
              </a:rPr>
              <a:t>Enables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contribute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directly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sustainability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goals.</a:t>
            </a:r>
            <a:endParaRPr sz="1000">
              <a:latin typeface="Times New Roman"/>
              <a:cs typeface="Times New Roman"/>
            </a:endParaRPr>
          </a:p>
          <a:p>
            <a:pPr marL="130175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latin typeface="Times New Roman"/>
                <a:cs typeface="Times New Roman"/>
              </a:rPr>
              <a:t>Supports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intelligent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management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solutions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smart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cities.</a:t>
            </a:r>
            <a:endParaRPr sz="1000">
              <a:latin typeface="Times New Roman"/>
              <a:cs typeface="Times New Roman"/>
            </a:endParaRPr>
          </a:p>
          <a:p>
            <a:pPr marL="241300" lvl="1" indent="-228600">
              <a:lnSpc>
                <a:spcPct val="100000"/>
              </a:lnSpc>
              <a:spcBef>
                <a:spcPts val="994"/>
              </a:spcBef>
              <a:buAutoNum type="arabicPeriod" startAt="8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Hardware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Resources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Required</a:t>
            </a:r>
            <a:endParaRPr sz="1200">
              <a:latin typeface="Times New Roman"/>
              <a:cs typeface="Times New Roman"/>
            </a:endParaRPr>
          </a:p>
          <a:p>
            <a:pPr marL="276860" lvl="2" indent="-75565">
              <a:lnSpc>
                <a:spcPct val="100000"/>
              </a:lnSpc>
              <a:spcBef>
                <a:spcPts val="785"/>
              </a:spcBef>
              <a:buFont typeface="Times New Roman"/>
              <a:buChar char="•"/>
              <a:tabLst>
                <a:tab pos="276860" algn="l"/>
              </a:tabLst>
            </a:pPr>
            <a:r>
              <a:rPr sz="1000" spc="-10" dirty="0">
                <a:latin typeface="Times New Roman"/>
                <a:cs typeface="Times New Roman"/>
              </a:rPr>
              <a:t>Hardware</a:t>
            </a:r>
            <a:endParaRPr sz="1000">
              <a:latin typeface="Times New Roman"/>
              <a:cs typeface="Times New Roman"/>
            </a:endParaRPr>
          </a:p>
          <a:p>
            <a:pPr marL="574675" lvl="3" indent="-125095">
              <a:lnSpc>
                <a:spcPct val="100000"/>
              </a:lnSpc>
              <a:spcBef>
                <a:spcPts val="1030"/>
              </a:spcBef>
              <a:buAutoNum type="arabicPeriod"/>
              <a:tabLst>
                <a:tab pos="574675" algn="l"/>
              </a:tabLst>
            </a:pPr>
            <a:r>
              <a:rPr sz="1000" dirty="0">
                <a:latin typeface="Times New Roman"/>
                <a:cs typeface="Times New Roman"/>
              </a:rPr>
              <a:t>RAM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8GB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faster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processing</a:t>
            </a:r>
            <a:endParaRPr sz="1000">
              <a:latin typeface="Times New Roman"/>
              <a:cs typeface="Times New Roman"/>
            </a:endParaRPr>
          </a:p>
          <a:p>
            <a:pPr marL="574675" lvl="3" indent="-12509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574675" algn="l"/>
              </a:tabLst>
            </a:pPr>
            <a:r>
              <a:rPr sz="1000" dirty="0">
                <a:latin typeface="Times New Roman"/>
                <a:cs typeface="Times New Roman"/>
              </a:rPr>
              <a:t>CPU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3GHz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sufficient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processing</a:t>
            </a:r>
            <a:r>
              <a:rPr sz="1000" spc="-20" dirty="0">
                <a:latin typeface="Times New Roman"/>
                <a:cs typeface="Times New Roman"/>
              </a:rPr>
              <a:t> power</a:t>
            </a:r>
            <a:endParaRPr sz="1000">
              <a:latin typeface="Times New Roman"/>
              <a:cs typeface="Times New Roman"/>
            </a:endParaRPr>
          </a:p>
          <a:p>
            <a:pPr lvl="3">
              <a:lnSpc>
                <a:spcPct val="100000"/>
              </a:lnSpc>
              <a:spcBef>
                <a:spcPts val="645"/>
              </a:spcBef>
              <a:buFont typeface="Times New Roman"/>
              <a:buAutoNum type="arabicPeriod"/>
            </a:pPr>
            <a:endParaRPr sz="1000">
              <a:latin typeface="Times New Roman"/>
              <a:cs typeface="Times New Roman"/>
            </a:endParaRPr>
          </a:p>
          <a:p>
            <a:pPr marL="353695" lvl="1" indent="-340995">
              <a:lnSpc>
                <a:spcPct val="100000"/>
              </a:lnSpc>
              <a:buAutoNum type="arabicPeriod" startAt="8"/>
              <a:tabLst>
                <a:tab pos="353695" algn="l"/>
              </a:tabLst>
            </a:pPr>
            <a:r>
              <a:rPr sz="1200" b="1" dirty="0">
                <a:latin typeface="Times New Roman"/>
                <a:cs typeface="Times New Roman"/>
              </a:rPr>
              <a:t>Software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Resources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Required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30175" marR="3668395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Frontend: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HTML,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CSS,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JavaScript,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Bootstrap </a:t>
            </a:r>
            <a:r>
              <a:rPr sz="1000" dirty="0">
                <a:latin typeface="Times New Roman"/>
                <a:cs typeface="Times New Roman"/>
              </a:rPr>
              <a:t>Backend: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Python,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Django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Framework</a:t>
            </a:r>
            <a:endParaRPr sz="1000">
              <a:latin typeface="Times New Roman"/>
              <a:cs typeface="Times New Roman"/>
            </a:endParaRPr>
          </a:p>
          <a:p>
            <a:pPr marL="130175" marR="2543175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LLM: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Gemini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/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OpenAI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(for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legal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guidance) Database: MySQL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/</a:t>
            </a:r>
            <a:r>
              <a:rPr sz="1000" spc="-10" dirty="0">
                <a:latin typeface="Times New Roman"/>
                <a:cs typeface="Times New Roman"/>
              </a:rPr>
              <a:t> PostgreSQL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(for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rules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category</a:t>
            </a:r>
            <a:r>
              <a:rPr sz="1000" spc="-10" dirty="0">
                <a:latin typeface="Times New Roman"/>
                <a:cs typeface="Times New Roman"/>
              </a:rPr>
              <a:t> data) </a:t>
            </a:r>
            <a:r>
              <a:rPr sz="1000" dirty="0">
                <a:latin typeface="Times New Roman"/>
                <a:cs typeface="Times New Roman"/>
              </a:rPr>
              <a:t>OS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Compatibility: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Windows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/</a:t>
            </a:r>
            <a:r>
              <a:rPr sz="1000" spc="-10" dirty="0">
                <a:latin typeface="Times New Roman"/>
                <a:cs typeface="Times New Roman"/>
              </a:rPr>
              <a:t> Linux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1284" y="3002649"/>
            <a:ext cx="4230693" cy="15436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5186" y="5335886"/>
            <a:ext cx="4240222" cy="9147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89872" y="2781978"/>
            <a:ext cx="9455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0" indent="-12700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139700" algn="l"/>
              </a:tabLst>
            </a:pPr>
            <a:r>
              <a:rPr sz="1000" dirty="0">
                <a:latin typeface="Times New Roman"/>
                <a:cs typeface="Times New Roman"/>
              </a:rPr>
              <a:t>Time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Estimates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1396" y="1825453"/>
            <a:ext cx="1889125" cy="5022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56300"/>
              </a:lnSpc>
              <a:spcBef>
                <a:spcPts val="100"/>
              </a:spcBef>
              <a:buFont typeface="Times New Roman"/>
              <a:buChar char="•"/>
              <a:tabLst>
                <a:tab pos="41275" algn="l"/>
                <a:tab pos="117475" algn="l"/>
              </a:tabLst>
            </a:pPr>
            <a:r>
              <a:rPr sz="1000" dirty="0">
                <a:latin typeface="Times New Roman"/>
                <a:cs typeface="Times New Roman"/>
              </a:rPr>
              <a:t>	Cost</a:t>
            </a:r>
            <a:r>
              <a:rPr sz="1000" spc="3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estimates</a:t>
            </a:r>
            <a:r>
              <a:rPr sz="1000" spc="3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1.IDE</a:t>
            </a:r>
            <a:r>
              <a:rPr sz="1000" spc="3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-</a:t>
            </a:r>
            <a:r>
              <a:rPr sz="1000" spc="3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Free</a:t>
            </a:r>
            <a:r>
              <a:rPr sz="1000" spc="33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2. </a:t>
            </a:r>
            <a:r>
              <a:rPr sz="1000" dirty="0">
                <a:latin typeface="Times New Roman"/>
                <a:cs typeface="Times New Roman"/>
              </a:rPr>
              <a:t>Hardware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software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cost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26815" y="5368609"/>
            <a:ext cx="1259840" cy="79629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60"/>
              </a:spcBef>
              <a:tabLst>
                <a:tab pos="340360" algn="l"/>
              </a:tabLst>
            </a:pPr>
            <a:r>
              <a:rPr sz="1000" spc="-25" dirty="0">
                <a:latin typeface="Times New Roman"/>
                <a:cs typeface="Times New Roman"/>
              </a:rPr>
              <a:t>ID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Name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Person</a:t>
            </a:r>
            <a:r>
              <a:rPr sz="1000" spc="500" dirty="0">
                <a:latin typeface="Times New Roman"/>
                <a:cs typeface="Times New Roman"/>
              </a:rPr>
              <a:t> </a:t>
            </a:r>
            <a:r>
              <a:rPr sz="1500" baseline="2777" dirty="0">
                <a:latin typeface="Times New Roman"/>
                <a:cs typeface="Times New Roman"/>
              </a:rPr>
              <a:t>1</a:t>
            </a:r>
            <a:r>
              <a:rPr sz="1500" spc="112" baseline="2777" dirty="0">
                <a:latin typeface="Times New Roman"/>
                <a:cs typeface="Times New Roman"/>
              </a:rPr>
              <a:t> </a:t>
            </a:r>
            <a:r>
              <a:rPr sz="1500" spc="-75" baseline="2777" dirty="0">
                <a:latin typeface="Times New Roman"/>
                <a:cs typeface="Times New Roman"/>
              </a:rPr>
              <a:t>2</a:t>
            </a:r>
            <a:r>
              <a:rPr sz="1500" baseline="2777" dirty="0">
                <a:latin typeface="Times New Roman"/>
                <a:cs typeface="Times New Roman"/>
              </a:rPr>
              <a:t>	</a:t>
            </a:r>
            <a:r>
              <a:rPr sz="1000" dirty="0">
                <a:latin typeface="Times New Roman"/>
                <a:cs typeface="Times New Roman"/>
              </a:rPr>
              <a:t>Dr.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Vinod</a:t>
            </a:r>
            <a:r>
              <a:rPr sz="1000" spc="-20" dirty="0">
                <a:latin typeface="Times New Roman"/>
                <a:cs typeface="Times New Roman"/>
              </a:rPr>
              <a:t> Wadne</a:t>
            </a:r>
            <a:endParaRPr sz="1000">
              <a:latin typeface="Times New Roman"/>
              <a:cs typeface="Times New Roman"/>
            </a:endParaRPr>
          </a:p>
          <a:p>
            <a:pPr marL="354330" marR="523240" indent="-342265">
              <a:lnSpc>
                <a:spcPct val="100000"/>
              </a:lnSpc>
              <a:spcBef>
                <a:spcPts val="35"/>
              </a:spcBef>
              <a:tabLst>
                <a:tab pos="354330" algn="l"/>
              </a:tabLst>
            </a:pPr>
            <a:r>
              <a:rPr sz="1500" baseline="2777" dirty="0">
                <a:latin typeface="Times New Roman"/>
                <a:cs typeface="Times New Roman"/>
              </a:rPr>
              <a:t>3</a:t>
            </a:r>
            <a:r>
              <a:rPr sz="1500" spc="-7" baseline="2777" dirty="0">
                <a:latin typeface="Times New Roman"/>
                <a:cs typeface="Times New Roman"/>
              </a:rPr>
              <a:t> </a:t>
            </a:r>
            <a:r>
              <a:rPr sz="1500" spc="-75" baseline="2777" dirty="0">
                <a:latin typeface="Times New Roman"/>
                <a:cs typeface="Times New Roman"/>
              </a:rPr>
              <a:t>4</a:t>
            </a:r>
            <a:r>
              <a:rPr sz="1500" baseline="2777" dirty="0">
                <a:latin typeface="Times New Roman"/>
                <a:cs typeface="Times New Roman"/>
              </a:rPr>
              <a:t>	</a:t>
            </a:r>
            <a:r>
              <a:rPr sz="1000" spc="-20" dirty="0">
                <a:latin typeface="Times New Roman"/>
                <a:cs typeface="Times New Roman"/>
              </a:rPr>
              <a:t>Yash </a:t>
            </a:r>
            <a:r>
              <a:rPr sz="1000" spc="-10" dirty="0">
                <a:latin typeface="Times New Roman"/>
                <a:cs typeface="Times New Roman"/>
              </a:rPr>
              <a:t>Lokesh Mauli</a:t>
            </a:r>
            <a:endParaRPr sz="10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915388" y="3058125"/>
          <a:ext cx="3255645" cy="13614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8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pPr marL="31750">
                        <a:lnSpc>
                          <a:spcPts val="1060"/>
                        </a:lnSpc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Procedure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60"/>
                        </a:lnSpc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Time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ts val="106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Literature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Research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100"/>
                        </a:lnSpc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days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ts val="110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Analysis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100"/>
                        </a:lnSpc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days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ts val="110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Planning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Database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100"/>
                        </a:lnSpc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days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ts val="110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Required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Technologies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100"/>
                        </a:lnSpc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days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ts val="110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31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Implementation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100"/>
                        </a:lnSpc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days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ts val="110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27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Testing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100"/>
                        </a:lnSpc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days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ts val="110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Initial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Report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100"/>
                        </a:lnSpc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days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ts val="110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 marL="31750">
                        <a:lnSpc>
                          <a:spcPts val="106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Final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Report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060"/>
                        </a:lnSpc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days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089872" y="6592189"/>
            <a:ext cx="2884170" cy="1792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265" indent="-75565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88265" algn="l"/>
              </a:tabLst>
            </a:pPr>
            <a:r>
              <a:rPr sz="1000" spc="-10" dirty="0">
                <a:latin typeface="Times New Roman"/>
                <a:cs typeface="Times New Roman"/>
              </a:rPr>
              <a:t>Hardware</a:t>
            </a:r>
            <a:endParaRPr sz="1000">
              <a:latin typeface="Times New Roman"/>
              <a:cs typeface="Times New Roman"/>
            </a:endParaRPr>
          </a:p>
          <a:p>
            <a:pPr marL="386080" lvl="1" indent="-125095">
              <a:lnSpc>
                <a:spcPct val="100000"/>
              </a:lnSpc>
              <a:spcBef>
                <a:spcPts val="1030"/>
              </a:spcBef>
              <a:buAutoNum type="arabicPeriod"/>
              <a:tabLst>
                <a:tab pos="386080" algn="l"/>
              </a:tabLst>
            </a:pPr>
            <a:r>
              <a:rPr sz="1000" dirty="0">
                <a:latin typeface="Times New Roman"/>
                <a:cs typeface="Times New Roman"/>
              </a:rPr>
              <a:t>RAM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8GB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faster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processing</a:t>
            </a:r>
            <a:endParaRPr sz="1000">
              <a:latin typeface="Times New Roman"/>
              <a:cs typeface="Times New Roman"/>
            </a:endParaRPr>
          </a:p>
          <a:p>
            <a:pPr marL="386080" lvl="1" indent="-125095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386080" algn="l"/>
              </a:tabLst>
            </a:pPr>
            <a:r>
              <a:rPr sz="1000" dirty="0">
                <a:latin typeface="Times New Roman"/>
                <a:cs typeface="Times New Roman"/>
              </a:rPr>
              <a:t>CPU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3GHz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sufficient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processing</a:t>
            </a:r>
            <a:r>
              <a:rPr sz="1000" spc="-20" dirty="0">
                <a:latin typeface="Times New Roman"/>
                <a:cs typeface="Times New Roman"/>
              </a:rPr>
              <a:t> power</a:t>
            </a:r>
            <a:endParaRPr sz="1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Times New Roman"/>
              <a:buAutoNum type="arabicPeriod"/>
            </a:pPr>
            <a:endParaRPr sz="1000">
              <a:latin typeface="Times New Roman"/>
              <a:cs typeface="Times New Roman"/>
            </a:endParaRPr>
          </a:p>
          <a:p>
            <a:pPr marL="88265" indent="-75565">
              <a:lnSpc>
                <a:spcPts val="1155"/>
              </a:lnSpc>
              <a:spcBef>
                <a:spcPts val="5"/>
              </a:spcBef>
              <a:buFont typeface="Times New Roman"/>
              <a:buChar char="•"/>
              <a:tabLst>
                <a:tab pos="88265" algn="l"/>
              </a:tabLst>
            </a:pPr>
            <a:r>
              <a:rPr sz="1000" spc="-10" dirty="0">
                <a:latin typeface="Times New Roman"/>
                <a:cs typeface="Times New Roman"/>
              </a:rPr>
              <a:t>Software</a:t>
            </a:r>
            <a:endParaRPr sz="1000">
              <a:latin typeface="Times New Roman"/>
              <a:cs typeface="Times New Roman"/>
            </a:endParaRPr>
          </a:p>
          <a:p>
            <a:pPr marL="387350" lvl="1" indent="-126364">
              <a:lnSpc>
                <a:spcPts val="1155"/>
              </a:lnSpc>
              <a:buAutoNum type="arabicPeriod"/>
              <a:tabLst>
                <a:tab pos="387350" algn="l"/>
              </a:tabLst>
            </a:pPr>
            <a:r>
              <a:rPr sz="1000" dirty="0">
                <a:latin typeface="Times New Roman"/>
                <a:cs typeface="Times New Roman"/>
              </a:rPr>
              <a:t>Platform: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Pycharm,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Anaconda,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Jupiter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Notebook</a:t>
            </a:r>
            <a:endParaRPr sz="1000">
              <a:latin typeface="Times New Roman"/>
              <a:cs typeface="Times New Roman"/>
            </a:endParaRPr>
          </a:p>
          <a:p>
            <a:pPr marL="387350" lvl="1" indent="-126364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387350" algn="l"/>
              </a:tabLst>
            </a:pPr>
            <a:r>
              <a:rPr sz="1000" dirty="0">
                <a:latin typeface="Times New Roman"/>
                <a:cs typeface="Times New Roman"/>
              </a:rPr>
              <a:t>Operating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System: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Windows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(Ubuntu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14.04)</a:t>
            </a:r>
            <a:endParaRPr sz="1000">
              <a:latin typeface="Times New Roman"/>
              <a:cs typeface="Times New Roman"/>
            </a:endParaRPr>
          </a:p>
          <a:p>
            <a:pPr marL="386080" lvl="1" indent="-12509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386080" algn="l"/>
              </a:tabLst>
            </a:pPr>
            <a:r>
              <a:rPr sz="1000" spc="-10" dirty="0">
                <a:latin typeface="Times New Roman"/>
                <a:cs typeface="Times New Roman"/>
              </a:rPr>
              <a:t>Programming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Language: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Python</a:t>
            </a:r>
            <a:endParaRPr sz="1000">
              <a:latin typeface="Times New Roman"/>
              <a:cs typeface="Times New Roman"/>
            </a:endParaRPr>
          </a:p>
          <a:p>
            <a:pPr marL="387350" lvl="1" indent="-126364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87350" algn="l"/>
              </a:tabLst>
            </a:pPr>
            <a:r>
              <a:rPr sz="1000" dirty="0">
                <a:latin typeface="Times New Roman"/>
                <a:cs typeface="Times New Roman"/>
              </a:rPr>
              <a:t>Framework: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Flask,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Django,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etc.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56372" y="5368609"/>
            <a:ext cx="80708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Responsibility </a:t>
            </a:r>
            <a:r>
              <a:rPr sz="1000" dirty="0">
                <a:latin typeface="Times New Roman"/>
                <a:cs typeface="Times New Roman"/>
              </a:rPr>
              <a:t>Project</a:t>
            </a:r>
            <a:r>
              <a:rPr sz="1000" spc="175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Guide Developer Developer Developer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0825" y="831847"/>
            <a:ext cx="3630295" cy="725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8395">
              <a:lnSpc>
                <a:spcPct val="100000"/>
              </a:lnSpc>
              <a:spcBef>
                <a:spcPts val="100"/>
              </a:spcBef>
              <a:tabLst>
                <a:tab pos="2672080" algn="l"/>
              </a:tabLst>
            </a:pPr>
            <a:r>
              <a:rPr sz="1400" b="1" spc="-50" dirty="0">
                <a:latin typeface="Times New Roman"/>
                <a:cs typeface="Times New Roman"/>
              </a:rPr>
              <a:t>5</a:t>
            </a:r>
            <a:r>
              <a:rPr sz="1400" b="1" dirty="0">
                <a:latin typeface="Times New Roman"/>
                <a:cs typeface="Times New Roman"/>
              </a:rPr>
              <a:t>	Project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Plan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3695" algn="l"/>
              </a:tabLst>
            </a:pPr>
            <a:r>
              <a:rPr sz="1200" b="1" spc="-25" dirty="0">
                <a:latin typeface="Times New Roman"/>
                <a:cs typeface="Times New Roman"/>
              </a:rPr>
              <a:t>5.1</a:t>
            </a:r>
            <a:r>
              <a:rPr sz="1200" b="1" dirty="0">
                <a:latin typeface="Times New Roman"/>
                <a:cs typeface="Times New Roman"/>
              </a:rPr>
              <a:t>	Project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Estimates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0825" y="1563852"/>
            <a:ext cx="2832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Times New Roman"/>
                <a:cs typeface="Times New Roman"/>
              </a:rPr>
              <a:t>5.1.1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0825" y="4990934"/>
            <a:ext cx="13792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imes New Roman"/>
                <a:cs typeface="Times New Roman"/>
              </a:rPr>
              <a:t>5.1.2</a:t>
            </a:r>
            <a:r>
              <a:rPr sz="1000" b="1" spc="204" dirty="0">
                <a:latin typeface="Times New Roman"/>
                <a:cs typeface="Times New Roman"/>
              </a:rPr>
              <a:t>  </a:t>
            </a:r>
            <a:r>
              <a:rPr sz="1000" b="1" dirty="0">
                <a:latin typeface="Times New Roman"/>
                <a:cs typeface="Times New Roman"/>
              </a:rPr>
              <a:t>Project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Resources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80396" y="1657832"/>
            <a:ext cx="11760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imes New Roman"/>
                <a:cs typeface="Times New Roman"/>
              </a:rPr>
              <a:t>Reconciled</a:t>
            </a:r>
            <a:r>
              <a:rPr sz="1000" b="1" spc="-5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Estimates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513" y="1375226"/>
            <a:ext cx="1360170" cy="14624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200" spc="-135" dirty="0">
                <a:latin typeface="Arial Black"/>
                <a:cs typeface="Arial Black"/>
              </a:rPr>
              <a:t>Risk</a:t>
            </a:r>
            <a:r>
              <a:rPr sz="1200" spc="-90" dirty="0">
                <a:latin typeface="Arial Black"/>
                <a:cs typeface="Arial Black"/>
              </a:rPr>
              <a:t> </a:t>
            </a:r>
            <a:r>
              <a:rPr sz="1200" spc="-25" dirty="0">
                <a:latin typeface="Arial Black"/>
                <a:cs typeface="Arial Black"/>
              </a:rPr>
              <a:t>ID</a:t>
            </a: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Arial Black"/>
              <a:cs typeface="Arial Black"/>
            </a:endParaRPr>
          </a:p>
          <a:p>
            <a:pPr algn="r">
              <a:lnSpc>
                <a:spcPct val="100000"/>
              </a:lnSpc>
              <a:spcBef>
                <a:spcPts val="5"/>
              </a:spcBef>
            </a:pPr>
            <a:r>
              <a:rPr sz="1200" spc="-5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200">
              <a:latin typeface="Verdana"/>
              <a:cs typeface="Verdana"/>
            </a:endParaRPr>
          </a:p>
          <a:p>
            <a:pPr algn="r">
              <a:lnSpc>
                <a:spcPct val="100000"/>
              </a:lnSpc>
            </a:pPr>
            <a:r>
              <a:rPr sz="1200" spc="-50" dirty="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200">
              <a:latin typeface="Verdana"/>
              <a:cs typeface="Verdana"/>
            </a:endParaRPr>
          </a:p>
          <a:p>
            <a:pPr algn="r">
              <a:lnSpc>
                <a:spcPct val="100000"/>
              </a:lnSpc>
            </a:pPr>
            <a:r>
              <a:rPr sz="1200" spc="-5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45083" y="1375226"/>
            <a:ext cx="1283970" cy="15862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200" spc="-135" dirty="0">
                <a:latin typeface="Arial Black"/>
                <a:cs typeface="Arial Black"/>
              </a:rPr>
              <a:t>Risk</a:t>
            </a:r>
            <a:r>
              <a:rPr sz="1200" spc="-90" dirty="0">
                <a:latin typeface="Arial Black"/>
                <a:cs typeface="Arial Black"/>
              </a:rPr>
              <a:t> </a:t>
            </a:r>
            <a:r>
              <a:rPr sz="1200" spc="-20" dirty="0">
                <a:latin typeface="Arial Black"/>
                <a:cs typeface="Arial Black"/>
              </a:rPr>
              <a:t>Description</a:t>
            </a:r>
            <a:endParaRPr sz="1200">
              <a:latin typeface="Arial Black"/>
              <a:cs typeface="Arial Black"/>
            </a:endParaRPr>
          </a:p>
          <a:p>
            <a:pPr>
              <a:lnSpc>
                <a:spcPts val="1350"/>
              </a:lnSpc>
              <a:spcBef>
                <a:spcPts val="1595"/>
              </a:spcBef>
            </a:pPr>
            <a:r>
              <a:rPr sz="1200" spc="-30" dirty="0">
                <a:latin typeface="Verdana"/>
                <a:cs typeface="Verdana"/>
              </a:rPr>
              <a:t>Unauthorized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API </a:t>
            </a:r>
            <a:r>
              <a:rPr sz="1200" spc="-10" dirty="0">
                <a:latin typeface="Verdana"/>
                <a:cs typeface="Verdana"/>
              </a:rPr>
              <a:t>access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r>
              <a:rPr sz="1200" dirty="0">
                <a:latin typeface="Verdana"/>
                <a:cs typeface="Verdana"/>
              </a:rPr>
              <a:t>Model</a:t>
            </a:r>
            <a:r>
              <a:rPr sz="1200" spc="-4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Scalability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200">
              <a:latin typeface="Verdana"/>
              <a:cs typeface="Verdana"/>
            </a:endParaRPr>
          </a:p>
          <a:p>
            <a:pPr marR="396875">
              <a:lnSpc>
                <a:spcPts val="1350"/>
              </a:lnSpc>
            </a:pPr>
            <a:r>
              <a:rPr sz="1200" spc="-25" dirty="0">
                <a:latin typeface="Verdana"/>
                <a:cs typeface="Verdana"/>
              </a:rPr>
              <a:t>End</a:t>
            </a:r>
            <a:r>
              <a:rPr sz="1200" spc="-10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User's </a:t>
            </a:r>
            <a:r>
              <a:rPr sz="1200" spc="-20" dirty="0">
                <a:latin typeface="Verdana"/>
                <a:cs typeface="Verdana"/>
              </a:rPr>
              <a:t>Satisfaction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7653" y="1375226"/>
            <a:ext cx="831215" cy="14624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200" spc="-60" dirty="0">
                <a:latin typeface="Arial Black"/>
                <a:cs typeface="Arial Black"/>
              </a:rPr>
              <a:t>Probability</a:t>
            </a:r>
            <a:endParaRPr sz="1200">
              <a:latin typeface="Arial Black"/>
              <a:cs typeface="Arial Black"/>
            </a:endParaRPr>
          </a:p>
          <a:p>
            <a:pPr marR="224790" algn="just">
              <a:lnSpc>
                <a:spcPct val="228600"/>
              </a:lnSpc>
            </a:pPr>
            <a:r>
              <a:rPr sz="1200" spc="-10" dirty="0">
                <a:latin typeface="Verdana"/>
                <a:cs typeface="Verdana"/>
              </a:rPr>
              <a:t>Medium Medium </a:t>
            </a:r>
            <a:r>
              <a:rPr sz="1200" spc="-20" dirty="0">
                <a:latin typeface="Verdana"/>
                <a:cs typeface="Verdana"/>
              </a:rPr>
              <a:t>High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0222" y="1375226"/>
            <a:ext cx="904875" cy="14624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200" spc="-10" dirty="0">
                <a:latin typeface="Arial Black"/>
                <a:cs typeface="Arial Black"/>
              </a:rPr>
              <a:t>Impact</a:t>
            </a: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latin typeface="Verdana"/>
                <a:cs typeface="Verdana"/>
              </a:rPr>
              <a:t>Medium</a:t>
            </a:r>
            <a:r>
              <a:rPr sz="1200" spc="-80" dirty="0">
                <a:latin typeface="Verdana"/>
                <a:cs typeface="Verdana"/>
              </a:rPr>
              <a:t> </a:t>
            </a:r>
            <a:r>
              <a:rPr sz="1200" spc="-65" dirty="0">
                <a:latin typeface="Verdana"/>
                <a:cs typeface="Verdana"/>
              </a:rPr>
              <a:t>159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sz="1200" spc="-40" dirty="0">
                <a:latin typeface="Verdana"/>
                <a:cs typeface="Verdana"/>
              </a:rPr>
              <a:t>High</a:t>
            </a:r>
            <a:r>
              <a:rPr sz="1200" spc="-105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160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sz="1200" spc="-40" dirty="0">
                <a:latin typeface="Verdana"/>
                <a:cs typeface="Verdana"/>
              </a:rPr>
              <a:t>High</a:t>
            </a:r>
            <a:r>
              <a:rPr sz="1200" spc="-105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161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51724" y="1266921"/>
            <a:ext cx="6059805" cy="1681480"/>
            <a:chOff x="751724" y="1266921"/>
            <a:chExt cx="6059805" cy="1681480"/>
          </a:xfrm>
        </p:grpSpPr>
        <p:sp>
          <p:nvSpPr>
            <p:cNvPr id="7" name="object 7"/>
            <p:cNvSpPr/>
            <p:nvPr/>
          </p:nvSpPr>
          <p:spPr>
            <a:xfrm>
              <a:off x="756488" y="1276450"/>
              <a:ext cx="6050280" cy="1662430"/>
            </a:xfrm>
            <a:custGeom>
              <a:avLst/>
              <a:gdLst/>
              <a:ahLst/>
              <a:cxnLst/>
              <a:rect l="l" t="t" r="r" b="b"/>
              <a:pathLst>
                <a:path w="6050280" h="1662430">
                  <a:moveTo>
                    <a:pt x="6049797" y="0"/>
                  </a:moveTo>
                  <a:lnTo>
                    <a:pt x="4537341" y="0"/>
                  </a:lnTo>
                  <a:lnTo>
                    <a:pt x="3024898" y="0"/>
                  </a:lnTo>
                  <a:lnTo>
                    <a:pt x="1512443" y="0"/>
                  </a:lnTo>
                  <a:lnTo>
                    <a:pt x="0" y="0"/>
                  </a:lnTo>
                  <a:lnTo>
                    <a:pt x="0" y="1662303"/>
                  </a:lnTo>
                  <a:lnTo>
                    <a:pt x="1512443" y="1662303"/>
                  </a:lnTo>
                  <a:lnTo>
                    <a:pt x="3024898" y="1662303"/>
                  </a:lnTo>
                  <a:lnTo>
                    <a:pt x="4537341" y="1662303"/>
                  </a:lnTo>
                  <a:lnTo>
                    <a:pt x="6049797" y="1662303"/>
                  </a:lnTo>
                  <a:lnTo>
                    <a:pt x="60497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1724" y="1271685"/>
              <a:ext cx="6059805" cy="1671955"/>
            </a:xfrm>
            <a:custGeom>
              <a:avLst/>
              <a:gdLst/>
              <a:ahLst/>
              <a:cxnLst/>
              <a:rect l="l" t="t" r="r" b="b"/>
              <a:pathLst>
                <a:path w="6059805" h="1671955">
                  <a:moveTo>
                    <a:pt x="4763" y="4763"/>
                  </a:moveTo>
                  <a:lnTo>
                    <a:pt x="4763" y="1667056"/>
                  </a:lnTo>
                </a:path>
                <a:path w="6059805" h="1671955">
                  <a:moveTo>
                    <a:pt x="1517214" y="4763"/>
                  </a:moveTo>
                  <a:lnTo>
                    <a:pt x="1517214" y="1667056"/>
                  </a:lnTo>
                </a:path>
                <a:path w="6059805" h="1671955">
                  <a:moveTo>
                    <a:pt x="3029664" y="4763"/>
                  </a:moveTo>
                  <a:lnTo>
                    <a:pt x="3029664" y="1667056"/>
                  </a:lnTo>
                </a:path>
                <a:path w="6059805" h="1671955">
                  <a:moveTo>
                    <a:pt x="4542114" y="4763"/>
                  </a:moveTo>
                  <a:lnTo>
                    <a:pt x="4542114" y="1667056"/>
                  </a:lnTo>
                </a:path>
                <a:path w="6059805" h="1671955">
                  <a:moveTo>
                    <a:pt x="6054564" y="4763"/>
                  </a:moveTo>
                  <a:lnTo>
                    <a:pt x="6054564" y="1667056"/>
                  </a:lnTo>
                </a:path>
                <a:path w="6059805" h="1671955">
                  <a:moveTo>
                    <a:pt x="0" y="0"/>
                  </a:moveTo>
                  <a:lnTo>
                    <a:pt x="6059328" y="0"/>
                  </a:lnTo>
                </a:path>
                <a:path w="6059805" h="1671955">
                  <a:moveTo>
                    <a:pt x="0" y="417955"/>
                  </a:moveTo>
                  <a:lnTo>
                    <a:pt x="6059328" y="417955"/>
                  </a:lnTo>
                </a:path>
                <a:path w="6059805" h="1671955">
                  <a:moveTo>
                    <a:pt x="0" y="835910"/>
                  </a:moveTo>
                  <a:lnTo>
                    <a:pt x="6059328" y="835910"/>
                  </a:lnTo>
                </a:path>
                <a:path w="6059805" h="1671955">
                  <a:moveTo>
                    <a:pt x="0" y="1253865"/>
                  </a:moveTo>
                  <a:lnTo>
                    <a:pt x="6059328" y="1253865"/>
                  </a:lnTo>
                </a:path>
                <a:path w="6059805" h="1671955">
                  <a:moveTo>
                    <a:pt x="0" y="1671820"/>
                  </a:moveTo>
                  <a:lnTo>
                    <a:pt x="6059328" y="1671820"/>
                  </a:lnTo>
                </a:path>
              </a:pathLst>
            </a:custGeom>
            <a:ln w="95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27662" y="4347810"/>
            <a:ext cx="1734185" cy="474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160" dirty="0">
                <a:latin typeface="Arial Black"/>
                <a:cs typeface="Arial Black"/>
              </a:rPr>
              <a:t>Risk</a:t>
            </a:r>
            <a:r>
              <a:rPr sz="1500" spc="-120" dirty="0">
                <a:latin typeface="Arial Black"/>
                <a:cs typeface="Arial Black"/>
              </a:rPr>
              <a:t> </a:t>
            </a:r>
            <a:r>
              <a:rPr sz="1500" spc="-25" dirty="0">
                <a:latin typeface="Arial Black"/>
                <a:cs typeface="Arial Black"/>
              </a:rPr>
              <a:t>ID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1500">
              <a:latin typeface="Arial Black"/>
              <a:cs typeface="Arial Black"/>
            </a:endParaRPr>
          </a:p>
          <a:p>
            <a:pPr algn="r">
              <a:lnSpc>
                <a:spcPct val="100000"/>
              </a:lnSpc>
            </a:pPr>
            <a:r>
              <a:rPr sz="1500" spc="-50" dirty="0">
                <a:latin typeface="Verdana"/>
                <a:cs typeface="Verdana"/>
              </a:rPr>
              <a:t>1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500">
              <a:latin typeface="Verdana"/>
              <a:cs typeface="Verdana"/>
            </a:endParaRPr>
          </a:p>
          <a:p>
            <a:pPr algn="r">
              <a:lnSpc>
                <a:spcPct val="100000"/>
              </a:lnSpc>
            </a:pPr>
            <a:r>
              <a:rPr sz="1500" spc="-50" dirty="0">
                <a:latin typeface="Verdana"/>
                <a:cs typeface="Verdana"/>
              </a:rPr>
              <a:t>2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500">
              <a:latin typeface="Verdana"/>
              <a:cs typeface="Verdana"/>
            </a:endParaRPr>
          </a:p>
          <a:p>
            <a:pPr algn="r">
              <a:lnSpc>
                <a:spcPct val="100000"/>
              </a:lnSpc>
              <a:spcBef>
                <a:spcPts val="5"/>
              </a:spcBef>
            </a:pPr>
            <a:r>
              <a:rPr sz="1500" spc="-50" dirty="0">
                <a:latin typeface="Verdana"/>
                <a:cs typeface="Verdana"/>
              </a:rPr>
              <a:t>3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14323" y="4347810"/>
            <a:ext cx="1602740" cy="4846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160" dirty="0">
                <a:latin typeface="Arial Black"/>
                <a:cs typeface="Arial Black"/>
              </a:rPr>
              <a:t>Risk</a:t>
            </a:r>
            <a:r>
              <a:rPr sz="1500" spc="-120" dirty="0">
                <a:latin typeface="Arial Black"/>
                <a:cs typeface="Arial Black"/>
              </a:rPr>
              <a:t> </a:t>
            </a:r>
            <a:r>
              <a:rPr sz="1500" spc="-20" dirty="0">
                <a:latin typeface="Arial Black"/>
                <a:cs typeface="Arial Black"/>
              </a:rPr>
              <a:t>Description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ts val="1730"/>
              </a:lnSpc>
            </a:pPr>
            <a:r>
              <a:rPr sz="1500" spc="-25" dirty="0">
                <a:latin typeface="Verdana"/>
                <a:cs typeface="Verdana"/>
              </a:rPr>
              <a:t>Unauthorized</a:t>
            </a:r>
            <a:r>
              <a:rPr sz="1500" spc="-65" dirty="0">
                <a:latin typeface="Verdana"/>
                <a:cs typeface="Verdana"/>
              </a:rPr>
              <a:t> API </a:t>
            </a:r>
            <a:r>
              <a:rPr sz="1500" spc="-10" dirty="0">
                <a:latin typeface="Verdana"/>
                <a:cs typeface="Verdana"/>
              </a:rPr>
              <a:t>access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795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sz="1500" dirty="0">
                <a:latin typeface="Verdana"/>
                <a:cs typeface="Verdana"/>
              </a:rPr>
              <a:t>Model</a:t>
            </a:r>
            <a:r>
              <a:rPr sz="1500" spc="-3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Scalability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500">
              <a:latin typeface="Verdana"/>
              <a:cs typeface="Verdana"/>
            </a:endParaRPr>
          </a:p>
          <a:p>
            <a:pPr marR="497840">
              <a:lnSpc>
                <a:spcPts val="1730"/>
              </a:lnSpc>
            </a:pPr>
            <a:r>
              <a:rPr sz="1500" spc="-25" dirty="0">
                <a:latin typeface="Verdana"/>
                <a:cs typeface="Verdana"/>
              </a:rPr>
              <a:t>End</a:t>
            </a:r>
            <a:r>
              <a:rPr sz="1500" spc="-14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User's </a:t>
            </a:r>
            <a:r>
              <a:rPr sz="1500" spc="-25" dirty="0">
                <a:latin typeface="Verdana"/>
                <a:cs typeface="Verdana"/>
              </a:rPr>
              <a:t>Satisfaction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00984" y="4347810"/>
            <a:ext cx="1652270" cy="5065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 Black"/>
                <a:cs typeface="Arial Black"/>
              </a:rPr>
              <a:t>Strategy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ts val="1764"/>
              </a:lnSpc>
              <a:spcBef>
                <a:spcPts val="5"/>
              </a:spcBef>
            </a:pPr>
            <a:r>
              <a:rPr sz="1500" spc="-40" dirty="0">
                <a:latin typeface="Verdana"/>
                <a:cs typeface="Verdana"/>
              </a:rPr>
              <a:t>Secure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APIs</a:t>
            </a:r>
            <a:endParaRPr sz="1500">
              <a:latin typeface="Verdana"/>
              <a:cs typeface="Verdana"/>
            </a:endParaRPr>
          </a:p>
          <a:p>
            <a:pPr marR="85725">
              <a:lnSpc>
                <a:spcPts val="1730"/>
              </a:lnSpc>
              <a:spcBef>
                <a:spcPts val="75"/>
              </a:spcBef>
            </a:pPr>
            <a:r>
              <a:rPr sz="1500" spc="-40" dirty="0">
                <a:latin typeface="Verdana"/>
                <a:cs typeface="Verdana"/>
              </a:rPr>
              <a:t>maintain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privacy </a:t>
            </a:r>
            <a:r>
              <a:rPr sz="1500" spc="-40" dirty="0">
                <a:latin typeface="Verdana"/>
                <a:cs typeface="Verdana"/>
              </a:rPr>
              <a:t>during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cloud </a:t>
            </a:r>
            <a:r>
              <a:rPr sz="1500" spc="-55" dirty="0">
                <a:latin typeface="Verdana"/>
                <a:cs typeface="Verdana"/>
              </a:rPr>
              <a:t>transmission162.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05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ts val="1764"/>
              </a:lnSpc>
              <a:spcBef>
                <a:spcPts val="5"/>
              </a:spcBef>
            </a:pPr>
            <a:r>
              <a:rPr sz="1500" spc="-35" dirty="0">
                <a:latin typeface="Verdana"/>
                <a:cs typeface="Verdana"/>
              </a:rPr>
              <a:t>Use</a:t>
            </a:r>
            <a:r>
              <a:rPr sz="1500" spc="-14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hybrid</a:t>
            </a:r>
            <a:endParaRPr sz="1500">
              <a:latin typeface="Verdana"/>
              <a:cs typeface="Verdana"/>
            </a:endParaRPr>
          </a:p>
          <a:p>
            <a:pPr>
              <a:lnSpc>
                <a:spcPts val="1730"/>
              </a:lnSpc>
              <a:spcBef>
                <a:spcPts val="75"/>
              </a:spcBef>
            </a:pPr>
            <a:r>
              <a:rPr sz="1500" spc="-10" dirty="0">
                <a:latin typeface="Verdana"/>
                <a:cs typeface="Verdana"/>
              </a:rPr>
              <a:t>configuration; future</a:t>
            </a:r>
            <a:r>
              <a:rPr sz="1500" spc="-155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use</a:t>
            </a:r>
            <a:r>
              <a:rPr sz="1500" spc="-15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of </a:t>
            </a:r>
            <a:r>
              <a:rPr sz="1500" spc="-40" dirty="0">
                <a:latin typeface="Verdana"/>
                <a:cs typeface="Verdana"/>
              </a:rPr>
              <a:t>lightweight</a:t>
            </a:r>
            <a:r>
              <a:rPr sz="1500" spc="-5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neural architectures</a:t>
            </a:r>
            <a:r>
              <a:rPr sz="1500" spc="-3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and </a:t>
            </a:r>
            <a:r>
              <a:rPr sz="1500" spc="-10" dirty="0">
                <a:latin typeface="Verdana"/>
                <a:cs typeface="Verdana"/>
              </a:rPr>
              <a:t>federated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1500">
              <a:latin typeface="Verdana"/>
              <a:cs typeface="Verdana"/>
            </a:endParaRPr>
          </a:p>
          <a:p>
            <a:pPr marR="134620">
              <a:lnSpc>
                <a:spcPts val="1730"/>
              </a:lnSpc>
            </a:pPr>
            <a:r>
              <a:rPr sz="1500" spc="-25" dirty="0">
                <a:latin typeface="Verdana"/>
                <a:cs typeface="Verdana"/>
              </a:rPr>
              <a:t>Continuous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user </a:t>
            </a:r>
            <a:r>
              <a:rPr sz="1500" spc="-10" dirty="0">
                <a:latin typeface="Verdana"/>
                <a:cs typeface="Verdana"/>
              </a:rPr>
              <a:t>feedback, </a:t>
            </a:r>
            <a:r>
              <a:rPr sz="1500" spc="-30" dirty="0">
                <a:latin typeface="Verdana"/>
                <a:cs typeface="Verdana"/>
              </a:rPr>
              <a:t>transparency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in </a:t>
            </a:r>
            <a:r>
              <a:rPr sz="1500" spc="-30" dirty="0">
                <a:latin typeface="Verdana"/>
                <a:cs typeface="Verdana"/>
              </a:rPr>
              <a:t>data</a:t>
            </a:r>
            <a:r>
              <a:rPr sz="1500" spc="-14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use164.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46733" y="3727279"/>
            <a:ext cx="5669915" cy="5984875"/>
            <a:chOff x="946733" y="3727279"/>
            <a:chExt cx="5669915" cy="5984875"/>
          </a:xfrm>
        </p:grpSpPr>
        <p:sp>
          <p:nvSpPr>
            <p:cNvPr id="13" name="object 13"/>
            <p:cNvSpPr/>
            <p:nvPr/>
          </p:nvSpPr>
          <p:spPr>
            <a:xfrm>
              <a:off x="951496" y="3736809"/>
              <a:ext cx="5660390" cy="5965825"/>
            </a:xfrm>
            <a:custGeom>
              <a:avLst/>
              <a:gdLst/>
              <a:ahLst/>
              <a:cxnLst/>
              <a:rect l="l" t="t" r="r" b="b"/>
              <a:pathLst>
                <a:path w="5660390" h="5965825">
                  <a:moveTo>
                    <a:pt x="5659844" y="0"/>
                  </a:moveTo>
                  <a:lnTo>
                    <a:pt x="3773233" y="0"/>
                  </a:lnTo>
                  <a:lnTo>
                    <a:pt x="1886610" y="0"/>
                  </a:lnTo>
                  <a:lnTo>
                    <a:pt x="0" y="0"/>
                  </a:lnTo>
                  <a:lnTo>
                    <a:pt x="0" y="5965495"/>
                  </a:lnTo>
                  <a:lnTo>
                    <a:pt x="1886610" y="5965495"/>
                  </a:lnTo>
                  <a:lnTo>
                    <a:pt x="3773233" y="5965495"/>
                  </a:lnTo>
                  <a:lnTo>
                    <a:pt x="5659844" y="5965495"/>
                  </a:lnTo>
                  <a:lnTo>
                    <a:pt x="56598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46733" y="3732044"/>
              <a:ext cx="5669915" cy="5975350"/>
            </a:xfrm>
            <a:custGeom>
              <a:avLst/>
              <a:gdLst/>
              <a:ahLst/>
              <a:cxnLst/>
              <a:rect l="l" t="t" r="r" b="b"/>
              <a:pathLst>
                <a:path w="5669915" h="5975350">
                  <a:moveTo>
                    <a:pt x="4764" y="4764"/>
                  </a:moveTo>
                  <a:lnTo>
                    <a:pt x="4764" y="5970257"/>
                  </a:lnTo>
                </a:path>
                <a:path w="5669915" h="5975350">
                  <a:moveTo>
                    <a:pt x="1891382" y="4764"/>
                  </a:moveTo>
                  <a:lnTo>
                    <a:pt x="1891382" y="5970257"/>
                  </a:lnTo>
                </a:path>
                <a:path w="5669915" h="5975350">
                  <a:moveTo>
                    <a:pt x="3777999" y="4764"/>
                  </a:moveTo>
                  <a:lnTo>
                    <a:pt x="3777999" y="5970257"/>
                  </a:lnTo>
                </a:path>
                <a:path w="5669915" h="5975350">
                  <a:moveTo>
                    <a:pt x="5664617" y="4764"/>
                  </a:moveTo>
                  <a:lnTo>
                    <a:pt x="5664617" y="5970257"/>
                  </a:lnTo>
                </a:path>
                <a:path w="5669915" h="5975350">
                  <a:moveTo>
                    <a:pt x="0" y="0"/>
                  </a:moveTo>
                  <a:lnTo>
                    <a:pt x="5669381" y="0"/>
                  </a:lnTo>
                </a:path>
                <a:path w="5669915" h="5975350">
                  <a:moveTo>
                    <a:pt x="0" y="1493755"/>
                  </a:moveTo>
                  <a:lnTo>
                    <a:pt x="5669381" y="1493755"/>
                  </a:lnTo>
                </a:path>
                <a:path w="5669915" h="5975350">
                  <a:moveTo>
                    <a:pt x="0" y="2987510"/>
                  </a:moveTo>
                  <a:lnTo>
                    <a:pt x="5669381" y="2987510"/>
                  </a:lnTo>
                </a:path>
                <a:path w="5669915" h="5975350">
                  <a:moveTo>
                    <a:pt x="0" y="4481266"/>
                  </a:moveTo>
                  <a:lnTo>
                    <a:pt x="5669381" y="4481266"/>
                  </a:lnTo>
                </a:path>
                <a:path w="5669915" h="5975350">
                  <a:moveTo>
                    <a:pt x="0" y="5975021"/>
                  </a:moveTo>
                  <a:lnTo>
                    <a:pt x="5669381" y="5975021"/>
                  </a:lnTo>
                </a:path>
              </a:pathLst>
            </a:custGeom>
            <a:ln w="9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00825" y="854315"/>
            <a:ext cx="3733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3695" algn="l"/>
              </a:tabLst>
            </a:pPr>
            <a:r>
              <a:rPr sz="1200" b="1" spc="-25" dirty="0">
                <a:latin typeface="Times New Roman"/>
                <a:cs typeface="Times New Roman"/>
              </a:rPr>
              <a:t>5.2</a:t>
            </a:r>
            <a:r>
              <a:rPr sz="1200" b="1" dirty="0">
                <a:latin typeface="Times New Roman"/>
                <a:cs typeface="Times New Roman"/>
              </a:rPr>
              <a:t>	Risk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Management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with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respect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NP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Hard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analysis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00825" y="3059298"/>
            <a:ext cx="1417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imes New Roman"/>
                <a:cs typeface="Times New Roman"/>
              </a:rPr>
              <a:t>5.2.1</a:t>
            </a:r>
            <a:r>
              <a:rPr sz="1000" b="1" spc="225" dirty="0">
                <a:latin typeface="Times New Roman"/>
                <a:cs typeface="Times New Roman"/>
              </a:rPr>
              <a:t>  </a:t>
            </a:r>
            <a:r>
              <a:rPr sz="1000" b="1" dirty="0">
                <a:latin typeface="Times New Roman"/>
                <a:cs typeface="Times New Roman"/>
              </a:rPr>
              <a:t>Risk </a:t>
            </a:r>
            <a:r>
              <a:rPr sz="1000" b="1" spc="-10" dirty="0">
                <a:latin typeface="Times New Roman"/>
                <a:cs typeface="Times New Roman"/>
              </a:rPr>
              <a:t>Identification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05397" y="3158537"/>
            <a:ext cx="3030220" cy="5219065"/>
            <a:chOff x="2405397" y="3158537"/>
            <a:chExt cx="3030220" cy="52190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2839" y="5633179"/>
              <a:ext cx="2972919" cy="274423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5397" y="3158537"/>
              <a:ext cx="3030091" cy="2458375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914744" y="598404"/>
            <a:ext cx="6008370" cy="5080"/>
          </a:xfrm>
          <a:custGeom>
            <a:avLst/>
            <a:gdLst/>
            <a:ahLst/>
            <a:cxnLst/>
            <a:rect l="l" t="t" r="r" b="b"/>
            <a:pathLst>
              <a:path w="6008370" h="5079">
                <a:moveTo>
                  <a:pt x="6008093" y="5056"/>
                </a:moveTo>
                <a:lnTo>
                  <a:pt x="0" y="5056"/>
                </a:lnTo>
                <a:lnTo>
                  <a:pt x="0" y="0"/>
                </a:lnTo>
                <a:lnTo>
                  <a:pt x="6008093" y="0"/>
                </a:lnTo>
                <a:lnTo>
                  <a:pt x="6008093" y="50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4744" y="10002493"/>
            <a:ext cx="6008370" cy="6350"/>
          </a:xfrm>
          <a:custGeom>
            <a:avLst/>
            <a:gdLst/>
            <a:ahLst/>
            <a:cxnLst/>
            <a:rect l="l" t="t" r="r" b="b"/>
            <a:pathLst>
              <a:path w="6008370" h="6350">
                <a:moveTo>
                  <a:pt x="6008085" y="6326"/>
                </a:moveTo>
                <a:lnTo>
                  <a:pt x="0" y="6326"/>
                </a:lnTo>
                <a:lnTo>
                  <a:pt x="0" y="0"/>
                </a:lnTo>
                <a:lnTo>
                  <a:pt x="6008085" y="0"/>
                </a:lnTo>
                <a:lnTo>
                  <a:pt x="6008085" y="63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15627" y="1426239"/>
            <a:ext cx="4011536" cy="82898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694222" y="4446391"/>
            <a:ext cx="5886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Probability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799930" y="4741777"/>
            <a:ext cx="3771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Impact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33081" y="5037163"/>
            <a:ext cx="5111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Response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72932" y="5332550"/>
            <a:ext cx="5994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Risk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Status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79165" y="3281286"/>
            <a:ext cx="4248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Risk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ID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49139" y="3567144"/>
            <a:ext cx="8845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Risk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Description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29587" y="3853002"/>
            <a:ext cx="4914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Category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08132" y="5757389"/>
            <a:ext cx="4248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Risk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ID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78106" y="6043247"/>
            <a:ext cx="8845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Risk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Description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74633" y="6329104"/>
            <a:ext cx="4914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Category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31209" y="6614962"/>
            <a:ext cx="378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Source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24757" y="6900819"/>
            <a:ext cx="5911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Probability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31209" y="7186677"/>
            <a:ext cx="378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Impact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64062" y="7472535"/>
            <a:ext cx="5130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Response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95626" y="7758393"/>
            <a:ext cx="449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Strategy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03466" y="8044250"/>
            <a:ext cx="601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Risk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Status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57247" y="2406399"/>
            <a:ext cx="1125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Table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5.1: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Risk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Table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09736" y="4446391"/>
            <a:ext cx="45465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Medium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09736" y="4741777"/>
            <a:ext cx="45465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Medium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09736" y="5037163"/>
            <a:ext cx="45465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Mitigate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62093" y="5332550"/>
            <a:ext cx="51815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Identified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99813" y="3281286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94152" y="3567144"/>
            <a:ext cx="13004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unauthorized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API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access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74797" y="3853002"/>
            <a:ext cx="13061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End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User’s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Environment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00987" y="5757389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72349" y="6043247"/>
            <a:ext cx="9461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Model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Scalability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733836" y="6329104"/>
            <a:ext cx="1423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Development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Environment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94631" y="6614962"/>
            <a:ext cx="1101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Prediction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disease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15626" y="6900819"/>
            <a:ext cx="459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Medium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04510" y="7186677"/>
            <a:ext cx="281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imes New Roman"/>
                <a:cs typeface="Times New Roman"/>
              </a:rPr>
              <a:t>High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39596" y="7472535"/>
            <a:ext cx="4121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Serious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099943" y="7758393"/>
            <a:ext cx="6908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API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used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65452" y="8044250"/>
            <a:ext cx="527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Identified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00825" y="889447"/>
            <a:ext cx="4326890" cy="458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imes New Roman"/>
                <a:cs typeface="Times New Roman"/>
              </a:rPr>
              <a:t>5.2.2</a:t>
            </a:r>
            <a:r>
              <a:rPr sz="1000" b="1" spc="225" dirty="0">
                <a:latin typeface="Times New Roman"/>
                <a:cs typeface="Times New Roman"/>
              </a:rPr>
              <a:t>  </a:t>
            </a:r>
            <a:r>
              <a:rPr sz="1000" b="1" dirty="0">
                <a:latin typeface="Times New Roman"/>
                <a:cs typeface="Times New Roman"/>
              </a:rPr>
              <a:t>Risk </a:t>
            </a:r>
            <a:r>
              <a:rPr sz="1000" b="1" spc="-10" dirty="0">
                <a:latin typeface="Times New Roman"/>
                <a:cs typeface="Times New Roman"/>
              </a:rPr>
              <a:t>Analysis</a:t>
            </a:r>
            <a:endParaRPr sz="1000">
              <a:latin typeface="Times New Roman"/>
              <a:cs typeface="Times New Roman"/>
            </a:endParaRPr>
          </a:p>
          <a:p>
            <a:pPr marL="121920">
              <a:lnSpc>
                <a:spcPct val="100000"/>
              </a:lnSpc>
              <a:spcBef>
                <a:spcPts val="1015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risks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Project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analyzed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within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constraints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time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quality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50780" y="1438218"/>
            <a:ext cx="1478280" cy="7118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458470" algn="l"/>
              </a:tabLst>
            </a:pPr>
            <a:r>
              <a:rPr sz="1000" spc="-25" dirty="0">
                <a:latin typeface="Times New Roman"/>
                <a:cs typeface="Times New Roman"/>
              </a:rPr>
              <a:t>ID</a:t>
            </a:r>
            <a:r>
              <a:rPr sz="1000" dirty="0">
                <a:latin typeface="Times New Roman"/>
                <a:cs typeface="Times New Roman"/>
              </a:rPr>
              <a:t>	Risk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Description</a:t>
            </a:r>
            <a:endParaRPr sz="1000">
              <a:latin typeface="Times New Roman"/>
              <a:cs typeface="Times New Roman"/>
            </a:endParaRPr>
          </a:p>
          <a:p>
            <a:pPr marL="445134" indent="-397510">
              <a:lnSpc>
                <a:spcPct val="100000"/>
              </a:lnSpc>
              <a:spcBef>
                <a:spcPts val="600"/>
              </a:spcBef>
              <a:buAutoNum type="arabicPlain"/>
              <a:tabLst>
                <a:tab pos="445134" algn="l"/>
              </a:tabLst>
            </a:pPr>
            <a:r>
              <a:rPr sz="1000" dirty="0">
                <a:latin typeface="Times New Roman"/>
                <a:cs typeface="Times New Roman"/>
              </a:rPr>
              <a:t>Usage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Product</a:t>
            </a:r>
            <a:endParaRPr sz="1000">
              <a:latin typeface="Times New Roman"/>
              <a:cs typeface="Times New Roman"/>
            </a:endParaRPr>
          </a:p>
          <a:p>
            <a:pPr marL="307340" indent="-259715">
              <a:lnSpc>
                <a:spcPct val="100000"/>
              </a:lnSpc>
              <a:spcBef>
                <a:spcPts val="600"/>
              </a:spcBef>
              <a:buAutoNum type="arabicPlain"/>
              <a:tabLst>
                <a:tab pos="307340" algn="l"/>
              </a:tabLst>
            </a:pPr>
            <a:r>
              <a:rPr sz="1000" dirty="0">
                <a:latin typeface="Times New Roman"/>
                <a:cs typeface="Times New Roman"/>
              </a:rPr>
              <a:t>Financial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Requirement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648907" y="1438218"/>
            <a:ext cx="58864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0" marR="5080" indent="-165735">
              <a:lnSpc>
                <a:spcPct val="150100"/>
              </a:lnSpc>
              <a:spcBef>
                <a:spcPts val="100"/>
              </a:spcBef>
            </a:pPr>
            <a:r>
              <a:rPr sz="1000" spc="-10" dirty="0">
                <a:latin typeface="Times New Roman"/>
                <a:cs typeface="Times New Roman"/>
              </a:rPr>
              <a:t>Probability </a:t>
            </a:r>
            <a:r>
              <a:rPr sz="1000" spc="-25" dirty="0">
                <a:latin typeface="Times New Roman"/>
                <a:cs typeface="Times New Roman"/>
              </a:rPr>
              <a:t>Low Med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361551" y="1438218"/>
            <a:ext cx="37719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755" marR="5080" indent="-59690">
              <a:lnSpc>
                <a:spcPct val="150100"/>
              </a:lnSpc>
              <a:spcBef>
                <a:spcPts val="100"/>
              </a:spcBef>
            </a:pPr>
            <a:r>
              <a:rPr sz="1000" spc="-10" dirty="0">
                <a:latin typeface="Times New Roman"/>
                <a:cs typeface="Times New Roman"/>
              </a:rPr>
              <a:t>Impact </a:t>
            </a:r>
            <a:r>
              <a:rPr sz="1000" spc="-25" dirty="0">
                <a:latin typeface="Times New Roman"/>
                <a:cs typeface="Times New Roman"/>
              </a:rPr>
              <a:t>Low Med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863880" y="1438218"/>
            <a:ext cx="40576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 marR="5080" indent="-63500">
              <a:lnSpc>
                <a:spcPct val="150100"/>
              </a:lnSpc>
              <a:spcBef>
                <a:spcPts val="100"/>
              </a:spcBef>
            </a:pPr>
            <a:r>
              <a:rPr sz="1000" spc="-10" dirty="0">
                <a:latin typeface="Times New Roman"/>
                <a:cs typeface="Times New Roman"/>
              </a:rPr>
              <a:t>Quality </a:t>
            </a:r>
            <a:r>
              <a:rPr sz="1000" spc="-20" dirty="0">
                <a:latin typeface="Times New Roman"/>
                <a:cs typeface="Times New Roman"/>
              </a:rPr>
              <a:t>High High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411735" y="1432397"/>
            <a:ext cx="40640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25" marR="5080" indent="-48260">
              <a:lnSpc>
                <a:spcPct val="150100"/>
              </a:lnSpc>
              <a:spcBef>
                <a:spcPts val="100"/>
              </a:spcBef>
            </a:pPr>
            <a:r>
              <a:rPr sz="1000" spc="-10" dirty="0">
                <a:latin typeface="Times New Roman"/>
                <a:cs typeface="Times New Roman"/>
              </a:rPr>
              <a:t>Overall </a:t>
            </a:r>
            <a:r>
              <a:rPr sz="1000" spc="-20" dirty="0">
                <a:latin typeface="Times New Roman"/>
                <a:cs typeface="Times New Roman"/>
              </a:rPr>
              <a:t>High High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00825" y="2952197"/>
            <a:ext cx="339915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imes New Roman"/>
                <a:cs typeface="Times New Roman"/>
              </a:rPr>
              <a:t>5.2.3</a:t>
            </a:r>
            <a:r>
              <a:rPr sz="1000" b="1" spc="190" dirty="0">
                <a:latin typeface="Times New Roman"/>
                <a:cs typeface="Times New Roman"/>
              </a:rPr>
              <a:t>  </a:t>
            </a:r>
            <a:r>
              <a:rPr sz="1000" b="1" dirty="0">
                <a:latin typeface="Times New Roman"/>
                <a:cs typeface="Times New Roman"/>
              </a:rPr>
              <a:t>Overview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of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Risk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Mitigation,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Monitoring,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Management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1415" y="845119"/>
            <a:ext cx="3335006" cy="342076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611730" y="1027193"/>
            <a:ext cx="4248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Risk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ID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843835" y="10030605"/>
            <a:ext cx="15240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25" dirty="0">
                <a:latin typeface="Times New Roman"/>
                <a:cs typeface="Times New Roman"/>
              </a:rPr>
              <a:t>21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81520" y="1391566"/>
            <a:ext cx="8826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Risk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Description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8190" y="1757463"/>
            <a:ext cx="4902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Category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34599" y="2123361"/>
            <a:ext cx="3771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Source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27879" y="2487735"/>
            <a:ext cx="5886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Probability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34599" y="2853633"/>
            <a:ext cx="3771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Impact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67518" y="3218387"/>
            <a:ext cx="5111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Response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98010" y="3584285"/>
            <a:ext cx="4489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Strategy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23305" y="3950183"/>
            <a:ext cx="5994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Risk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Status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80484" y="1027193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imes New Roman"/>
                <a:cs typeface="Times New Roman"/>
              </a:rPr>
              <a:t>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98378" y="1391566"/>
            <a:ext cx="16516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Base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product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53323" y="1757463"/>
            <a:ext cx="5435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Base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19722" y="2123361"/>
            <a:ext cx="16090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Software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Design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Specification.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95108" y="2487735"/>
            <a:ext cx="2584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imes New Roman"/>
                <a:cs typeface="Times New Roman"/>
              </a:rPr>
              <a:t>Low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84436" y="2853633"/>
            <a:ext cx="28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imes New Roman"/>
                <a:cs typeface="Times New Roman"/>
              </a:rPr>
              <a:t>High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63313" y="3218387"/>
            <a:ext cx="1722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Adding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new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features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consistently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83165" y="3584285"/>
            <a:ext cx="20821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Advertising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Newspapers,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Journals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24356" y="3950183"/>
            <a:ext cx="6000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May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Occur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00825" y="4451168"/>
            <a:ext cx="14636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3695" algn="l"/>
              </a:tabLst>
            </a:pPr>
            <a:r>
              <a:rPr sz="1200" b="1" spc="-25" dirty="0">
                <a:latin typeface="Times New Roman"/>
                <a:cs typeface="Times New Roman"/>
              </a:rPr>
              <a:t>5.3</a:t>
            </a:r>
            <a:r>
              <a:rPr sz="1200" b="1" dirty="0">
                <a:latin typeface="Times New Roman"/>
                <a:cs typeface="Times New Roman"/>
              </a:rPr>
              <a:t>	Project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Schedule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00825" y="4666743"/>
            <a:ext cx="2832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Times New Roman"/>
                <a:cs typeface="Times New Roman"/>
              </a:rPr>
              <a:t>5.3.1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80396" y="4760723"/>
            <a:ext cx="855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imes New Roman"/>
                <a:cs typeface="Times New Roman"/>
              </a:rPr>
              <a:t>Project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task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spc="-25" dirty="0">
                <a:latin typeface="Times New Roman"/>
                <a:cs typeface="Times New Roman"/>
              </a:rPr>
              <a:t>set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00453" y="5109485"/>
            <a:ext cx="250888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86485">
              <a:lnSpc>
                <a:spcPct val="112500"/>
              </a:lnSpc>
              <a:spcBef>
                <a:spcPts val="100"/>
              </a:spcBef>
            </a:pPr>
            <a:r>
              <a:rPr sz="1000" spc="-10" dirty="0">
                <a:latin typeface="Times New Roman"/>
                <a:cs typeface="Times New Roman"/>
              </a:rPr>
              <a:t>Task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1: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Literature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Research Task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2: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Analysis</a:t>
            </a:r>
            <a:endParaRPr sz="1000">
              <a:latin typeface="Times New Roman"/>
              <a:cs typeface="Times New Roman"/>
            </a:endParaRPr>
          </a:p>
          <a:p>
            <a:pPr marL="12700" marR="422909">
              <a:lnSpc>
                <a:spcPct val="112500"/>
              </a:lnSpc>
            </a:pPr>
            <a:r>
              <a:rPr sz="1000" spc="-10" dirty="0">
                <a:latin typeface="Times New Roman"/>
                <a:cs typeface="Times New Roman"/>
              </a:rPr>
              <a:t>Task </a:t>
            </a:r>
            <a:r>
              <a:rPr sz="1000" dirty="0">
                <a:latin typeface="Times New Roman"/>
                <a:cs typeface="Times New Roman"/>
              </a:rPr>
              <a:t>3: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Design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&amp;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Planning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Data-</a:t>
            </a:r>
            <a:r>
              <a:rPr sz="1000" spc="-25" dirty="0">
                <a:latin typeface="Times New Roman"/>
                <a:cs typeface="Times New Roman"/>
              </a:rPr>
              <a:t>set </a:t>
            </a:r>
            <a:r>
              <a:rPr sz="1000" spc="-10" dirty="0">
                <a:latin typeface="Times New Roman"/>
                <a:cs typeface="Times New Roman"/>
              </a:rPr>
              <a:t>Task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4: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Learning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Required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Technologies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ct val="112500"/>
              </a:lnSpc>
            </a:pPr>
            <a:r>
              <a:rPr sz="1000" spc="-10" dirty="0">
                <a:latin typeface="Times New Roman"/>
                <a:cs typeface="Times New Roman"/>
              </a:rPr>
              <a:t>Task </a:t>
            </a:r>
            <a:r>
              <a:rPr sz="1000" dirty="0">
                <a:latin typeface="Times New Roman"/>
                <a:cs typeface="Times New Roman"/>
              </a:rPr>
              <a:t>5: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Implementation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(Frontend,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Backend,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AI) </a:t>
            </a:r>
            <a:r>
              <a:rPr sz="1000" spc="-10" dirty="0">
                <a:latin typeface="Times New Roman"/>
                <a:cs typeface="Times New Roman"/>
              </a:rPr>
              <a:t>Task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6: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Testing</a:t>
            </a:r>
            <a:endParaRPr sz="1000">
              <a:latin typeface="Times New Roman"/>
              <a:cs typeface="Times New Roman"/>
            </a:endParaRPr>
          </a:p>
          <a:p>
            <a:pPr marL="12700" marR="1404620">
              <a:lnSpc>
                <a:spcPct val="112500"/>
              </a:lnSpc>
            </a:pPr>
            <a:r>
              <a:rPr sz="1000" spc="-10" dirty="0">
                <a:latin typeface="Times New Roman"/>
                <a:cs typeface="Times New Roman"/>
              </a:rPr>
              <a:t>Task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7: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Initial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Report Task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8: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Final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Report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203" y="831847"/>
            <a:ext cx="6146165" cy="1934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3055">
              <a:lnSpc>
                <a:spcPct val="100000"/>
              </a:lnSpc>
              <a:spcBef>
                <a:spcPts val="100"/>
              </a:spcBef>
              <a:tabLst>
                <a:tab pos="1856105" algn="l"/>
              </a:tabLst>
            </a:pPr>
            <a:r>
              <a:rPr sz="1400" b="1" spc="-50" dirty="0">
                <a:latin typeface="Times New Roman"/>
                <a:cs typeface="Times New Roman"/>
              </a:rPr>
              <a:t>6</a:t>
            </a:r>
            <a:r>
              <a:rPr sz="1400" b="1" dirty="0">
                <a:latin typeface="Times New Roman"/>
                <a:cs typeface="Times New Roman"/>
              </a:rPr>
              <a:t>	Software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Requirement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Specification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400">
              <a:latin typeface="Times New Roman"/>
              <a:cs typeface="Times New Roman"/>
            </a:endParaRPr>
          </a:p>
          <a:p>
            <a:pPr marL="454659" lvl="1" indent="-341630">
              <a:lnSpc>
                <a:spcPct val="100000"/>
              </a:lnSpc>
              <a:buAutoNum type="arabicPeriod"/>
              <a:tabLst>
                <a:tab pos="454659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Introduction</a:t>
            </a:r>
            <a:endParaRPr sz="1200">
              <a:latin typeface="Times New Roman"/>
              <a:cs typeface="Times New Roman"/>
            </a:endParaRPr>
          </a:p>
          <a:p>
            <a:pPr marL="397510" lvl="2" indent="-284480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397510" algn="l"/>
              </a:tabLst>
            </a:pPr>
            <a:r>
              <a:rPr sz="1000" b="1" dirty="0">
                <a:latin typeface="Times New Roman"/>
                <a:cs typeface="Times New Roman"/>
              </a:rPr>
              <a:t>Purpose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and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Scope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of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Document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Purpose: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main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objective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automate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classification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provide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accurate,</a:t>
            </a:r>
            <a:r>
              <a:rPr sz="1000" spc="-10" dirty="0">
                <a:latin typeface="Times New Roman"/>
                <a:cs typeface="Times New Roman"/>
              </a:rPr>
              <a:t> region-</a:t>
            </a:r>
            <a:r>
              <a:rPr sz="1000" dirty="0">
                <a:latin typeface="Times New Roman"/>
                <a:cs typeface="Times New Roman"/>
              </a:rPr>
              <a:t>specific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-10" dirty="0">
                <a:latin typeface="Times New Roman"/>
                <a:cs typeface="Times New Roman"/>
              </a:rPr>
              <a:t> guidance.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project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aims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optimize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performance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AI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algorithms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10" dirty="0">
                <a:latin typeface="Times New Roman"/>
                <a:cs typeface="Times New Roman"/>
              </a:rPr>
              <a:t> real-</a:t>
            </a:r>
            <a:r>
              <a:rPr sz="1000" dirty="0">
                <a:latin typeface="Times New Roman"/>
                <a:cs typeface="Times New Roman"/>
              </a:rPr>
              <a:t>world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recognition.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Scope: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Machine </a:t>
            </a:r>
            <a:r>
              <a:rPr sz="1000" dirty="0">
                <a:latin typeface="Times New Roman"/>
                <a:cs typeface="Times New Roman"/>
              </a:rPr>
              <a:t>Learning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techniques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predict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type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provide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guidance,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improving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reducing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environmental </a:t>
            </a:r>
            <a:r>
              <a:rPr sz="1000" dirty="0">
                <a:latin typeface="Times New Roman"/>
                <a:cs typeface="Times New Roman"/>
              </a:rPr>
              <a:t>costs.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scope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AI-</a:t>
            </a:r>
            <a:r>
              <a:rPr sz="1000" dirty="0">
                <a:latin typeface="Times New Roman"/>
                <a:cs typeface="Times New Roman"/>
              </a:rPr>
              <a:t>powered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web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platform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recognition.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43835" y="10030605"/>
            <a:ext cx="15240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25" dirty="0">
                <a:latin typeface="Times New Roman"/>
                <a:cs typeface="Times New Roman"/>
              </a:rPr>
              <a:t>24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203" y="3234311"/>
            <a:ext cx="6127115" cy="2414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4659" lvl="1" indent="-34163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454659" algn="l"/>
              </a:tabLst>
            </a:pPr>
            <a:r>
              <a:rPr sz="1200" b="1" dirty="0">
                <a:latin typeface="Times New Roman"/>
                <a:cs typeface="Times New Roman"/>
              </a:rPr>
              <a:t>Usage </a:t>
            </a:r>
            <a:r>
              <a:rPr sz="1200" b="1" spc="-10" dirty="0">
                <a:latin typeface="Times New Roman"/>
                <a:cs typeface="Times New Roman"/>
              </a:rPr>
              <a:t>Scenario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primary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function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image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upload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analysis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loop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end-user.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latin typeface="Times New Roman"/>
                <a:cs typeface="Times New Roman"/>
              </a:rPr>
              <a:t>Image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Upload: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uploads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image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item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through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intuitive</a:t>
            </a:r>
            <a:r>
              <a:rPr sz="1000" spc="-10" dirty="0">
                <a:latin typeface="Times New Roman"/>
                <a:cs typeface="Times New Roman"/>
              </a:rPr>
              <a:t> interface.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Automated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Processing: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autonomously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identifies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category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(e.g.,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plastic,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glass,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organic)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fetches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guidelines.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latin typeface="Times New Roman"/>
                <a:cs typeface="Times New Roman"/>
              </a:rPr>
              <a:t>Results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Display: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interface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displays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detected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category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appropriate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disposal/recycling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recommendations.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000">
              <a:latin typeface="Times New Roman"/>
              <a:cs typeface="Times New Roman"/>
            </a:endParaRPr>
          </a:p>
          <a:p>
            <a:pPr marL="491490" lvl="2" indent="-377190">
              <a:lnSpc>
                <a:spcPct val="100000"/>
              </a:lnSpc>
              <a:buAutoNum type="arabicPeriod"/>
              <a:tabLst>
                <a:tab pos="491490" algn="l"/>
              </a:tabLst>
            </a:pPr>
            <a:r>
              <a:rPr sz="1000" b="1" dirty="0">
                <a:latin typeface="Times New Roman"/>
                <a:cs typeface="Times New Roman"/>
              </a:rPr>
              <a:t>User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profiles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000">
              <a:latin typeface="Times New Roman"/>
              <a:cs typeface="Times New Roman"/>
            </a:endParaRPr>
          </a:p>
          <a:p>
            <a:pPr marL="59055" marR="95885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(General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Public):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Initiates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recognition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process.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upload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images,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view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results,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access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history,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gain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educational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insights.</a:t>
            </a:r>
            <a:endParaRPr sz="1000">
              <a:latin typeface="Times New Roman"/>
              <a:cs typeface="Times New Roman"/>
            </a:endParaRPr>
          </a:p>
          <a:p>
            <a:pPr marL="59055" marR="410209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Admin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(Administrator):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Responsible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managing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database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categories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updating</a:t>
            </a:r>
            <a:r>
              <a:rPr sz="1000" spc="-10" dirty="0">
                <a:latin typeface="Times New Roman"/>
                <a:cs typeface="Times New Roman"/>
              </a:rPr>
              <a:t> state-specific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regulations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959" y="1608894"/>
            <a:ext cx="5841026" cy="333500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0825" y="5602546"/>
            <a:ext cx="6071235" cy="3950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6034" algn="ctr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Figure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6.1: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Case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000">
              <a:latin typeface="Times New Roman"/>
              <a:cs typeface="Times New Roman"/>
            </a:endParaRPr>
          </a:p>
          <a:p>
            <a:pPr marL="353695" lvl="1" indent="-340995">
              <a:lnSpc>
                <a:spcPct val="100000"/>
              </a:lnSpc>
              <a:buAutoNum type="arabicPeriod" startAt="3"/>
              <a:tabLst>
                <a:tab pos="353695" algn="l"/>
              </a:tabLst>
            </a:pP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Model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0" dirty="0">
                <a:latin typeface="Times New Roman"/>
                <a:cs typeface="Times New Roman"/>
              </a:rPr>
              <a:t> Description</a:t>
            </a:r>
            <a:endParaRPr sz="1200">
              <a:latin typeface="Times New Roman"/>
              <a:cs typeface="Times New Roman"/>
            </a:endParaRPr>
          </a:p>
          <a:p>
            <a:pPr marL="389890" lvl="2" indent="-377190">
              <a:lnSpc>
                <a:spcPct val="100000"/>
              </a:lnSpc>
              <a:spcBef>
                <a:spcPts val="995"/>
              </a:spcBef>
              <a:buAutoNum type="arabicPeriod"/>
              <a:tabLst>
                <a:tab pos="389890" algn="l"/>
              </a:tabLst>
            </a:pPr>
            <a:r>
              <a:rPr sz="1000" b="1" dirty="0">
                <a:latin typeface="Times New Roman"/>
                <a:cs typeface="Times New Roman"/>
              </a:rPr>
              <a:t>Data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Description</a:t>
            </a:r>
            <a:endParaRPr sz="1000">
              <a:latin typeface="Times New Roman"/>
              <a:cs typeface="Times New Roman"/>
            </a:endParaRPr>
          </a:p>
          <a:p>
            <a:pPr marL="13970" marR="43180" indent="107950">
              <a:lnSpc>
                <a:spcPct val="125000"/>
              </a:lnSpc>
              <a:spcBef>
                <a:spcPts val="695"/>
              </a:spcBef>
            </a:pP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objects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that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will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managed/manipulated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software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described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section.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database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entities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or </a:t>
            </a:r>
            <a:r>
              <a:rPr sz="1000" dirty="0">
                <a:latin typeface="Times New Roman"/>
                <a:cs typeface="Times New Roman"/>
              </a:rPr>
              <a:t>files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structures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required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described.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objects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details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given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below</a:t>
            </a:r>
            <a:endParaRPr sz="1000">
              <a:latin typeface="Times New Roman"/>
              <a:cs typeface="Times New Roman"/>
            </a:endParaRPr>
          </a:p>
          <a:p>
            <a:pPr marL="276860" lvl="3" indent="-75565">
              <a:lnSpc>
                <a:spcPct val="100000"/>
              </a:lnSpc>
              <a:spcBef>
                <a:spcPts val="905"/>
              </a:spcBef>
              <a:buFont typeface="Times New Roman"/>
              <a:buChar char="•"/>
              <a:tabLst>
                <a:tab pos="276860" algn="l"/>
              </a:tabLst>
            </a:pPr>
            <a:r>
              <a:rPr sz="1000" spc="-10" dirty="0">
                <a:latin typeface="Times New Roman"/>
                <a:cs typeface="Times New Roman"/>
              </a:rPr>
              <a:t>Queries</a:t>
            </a:r>
            <a:endParaRPr sz="1000">
              <a:latin typeface="Times New Roman"/>
              <a:cs typeface="Times New Roman"/>
            </a:endParaRPr>
          </a:p>
          <a:p>
            <a:pPr marL="327660" lvl="3" indent="-126364">
              <a:lnSpc>
                <a:spcPct val="100000"/>
              </a:lnSpc>
              <a:spcBef>
                <a:spcPts val="780"/>
              </a:spcBef>
              <a:buFont typeface="Arial"/>
              <a:buChar char="•"/>
              <a:tabLst>
                <a:tab pos="327660" algn="l"/>
              </a:tabLst>
            </a:pPr>
            <a:r>
              <a:rPr sz="1000" spc="-10" dirty="0">
                <a:latin typeface="Times New Roman"/>
                <a:cs typeface="Times New Roman"/>
              </a:rPr>
              <a:t>Processing</a:t>
            </a:r>
            <a:endParaRPr sz="1000">
              <a:latin typeface="Times New Roman"/>
              <a:cs typeface="Times New Roman"/>
            </a:endParaRPr>
          </a:p>
          <a:p>
            <a:pPr marL="327660" lvl="3" indent="-126364">
              <a:lnSpc>
                <a:spcPct val="100000"/>
              </a:lnSpc>
              <a:spcBef>
                <a:spcPts val="825"/>
              </a:spcBef>
              <a:buFont typeface="Arial"/>
              <a:buChar char="•"/>
              <a:tabLst>
                <a:tab pos="327660" algn="l"/>
              </a:tabLst>
            </a:pPr>
            <a:r>
              <a:rPr sz="1000" spc="-10" dirty="0">
                <a:latin typeface="Times New Roman"/>
                <a:cs typeface="Times New Roman"/>
              </a:rPr>
              <a:t>Processed</a:t>
            </a:r>
            <a:endParaRPr sz="1000">
              <a:latin typeface="Times New Roman"/>
              <a:cs typeface="Times New Roman"/>
            </a:endParaRPr>
          </a:p>
          <a:p>
            <a:pPr marL="276860" lvl="3" indent="-75565">
              <a:lnSpc>
                <a:spcPct val="100000"/>
              </a:lnSpc>
              <a:spcBef>
                <a:spcPts val="819"/>
              </a:spcBef>
              <a:buFont typeface="Times New Roman"/>
              <a:buChar char="•"/>
              <a:tabLst>
                <a:tab pos="276860" algn="l"/>
              </a:tabLst>
            </a:pPr>
            <a:r>
              <a:rPr sz="1000" spc="-10" dirty="0">
                <a:latin typeface="Times New Roman"/>
                <a:cs typeface="Times New Roman"/>
              </a:rPr>
              <a:t>Result</a:t>
            </a:r>
            <a:endParaRPr sz="1000">
              <a:latin typeface="Times New Roman"/>
              <a:cs typeface="Times New Roman"/>
            </a:endParaRPr>
          </a:p>
          <a:p>
            <a:pPr lvl="3">
              <a:lnSpc>
                <a:spcPct val="100000"/>
              </a:lnSpc>
              <a:spcBef>
                <a:spcPts val="555"/>
              </a:spcBef>
              <a:buFont typeface="Times New Roman"/>
              <a:buChar char="•"/>
            </a:pPr>
            <a:endParaRPr sz="1000">
              <a:latin typeface="Times New Roman"/>
              <a:cs typeface="Times New Roman"/>
            </a:endParaRPr>
          </a:p>
          <a:p>
            <a:pPr marL="389890" lvl="2" indent="-377190">
              <a:lnSpc>
                <a:spcPct val="100000"/>
              </a:lnSpc>
              <a:buAutoNum type="arabicPeriod" startAt="2"/>
              <a:tabLst>
                <a:tab pos="389890" algn="l"/>
              </a:tabLst>
            </a:pPr>
            <a:r>
              <a:rPr sz="1000" b="1" dirty="0">
                <a:latin typeface="Times New Roman"/>
                <a:cs typeface="Times New Roman"/>
              </a:rPr>
              <a:t>Data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objects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and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Relationships</a:t>
            </a:r>
            <a:endParaRPr sz="10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  <a:spcBef>
                <a:spcPts val="960"/>
              </a:spcBef>
            </a:pP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objects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their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major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attributes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relationships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among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objects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described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ERD-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like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form.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3695" algn="l"/>
              </a:tabLst>
            </a:pPr>
            <a:r>
              <a:rPr sz="1200" b="1" spc="-25" dirty="0">
                <a:latin typeface="Times New Roman"/>
                <a:cs typeface="Times New Roman"/>
              </a:rPr>
              <a:t>6.4</a:t>
            </a:r>
            <a:r>
              <a:rPr sz="1200" b="1" dirty="0">
                <a:latin typeface="Times New Roman"/>
                <a:cs typeface="Times New Roman"/>
              </a:rPr>
              <a:t>	Functional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Model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Description</a:t>
            </a:r>
            <a:endParaRPr sz="1200">
              <a:latin typeface="Times New Roman"/>
              <a:cs typeface="Times New Roman"/>
            </a:endParaRPr>
          </a:p>
          <a:p>
            <a:pPr marL="13970" marR="5080" indent="107950">
              <a:lnSpc>
                <a:spcPct val="125000"/>
              </a:lnSpc>
              <a:spcBef>
                <a:spcPts val="715"/>
              </a:spcBef>
            </a:pP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description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each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major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software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function,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along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flow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(structured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analysis)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class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hierarchy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(Analysis </a:t>
            </a:r>
            <a:r>
              <a:rPr sz="1000" dirty="0">
                <a:latin typeface="Times New Roman"/>
                <a:cs typeface="Times New Roman"/>
              </a:rPr>
              <a:t>Class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diagram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class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description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object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oriented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system)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presented.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550">
              <a:lnSpc>
                <a:spcPts val="1190"/>
              </a:lnSpc>
            </a:pPr>
            <a:r>
              <a:rPr spc="-10" dirty="0"/>
              <a:t>Department</a:t>
            </a:r>
            <a:r>
              <a:rPr spc="-5" dirty="0"/>
              <a:t> </a:t>
            </a:r>
            <a:r>
              <a:rPr dirty="0"/>
              <a:t>Of </a:t>
            </a:r>
            <a:r>
              <a:rPr spc="-10" dirty="0"/>
              <a:t>Computer</a:t>
            </a:r>
            <a:r>
              <a:rPr spc="-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26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0825" y="889447"/>
            <a:ext cx="14039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imes New Roman"/>
                <a:cs typeface="Times New Roman"/>
              </a:rPr>
              <a:t>6.2.2</a:t>
            </a:r>
            <a:r>
              <a:rPr sz="1000" b="1" spc="215" dirty="0">
                <a:latin typeface="Times New Roman"/>
                <a:cs typeface="Times New Roman"/>
              </a:rPr>
              <a:t>  </a:t>
            </a:r>
            <a:r>
              <a:rPr sz="1000" b="1" dirty="0">
                <a:latin typeface="Times New Roman"/>
                <a:cs typeface="Times New Roman"/>
              </a:rPr>
              <a:t>Use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Case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Diagram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4654" y="1446647"/>
            <a:ext cx="4669009" cy="266800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0825" y="889447"/>
            <a:ext cx="147447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9890" lvl="2" indent="-377190">
              <a:lnSpc>
                <a:spcPct val="100000"/>
              </a:lnSpc>
              <a:spcBef>
                <a:spcPts val="95"/>
              </a:spcBef>
              <a:buFont typeface="Times New Roman"/>
              <a:buAutoNum type="arabicPeriod"/>
              <a:tabLst>
                <a:tab pos="389890" algn="l"/>
              </a:tabLst>
            </a:pPr>
            <a:r>
              <a:rPr sz="1000" b="1" dirty="0">
                <a:latin typeface="Times New Roman"/>
                <a:cs typeface="Times New Roman"/>
              </a:rPr>
              <a:t>Data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Flow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Diagram</a:t>
            </a:r>
            <a:endParaRPr sz="1000">
              <a:latin typeface="Times New Roman"/>
              <a:cs typeface="Times New Roman"/>
            </a:endParaRPr>
          </a:p>
          <a:p>
            <a:pPr marL="261620" lvl="3" indent="-60325">
              <a:lnSpc>
                <a:spcPct val="100000"/>
              </a:lnSpc>
              <a:spcBef>
                <a:spcPts val="775"/>
              </a:spcBef>
              <a:buFont typeface="Times New Roman"/>
              <a:buChar char="•"/>
              <a:tabLst>
                <a:tab pos="261620" algn="l"/>
              </a:tabLst>
            </a:pP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Flow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Diagram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550">
              <a:lnSpc>
                <a:spcPts val="1190"/>
              </a:lnSpc>
            </a:pPr>
            <a:r>
              <a:rPr spc="-10" dirty="0"/>
              <a:t>Department</a:t>
            </a:r>
            <a:r>
              <a:rPr spc="-5" dirty="0"/>
              <a:t> </a:t>
            </a:r>
            <a:r>
              <a:rPr dirty="0"/>
              <a:t>Of </a:t>
            </a:r>
            <a:r>
              <a:rPr spc="-10" dirty="0"/>
              <a:t>Computer</a:t>
            </a:r>
            <a:r>
              <a:rPr spc="-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27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39233" y="4126500"/>
            <a:ext cx="15633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Figure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6.2: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Dataflow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Diagram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825" y="781047"/>
            <a:ext cx="6191885" cy="9154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180" lvl="2" indent="-284480">
              <a:lnSpc>
                <a:spcPct val="100000"/>
              </a:lnSpc>
              <a:spcBef>
                <a:spcPts val="95"/>
              </a:spcBef>
              <a:buFont typeface="Times New Roman"/>
              <a:buAutoNum type="arabicPeriod" startAt="3"/>
              <a:tabLst>
                <a:tab pos="297180" algn="l"/>
              </a:tabLst>
            </a:pPr>
            <a:r>
              <a:rPr sz="1000" b="1" dirty="0">
                <a:latin typeface="Times New Roman"/>
                <a:cs typeface="Times New Roman"/>
              </a:rPr>
              <a:t>Non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Functional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Requirements:</a:t>
            </a:r>
            <a:endParaRPr sz="1000">
              <a:latin typeface="Times New Roman"/>
              <a:cs typeface="Times New Roman"/>
            </a:endParaRPr>
          </a:p>
          <a:p>
            <a:pPr marL="276860" lvl="3" indent="-75565">
              <a:lnSpc>
                <a:spcPct val="100000"/>
              </a:lnSpc>
              <a:spcBef>
                <a:spcPts val="780"/>
              </a:spcBef>
              <a:buFont typeface="Times New Roman"/>
              <a:buChar char="•"/>
              <a:tabLst>
                <a:tab pos="276860" algn="l"/>
              </a:tabLst>
            </a:pPr>
            <a:r>
              <a:rPr sz="1000" b="1" dirty="0">
                <a:latin typeface="Times New Roman"/>
                <a:cs typeface="Times New Roman"/>
              </a:rPr>
              <a:t>InterfaceRequirements:</a:t>
            </a:r>
            <a:r>
              <a:rPr sz="1000" b="1" spc="17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interface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should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easy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intuitive.</a:t>
            </a:r>
            <a:endParaRPr sz="1000">
              <a:latin typeface="Times New Roman"/>
              <a:cs typeface="Times New Roman"/>
            </a:endParaRPr>
          </a:p>
          <a:p>
            <a:pPr marL="276860" lvl="3" indent="-75565">
              <a:lnSpc>
                <a:spcPct val="100000"/>
              </a:lnSpc>
              <a:spcBef>
                <a:spcPts val="815"/>
              </a:spcBef>
              <a:buFont typeface="Times New Roman"/>
              <a:buChar char="•"/>
              <a:tabLst>
                <a:tab pos="276860" algn="l"/>
              </a:tabLst>
            </a:pPr>
            <a:r>
              <a:rPr sz="1000" b="1" dirty="0">
                <a:latin typeface="Times New Roman"/>
                <a:cs typeface="Times New Roman"/>
              </a:rPr>
              <a:t>PerformanceRequirements:</a:t>
            </a:r>
            <a:r>
              <a:rPr sz="1000" b="1" spc="17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should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give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effective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high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performance.</a:t>
            </a:r>
            <a:endParaRPr sz="1000">
              <a:latin typeface="Times New Roman"/>
              <a:cs typeface="Times New Roman"/>
            </a:endParaRPr>
          </a:p>
          <a:p>
            <a:pPr marL="276225" lvl="3" indent="-74930">
              <a:lnSpc>
                <a:spcPct val="100000"/>
              </a:lnSpc>
              <a:spcBef>
                <a:spcPts val="830"/>
              </a:spcBef>
              <a:buFont typeface="Times New Roman"/>
              <a:buChar char="•"/>
              <a:tabLst>
                <a:tab pos="276225" algn="l"/>
                <a:tab pos="1863725" algn="l"/>
              </a:tabLst>
            </a:pPr>
            <a:r>
              <a:rPr sz="1000" b="1" spc="-10" dirty="0">
                <a:latin typeface="Times New Roman"/>
                <a:cs typeface="Times New Roman"/>
              </a:rPr>
              <a:t>Softwarequalityattributes:</a:t>
            </a:r>
            <a:r>
              <a:rPr sz="1000" b="1" dirty="0">
                <a:latin typeface="Times New Roman"/>
                <a:cs typeface="Times New Roman"/>
              </a:rPr>
              <a:t>	</a:t>
            </a:r>
            <a:r>
              <a:rPr sz="1000" spc="-10" dirty="0">
                <a:latin typeface="Times New Roman"/>
                <a:cs typeface="Times New Roman"/>
              </a:rPr>
              <a:t>Availability,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Reliability,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Re-</a:t>
            </a:r>
            <a:r>
              <a:rPr sz="1000" spc="-10" dirty="0">
                <a:latin typeface="Times New Roman"/>
                <a:cs typeface="Times New Roman"/>
              </a:rPr>
              <a:t>usability,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Scalability,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Performance,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Usability</a:t>
            </a:r>
            <a:endParaRPr sz="1000">
              <a:latin typeface="Times New Roman"/>
              <a:cs typeface="Times New Roman"/>
            </a:endParaRPr>
          </a:p>
          <a:p>
            <a:pPr marL="329565">
              <a:lnSpc>
                <a:spcPct val="100000"/>
              </a:lnSpc>
              <a:spcBef>
                <a:spcPts val="685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considers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following </a:t>
            </a:r>
            <a:r>
              <a:rPr sz="1000" spc="-20" dirty="0">
                <a:latin typeface="Times New Roman"/>
                <a:cs typeface="Times New Roman"/>
              </a:rPr>
              <a:t>non-</a:t>
            </a:r>
            <a:r>
              <a:rPr sz="1000" spc="-10" dirty="0">
                <a:latin typeface="Times New Roman"/>
                <a:cs typeface="Times New Roman"/>
              </a:rPr>
              <a:t>functional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requirements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provide </a:t>
            </a:r>
            <a:r>
              <a:rPr sz="1000" dirty="0">
                <a:latin typeface="Times New Roman"/>
                <a:cs typeface="Times New Roman"/>
              </a:rPr>
              <a:t>better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functionalities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usage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system.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000">
              <a:latin typeface="Times New Roman"/>
              <a:cs typeface="Times New Roman"/>
            </a:endParaRPr>
          </a:p>
          <a:p>
            <a:pPr marL="329565" marR="13970" algn="just">
              <a:lnSpc>
                <a:spcPct val="118800"/>
              </a:lnSpc>
            </a:pPr>
            <a:r>
              <a:rPr sz="1000" b="1" dirty="0">
                <a:latin typeface="Times New Roman"/>
                <a:cs typeface="Times New Roman"/>
              </a:rPr>
              <a:t>Usability:</a:t>
            </a:r>
            <a:r>
              <a:rPr sz="1000" b="1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designed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keeping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mind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usability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issues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considering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end-users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who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are </a:t>
            </a:r>
            <a:r>
              <a:rPr sz="1000" spc="10" dirty="0">
                <a:latin typeface="Times New Roman"/>
                <a:cs typeface="Times New Roman"/>
              </a:rPr>
              <a:t>developers/programmers.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Effort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required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learning,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operating,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preparing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input,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and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interpreting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output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are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minimized.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provides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detailed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help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which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would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lead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better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faster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learning.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Navigation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of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easy.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000">
              <a:latin typeface="Times New Roman"/>
              <a:cs typeface="Times New Roman"/>
            </a:endParaRPr>
          </a:p>
          <a:p>
            <a:pPr marL="329565" marR="10795" algn="just">
              <a:lnSpc>
                <a:spcPct val="118800"/>
              </a:lnSpc>
            </a:pPr>
            <a:r>
              <a:rPr sz="1000" b="1" dirty="0">
                <a:latin typeface="Times New Roman"/>
                <a:cs typeface="Times New Roman"/>
              </a:rPr>
              <a:t>Agility: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Improves with users able to rapidly and </a:t>
            </a:r>
            <a:r>
              <a:rPr sz="1000" spc="-10" dirty="0">
                <a:latin typeface="Times New Roman"/>
                <a:cs typeface="Times New Roman"/>
              </a:rPr>
              <a:t>inexpensively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re-</a:t>
            </a:r>
            <a:r>
              <a:rPr sz="1000" dirty="0">
                <a:latin typeface="Times New Roman"/>
                <a:cs typeface="Times New Roman"/>
              </a:rPr>
              <a:t>provision </a:t>
            </a:r>
            <a:r>
              <a:rPr sz="1000" spc="-10" dirty="0">
                <a:latin typeface="Times New Roman"/>
                <a:cs typeface="Times New Roman"/>
              </a:rPr>
              <a:t>technological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infrastructure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resources.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cost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overall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computing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unchanged,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however,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providers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will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merely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absorb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up-</a:t>
            </a:r>
            <a:r>
              <a:rPr sz="1000" dirty="0">
                <a:latin typeface="Times New Roman"/>
                <a:cs typeface="Times New Roman"/>
              </a:rPr>
              <a:t>front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costs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spc="-10" dirty="0">
                <a:latin typeface="Times New Roman"/>
                <a:cs typeface="Times New Roman"/>
              </a:rPr>
              <a:t>spread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costs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over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longer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period.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000">
              <a:latin typeface="Times New Roman"/>
              <a:cs typeface="Times New Roman"/>
            </a:endParaRPr>
          </a:p>
          <a:p>
            <a:pPr marL="329565" marR="161290">
              <a:lnSpc>
                <a:spcPct val="118800"/>
              </a:lnSpc>
            </a:pPr>
            <a:r>
              <a:rPr sz="1000" b="1" dirty="0">
                <a:latin typeface="Times New Roman"/>
                <a:cs typeface="Times New Roman"/>
              </a:rPr>
              <a:t>Consistency:</a:t>
            </a:r>
            <a:r>
              <a:rPr sz="1000" b="1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Uniformity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layout,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screens,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colors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scheme,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via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dynamic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(”on-demand”)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provisioning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re- </a:t>
            </a:r>
            <a:r>
              <a:rPr sz="1000" dirty="0">
                <a:latin typeface="Times New Roman"/>
                <a:cs typeface="Times New Roman"/>
              </a:rPr>
              <a:t>sources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fine-grained,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self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service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basis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near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real-time,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without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having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engineer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peak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loads.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000">
              <a:latin typeface="Times New Roman"/>
              <a:cs typeface="Times New Roman"/>
            </a:endParaRPr>
          </a:p>
          <a:p>
            <a:pPr marL="329565">
              <a:lnSpc>
                <a:spcPct val="100000"/>
              </a:lnSpc>
            </a:pPr>
            <a:r>
              <a:rPr sz="1000" b="1" spc="-10" dirty="0">
                <a:latin typeface="Times New Roman"/>
                <a:cs typeface="Times New Roman"/>
              </a:rPr>
              <a:t>Performance: </a:t>
            </a:r>
            <a:r>
              <a:rPr sz="1000" spc="-10" dirty="0">
                <a:latin typeface="Times New Roman"/>
                <a:cs typeface="Times New Roman"/>
              </a:rPr>
              <a:t>Performance </a:t>
            </a:r>
            <a:r>
              <a:rPr sz="1000" dirty="0">
                <a:latin typeface="Times New Roman"/>
                <a:cs typeface="Times New Roman"/>
              </a:rPr>
              <a:t>depends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user’s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familiarity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usage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system.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000">
              <a:latin typeface="Times New Roman"/>
              <a:cs typeface="Times New Roman"/>
            </a:endParaRPr>
          </a:p>
          <a:p>
            <a:pPr marL="329565">
              <a:lnSpc>
                <a:spcPct val="100000"/>
              </a:lnSpc>
            </a:pPr>
            <a:r>
              <a:rPr sz="1000" b="1" dirty="0">
                <a:latin typeface="Times New Roman"/>
                <a:cs typeface="Times New Roman"/>
              </a:rPr>
              <a:t>Extendibility: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Templates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imported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from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different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applications,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adding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more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features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workflow.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000">
              <a:latin typeface="Times New Roman"/>
              <a:cs typeface="Times New Roman"/>
            </a:endParaRPr>
          </a:p>
          <a:p>
            <a:pPr marL="329565" marR="17145" algn="just">
              <a:lnSpc>
                <a:spcPct val="118800"/>
              </a:lnSpc>
            </a:pPr>
            <a:r>
              <a:rPr sz="1000" b="1" dirty="0">
                <a:latin typeface="Times New Roman"/>
                <a:cs typeface="Times New Roman"/>
              </a:rPr>
              <a:t>Reusability:</a:t>
            </a:r>
            <a:r>
              <a:rPr sz="1000" b="1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native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files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provided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used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any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number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times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faster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execution.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New </a:t>
            </a:r>
            <a:r>
              <a:rPr sz="1000" dirty="0">
                <a:latin typeface="Times New Roman"/>
                <a:cs typeface="Times New Roman"/>
              </a:rPr>
              <a:t>native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files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created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saved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which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again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made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available.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Since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application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network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host </a:t>
            </a:r>
            <a:r>
              <a:rPr sz="1000" dirty="0">
                <a:latin typeface="Times New Roman"/>
                <a:cs typeface="Times New Roman"/>
              </a:rPr>
              <a:t>based,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anywhere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anytime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single</a:t>
            </a:r>
            <a:r>
              <a:rPr sz="1000" spc="-20" dirty="0">
                <a:latin typeface="Times New Roman"/>
                <a:cs typeface="Times New Roman"/>
              </a:rPr>
              <a:t> user.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000">
              <a:latin typeface="Times New Roman"/>
              <a:cs typeface="Times New Roman"/>
            </a:endParaRPr>
          </a:p>
          <a:p>
            <a:pPr marL="329565" marR="171450">
              <a:lnSpc>
                <a:spcPct val="118800"/>
              </a:lnSpc>
            </a:pPr>
            <a:r>
              <a:rPr sz="1000" b="1" dirty="0">
                <a:latin typeface="Times New Roman"/>
                <a:cs typeface="Times New Roman"/>
              </a:rPr>
              <a:t>Reliability:</a:t>
            </a:r>
            <a:r>
              <a:rPr sz="1000" b="1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Protection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from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malicious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attack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unauthorized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access.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Improves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through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of </a:t>
            </a:r>
            <a:r>
              <a:rPr sz="1000" dirty="0">
                <a:latin typeface="Times New Roman"/>
                <a:cs typeface="Times New Roman"/>
              </a:rPr>
              <a:t>multiple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redundant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sites,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which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makes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mobile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agents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suitable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business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continuity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disaster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recovery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000">
              <a:latin typeface="Times New Roman"/>
              <a:cs typeface="Times New Roman"/>
            </a:endParaRPr>
          </a:p>
          <a:p>
            <a:pPr marL="389890" lvl="2" indent="-377190">
              <a:lnSpc>
                <a:spcPct val="100000"/>
              </a:lnSpc>
              <a:buAutoNum type="arabicPeriod" startAt="4"/>
              <a:tabLst>
                <a:tab pos="389890" algn="l"/>
              </a:tabLst>
            </a:pPr>
            <a:r>
              <a:rPr sz="1000" b="1" dirty="0">
                <a:latin typeface="Times New Roman"/>
                <a:cs typeface="Times New Roman"/>
              </a:rPr>
              <a:t>State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Diagram:</a:t>
            </a:r>
            <a:endParaRPr sz="1000">
              <a:latin typeface="Times New Roman"/>
              <a:cs typeface="Times New Roman"/>
            </a:endParaRPr>
          </a:p>
          <a:p>
            <a:pPr marL="13970" algn="just">
              <a:lnSpc>
                <a:spcPct val="100000"/>
              </a:lnSpc>
              <a:spcBef>
                <a:spcPts val="985"/>
              </a:spcBef>
            </a:pPr>
            <a:r>
              <a:rPr sz="1000" dirty="0">
                <a:latin typeface="Times New Roman"/>
                <a:cs typeface="Times New Roman"/>
              </a:rPr>
              <a:t>State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Transition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Diagram:</a:t>
            </a:r>
            <a:endParaRPr sz="1000">
              <a:latin typeface="Times New Roman"/>
              <a:cs typeface="Times New Roman"/>
            </a:endParaRPr>
          </a:p>
          <a:p>
            <a:pPr marL="13970" marR="5080" algn="just">
              <a:lnSpc>
                <a:spcPct val="118800"/>
              </a:lnSpc>
              <a:spcBef>
                <a:spcPts val="80"/>
              </a:spcBef>
            </a:pPr>
            <a:r>
              <a:rPr sz="1000" dirty="0">
                <a:latin typeface="Times New Roman"/>
                <a:cs typeface="Times New Roman"/>
              </a:rPr>
              <a:t>The states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 represented in ovals and state of system gets changed when certain events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occur. The transitions from </a:t>
            </a:r>
            <a:r>
              <a:rPr sz="1000" spc="-25" dirty="0">
                <a:latin typeface="Times New Roman"/>
                <a:cs typeface="Times New Roman"/>
              </a:rPr>
              <a:t>one </a:t>
            </a:r>
            <a:r>
              <a:rPr sz="1000" dirty="0">
                <a:latin typeface="Times New Roman"/>
                <a:cs typeface="Times New Roman"/>
              </a:rPr>
              <a:t>state to the other are represented by arrows. The Figure shows important states and events that occur while creating </a:t>
            </a:r>
            <a:r>
              <a:rPr sz="1000" spc="-25" dirty="0">
                <a:latin typeface="Times New Roman"/>
                <a:cs typeface="Times New Roman"/>
              </a:rPr>
              <a:t>new </a:t>
            </a:r>
            <a:r>
              <a:rPr sz="1000" spc="-10" dirty="0">
                <a:latin typeface="Times New Roman"/>
                <a:cs typeface="Times New Roman"/>
              </a:rPr>
              <a:t>project.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000">
              <a:latin typeface="Times New Roman"/>
              <a:cs typeface="Times New Roman"/>
            </a:endParaRPr>
          </a:p>
          <a:p>
            <a:pPr marL="389890" lvl="2" indent="-377190">
              <a:lnSpc>
                <a:spcPct val="100000"/>
              </a:lnSpc>
              <a:buAutoNum type="arabicPeriod" startAt="5"/>
              <a:tabLst>
                <a:tab pos="389890" algn="l"/>
              </a:tabLst>
            </a:pPr>
            <a:r>
              <a:rPr sz="1000" b="1" dirty="0">
                <a:latin typeface="Times New Roman"/>
                <a:cs typeface="Times New Roman"/>
              </a:rPr>
              <a:t>Design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Constraints</a:t>
            </a:r>
            <a:endParaRPr sz="1000">
              <a:latin typeface="Times New Roman"/>
              <a:cs typeface="Times New Roman"/>
            </a:endParaRPr>
          </a:p>
          <a:p>
            <a:pPr marL="13970" marR="6350" algn="just">
              <a:lnSpc>
                <a:spcPct val="118800"/>
              </a:lnSpc>
              <a:spcBef>
                <a:spcPts val="780"/>
              </a:spcBef>
            </a:pPr>
            <a:r>
              <a:rPr sz="1000" dirty="0">
                <a:latin typeface="Times New Roman"/>
                <a:cs typeface="Times New Roman"/>
              </a:rPr>
              <a:t>Any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design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constraints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that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will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impact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subsystem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noted.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There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necessity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study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design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patterns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in </a:t>
            </a:r>
            <a:r>
              <a:rPr sz="1000" dirty="0">
                <a:latin typeface="Times New Roman"/>
                <a:cs typeface="Times New Roman"/>
              </a:rPr>
              <a:t>detail.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Depending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upon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various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kinds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patterns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available,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different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design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constraints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may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encountered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such </a:t>
            </a:r>
            <a:r>
              <a:rPr sz="1000" dirty="0">
                <a:latin typeface="Times New Roman"/>
                <a:cs typeface="Times New Roman"/>
              </a:rPr>
              <a:t>as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supporting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multiple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operating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systems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which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may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not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possible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due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.NET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framework.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schedule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tight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deadlines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prove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reasonable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constraint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while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adding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features.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000">
              <a:latin typeface="Times New Roman"/>
              <a:cs typeface="Times New Roman"/>
            </a:endParaRPr>
          </a:p>
          <a:p>
            <a:pPr marL="389890" lvl="2" indent="-377190">
              <a:lnSpc>
                <a:spcPct val="100000"/>
              </a:lnSpc>
              <a:spcBef>
                <a:spcPts val="5"/>
              </a:spcBef>
              <a:buAutoNum type="arabicPeriod" startAt="6"/>
              <a:tabLst>
                <a:tab pos="389890" algn="l"/>
              </a:tabLst>
            </a:pPr>
            <a:r>
              <a:rPr sz="1000" b="1" dirty="0">
                <a:latin typeface="Times New Roman"/>
                <a:cs typeface="Times New Roman"/>
              </a:rPr>
              <a:t>Software</a:t>
            </a:r>
            <a:r>
              <a:rPr sz="1000" b="1" spc="-5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Interface</a:t>
            </a:r>
            <a:r>
              <a:rPr sz="1000" b="1" spc="-5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Description</a:t>
            </a:r>
            <a:endParaRPr sz="1000">
              <a:latin typeface="Times New Roman"/>
              <a:cs typeface="Times New Roman"/>
            </a:endParaRPr>
          </a:p>
          <a:p>
            <a:pPr marL="13970" marR="164465" indent="107950">
              <a:lnSpc>
                <a:spcPct val="124000"/>
              </a:lnSpc>
              <a:spcBef>
                <a:spcPts val="715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interface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must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easy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understand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must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intuitive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explain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at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glance.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software </a:t>
            </a:r>
            <a:r>
              <a:rPr sz="1000" dirty="0">
                <a:latin typeface="Times New Roman"/>
                <a:cs typeface="Times New Roman"/>
              </a:rPr>
              <a:t>also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needs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interface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existing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search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engines.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will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handled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API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web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scraper.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550">
              <a:lnSpc>
                <a:spcPts val="1190"/>
              </a:lnSpc>
            </a:pPr>
            <a:r>
              <a:rPr spc="-10" dirty="0"/>
              <a:t>Department</a:t>
            </a:r>
            <a:r>
              <a:rPr spc="-5" dirty="0"/>
              <a:t> </a:t>
            </a:r>
            <a:r>
              <a:rPr dirty="0"/>
              <a:t>Of </a:t>
            </a:r>
            <a:r>
              <a:rPr spc="-10" dirty="0"/>
              <a:t>Computer</a:t>
            </a:r>
            <a:r>
              <a:rPr spc="-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28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959" y="3044229"/>
            <a:ext cx="6317455" cy="33064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0825" y="831847"/>
            <a:ext cx="6076315" cy="16852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8485">
              <a:lnSpc>
                <a:spcPct val="100000"/>
              </a:lnSpc>
              <a:spcBef>
                <a:spcPts val="100"/>
              </a:spcBef>
              <a:tabLst>
                <a:tab pos="2120900" algn="l"/>
              </a:tabLst>
            </a:pPr>
            <a:r>
              <a:rPr sz="1400" b="1" spc="-50" dirty="0">
                <a:latin typeface="Times New Roman"/>
                <a:cs typeface="Times New Roman"/>
              </a:rPr>
              <a:t>7</a:t>
            </a:r>
            <a:r>
              <a:rPr sz="1400" b="1" dirty="0">
                <a:latin typeface="Times New Roman"/>
                <a:cs typeface="Times New Roman"/>
              </a:rPr>
              <a:t>	Detailed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Design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Document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400">
              <a:latin typeface="Times New Roman"/>
              <a:cs typeface="Times New Roman"/>
            </a:endParaRPr>
          </a:p>
          <a:p>
            <a:pPr marL="353695" lvl="1" indent="-340995">
              <a:lnSpc>
                <a:spcPct val="100000"/>
              </a:lnSpc>
              <a:buAutoNum type="arabicPeriod"/>
              <a:tabLst>
                <a:tab pos="35369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Introduction</a:t>
            </a:r>
            <a:endParaRPr sz="1200">
              <a:latin typeface="Times New Roman"/>
              <a:cs typeface="Times New Roman"/>
            </a:endParaRPr>
          </a:p>
          <a:p>
            <a:pPr marL="2145665" marR="5080" indent="-1975485">
              <a:lnSpc>
                <a:spcPct val="112500"/>
              </a:lnSpc>
              <a:spcBef>
                <a:spcPts val="665"/>
              </a:spcBef>
            </a:pP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section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details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architectural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component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design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Waste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Mitra,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emphasizing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its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modular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structure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for </a:t>
            </a:r>
            <a:r>
              <a:rPr sz="1000" dirty="0">
                <a:latin typeface="Times New Roman"/>
                <a:cs typeface="Times New Roman"/>
              </a:rPr>
              <a:t>security,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scalability,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0" dirty="0">
                <a:latin typeface="Times New Roman"/>
                <a:cs typeface="Times New Roman"/>
              </a:rPr>
              <a:t> transparency</a:t>
            </a:r>
            <a:endParaRPr sz="1000">
              <a:latin typeface="Times New Roman"/>
              <a:cs typeface="Times New Roman"/>
            </a:endParaRPr>
          </a:p>
          <a:p>
            <a:pPr marL="353695" lvl="1" indent="-340995">
              <a:lnSpc>
                <a:spcPct val="100000"/>
              </a:lnSpc>
              <a:spcBef>
                <a:spcPts val="560"/>
              </a:spcBef>
              <a:buAutoNum type="arabicPeriod" startAt="2"/>
              <a:tabLst>
                <a:tab pos="353695" algn="l"/>
              </a:tabLst>
            </a:pPr>
            <a:r>
              <a:rPr sz="1200" b="1" dirty="0">
                <a:latin typeface="Times New Roman"/>
                <a:cs typeface="Times New Roman"/>
              </a:rPr>
              <a:t>Architectural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Design</a:t>
            </a:r>
            <a:endParaRPr sz="12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994"/>
              </a:spcBef>
            </a:pP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description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program</a:t>
            </a:r>
            <a:r>
              <a:rPr sz="1000" spc="-10" dirty="0">
                <a:latin typeface="Times New Roman"/>
                <a:cs typeface="Times New Roman"/>
              </a:rPr>
              <a:t> architecture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-10" dirty="0">
                <a:latin typeface="Times New Roman"/>
                <a:cs typeface="Times New Roman"/>
              </a:rPr>
              <a:t> presented.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550">
              <a:lnSpc>
                <a:spcPts val="1190"/>
              </a:lnSpc>
            </a:pPr>
            <a:r>
              <a:rPr spc="-10" dirty="0"/>
              <a:t>Department</a:t>
            </a:r>
            <a:r>
              <a:rPr spc="-5" dirty="0"/>
              <a:t> </a:t>
            </a:r>
            <a:r>
              <a:rPr dirty="0"/>
              <a:t>Of </a:t>
            </a:r>
            <a:r>
              <a:rPr spc="-10" dirty="0"/>
              <a:t>Computer</a:t>
            </a:r>
            <a:r>
              <a:rPr spc="-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29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88135" y="6843476"/>
            <a:ext cx="12496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Figure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7.1: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Architecture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7115" y="4996793"/>
            <a:ext cx="5383653" cy="41258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0825" y="854315"/>
            <a:ext cx="5442585" cy="2981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lvl="1" indent="-34099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 startAt="3"/>
              <a:tabLst>
                <a:tab pos="353695" algn="l"/>
              </a:tabLst>
            </a:pPr>
            <a:r>
              <a:rPr sz="1200" b="1" dirty="0">
                <a:latin typeface="Times New Roman"/>
                <a:cs typeface="Times New Roman"/>
              </a:rPr>
              <a:t>Data </a:t>
            </a:r>
            <a:r>
              <a:rPr sz="1200" b="1" spc="-10" dirty="0">
                <a:latin typeface="Times New Roman"/>
                <a:cs typeface="Times New Roman"/>
              </a:rPr>
              <a:t>design</a:t>
            </a:r>
            <a:endParaRPr sz="1200">
              <a:latin typeface="Times New Roman"/>
              <a:cs typeface="Times New Roman"/>
            </a:endParaRPr>
          </a:p>
          <a:p>
            <a:pPr marL="121920">
              <a:lnSpc>
                <a:spcPct val="100000"/>
              </a:lnSpc>
              <a:spcBef>
                <a:spcPts val="990"/>
              </a:spcBef>
            </a:pP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description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all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structures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including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internal,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global,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database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design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(tables),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file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formats.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000">
              <a:latin typeface="Times New Roman"/>
              <a:cs typeface="Times New Roman"/>
            </a:endParaRPr>
          </a:p>
          <a:p>
            <a:pPr marL="389890" lvl="2" indent="-377190">
              <a:lnSpc>
                <a:spcPct val="100000"/>
              </a:lnSpc>
              <a:buAutoNum type="arabicPeriod"/>
              <a:tabLst>
                <a:tab pos="389890" algn="l"/>
              </a:tabLst>
            </a:pPr>
            <a:r>
              <a:rPr sz="1000" b="1" dirty="0">
                <a:latin typeface="Times New Roman"/>
                <a:cs typeface="Times New Roman"/>
              </a:rPr>
              <a:t>Internal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software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data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structure</a:t>
            </a:r>
            <a:endParaRPr sz="1000">
              <a:latin typeface="Times New Roman"/>
              <a:cs typeface="Times New Roman"/>
            </a:endParaRPr>
          </a:p>
          <a:p>
            <a:pPr marL="75565" marR="3900804" lvl="3" indent="-75565" algn="r">
              <a:lnSpc>
                <a:spcPct val="100000"/>
              </a:lnSpc>
              <a:spcBef>
                <a:spcPts val="755"/>
              </a:spcBef>
              <a:buFont typeface="Times New Roman"/>
              <a:buChar char="•"/>
              <a:tabLst>
                <a:tab pos="75565" algn="l"/>
              </a:tabLst>
            </a:pPr>
            <a:r>
              <a:rPr sz="1000" dirty="0">
                <a:latin typeface="Times New Roman"/>
                <a:cs typeface="Times New Roman"/>
              </a:rPr>
              <a:t>Machine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Learning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based</a:t>
            </a:r>
            <a:endParaRPr sz="1000">
              <a:latin typeface="Times New Roman"/>
              <a:cs typeface="Times New Roman"/>
            </a:endParaRPr>
          </a:p>
          <a:p>
            <a:pPr lvl="3">
              <a:lnSpc>
                <a:spcPct val="100000"/>
              </a:lnSpc>
              <a:spcBef>
                <a:spcPts val="459"/>
              </a:spcBef>
              <a:buFont typeface="Times New Roman"/>
              <a:buChar char="•"/>
            </a:pPr>
            <a:endParaRPr sz="1000">
              <a:latin typeface="Times New Roman"/>
              <a:cs typeface="Times New Roman"/>
            </a:endParaRPr>
          </a:p>
          <a:p>
            <a:pPr marL="377190" marR="3873500" lvl="2" indent="-377190" algn="r">
              <a:lnSpc>
                <a:spcPct val="100000"/>
              </a:lnSpc>
              <a:buAutoNum type="arabicPeriod"/>
              <a:tabLst>
                <a:tab pos="377190" algn="l"/>
              </a:tabLst>
            </a:pPr>
            <a:r>
              <a:rPr sz="1000" b="1" dirty="0">
                <a:latin typeface="Times New Roman"/>
                <a:cs typeface="Times New Roman"/>
              </a:rPr>
              <a:t>Global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data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structure</a:t>
            </a:r>
            <a:endParaRPr sz="1000">
              <a:latin typeface="Times New Roman"/>
              <a:cs typeface="Times New Roman"/>
            </a:endParaRPr>
          </a:p>
          <a:p>
            <a:pPr marL="121920">
              <a:lnSpc>
                <a:spcPct val="100000"/>
              </a:lnSpc>
              <a:spcBef>
                <a:spcPts val="1030"/>
              </a:spcBef>
            </a:pP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structured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that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available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major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portions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architecture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described.</a:t>
            </a:r>
            <a:endParaRPr sz="1000">
              <a:latin typeface="Times New Roman"/>
              <a:cs typeface="Times New Roman"/>
            </a:endParaRPr>
          </a:p>
          <a:p>
            <a:pPr marL="276860" lvl="3" indent="-75565">
              <a:lnSpc>
                <a:spcPct val="100000"/>
              </a:lnSpc>
              <a:spcBef>
                <a:spcPts val="540"/>
              </a:spcBef>
              <a:buFont typeface="Times New Roman"/>
              <a:buChar char="•"/>
              <a:tabLst>
                <a:tab pos="276860" algn="l"/>
              </a:tabLst>
            </a:pPr>
            <a:r>
              <a:rPr sz="1000" dirty="0">
                <a:latin typeface="Times New Roman"/>
                <a:cs typeface="Times New Roman"/>
              </a:rPr>
              <a:t>Machine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Learning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based</a:t>
            </a:r>
            <a:endParaRPr sz="1000">
              <a:latin typeface="Times New Roman"/>
              <a:cs typeface="Times New Roman"/>
            </a:endParaRPr>
          </a:p>
          <a:p>
            <a:pPr lvl="3">
              <a:lnSpc>
                <a:spcPct val="100000"/>
              </a:lnSpc>
              <a:spcBef>
                <a:spcPts val="415"/>
              </a:spcBef>
              <a:buFont typeface="Times New Roman"/>
              <a:buChar char="•"/>
            </a:pPr>
            <a:endParaRPr sz="1000">
              <a:latin typeface="Times New Roman"/>
              <a:cs typeface="Times New Roman"/>
            </a:endParaRPr>
          </a:p>
          <a:p>
            <a:pPr marL="377190" marR="3902710" lvl="2" indent="-377190" algn="r">
              <a:lnSpc>
                <a:spcPct val="100000"/>
              </a:lnSpc>
              <a:buAutoNum type="arabicPeriod" startAt="3"/>
              <a:tabLst>
                <a:tab pos="377190" algn="l"/>
              </a:tabLst>
            </a:pPr>
            <a:r>
              <a:rPr sz="1000" b="1" dirty="0">
                <a:latin typeface="Times New Roman"/>
                <a:cs typeface="Times New Roman"/>
              </a:rPr>
              <a:t>Database</a:t>
            </a:r>
            <a:r>
              <a:rPr sz="1000" b="1" spc="-4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description</a:t>
            </a:r>
            <a:endParaRPr sz="1000">
              <a:latin typeface="Times New Roman"/>
              <a:cs typeface="Times New Roman"/>
            </a:endParaRPr>
          </a:p>
          <a:p>
            <a:pPr marL="121920">
              <a:lnSpc>
                <a:spcPct val="100000"/>
              </a:lnSpc>
              <a:spcBef>
                <a:spcPts val="965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database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will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store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future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prediction.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000">
              <a:latin typeface="Times New Roman"/>
              <a:cs typeface="Times New Roman"/>
            </a:endParaRPr>
          </a:p>
          <a:p>
            <a:pPr marL="353695" lvl="1" indent="-340995">
              <a:lnSpc>
                <a:spcPct val="100000"/>
              </a:lnSpc>
              <a:buAutoNum type="arabicPeriod" startAt="4"/>
              <a:tabLst>
                <a:tab pos="353695" algn="l"/>
              </a:tabLst>
            </a:pPr>
            <a:r>
              <a:rPr sz="1200" b="1" dirty="0">
                <a:latin typeface="Times New Roman"/>
                <a:cs typeface="Times New Roman"/>
              </a:rPr>
              <a:t>Component </a:t>
            </a:r>
            <a:r>
              <a:rPr sz="1200" b="1" spc="-10" dirty="0">
                <a:latin typeface="Times New Roman"/>
                <a:cs typeface="Times New Roman"/>
              </a:rPr>
              <a:t>Design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550">
              <a:lnSpc>
                <a:spcPts val="1190"/>
              </a:lnSpc>
            </a:pPr>
            <a:r>
              <a:rPr spc="-10" dirty="0"/>
              <a:t>Department</a:t>
            </a:r>
            <a:r>
              <a:rPr spc="-5" dirty="0"/>
              <a:t> </a:t>
            </a:r>
            <a:r>
              <a:rPr dirty="0"/>
              <a:t>Of </a:t>
            </a:r>
            <a:r>
              <a:rPr spc="-10" dirty="0"/>
              <a:t>Computer</a:t>
            </a:r>
            <a:r>
              <a:rPr spc="-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30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36806" y="9207020"/>
            <a:ext cx="136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Figure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7.2: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Class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Diagram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349" y="4189311"/>
            <a:ext cx="618680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88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Class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diagrams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most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common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diagrams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used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UML.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Class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diagram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main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building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block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any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object </a:t>
            </a:r>
            <a:r>
              <a:rPr sz="1000" dirty="0">
                <a:latin typeface="Times New Roman"/>
                <a:cs typeface="Times New Roman"/>
              </a:rPr>
              <a:t>oriented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solution.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shows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classes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system,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attributes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operations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each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class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relationship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between </a:t>
            </a:r>
            <a:r>
              <a:rPr sz="1000" dirty="0">
                <a:latin typeface="Times New Roman"/>
                <a:cs typeface="Times New Roman"/>
              </a:rPr>
              <a:t>each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class.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Class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diagrams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static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nature.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0825" y="3843473"/>
            <a:ext cx="2832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Times New Roman"/>
                <a:cs typeface="Times New Roman"/>
              </a:rPr>
              <a:t>7.4.1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0396" y="3937453"/>
            <a:ext cx="8261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imes New Roman"/>
                <a:cs typeface="Times New Roman"/>
              </a:rPr>
              <a:t>Class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Diagram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825" y="854315"/>
            <a:ext cx="19208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3695" algn="l"/>
              </a:tabLst>
            </a:pPr>
            <a:r>
              <a:rPr sz="1200" b="1" spc="-25" dirty="0">
                <a:latin typeface="Times New Roman"/>
                <a:cs typeface="Times New Roman"/>
              </a:rPr>
              <a:t>7.5</a:t>
            </a:r>
            <a:r>
              <a:rPr sz="1200" b="1" dirty="0">
                <a:latin typeface="Times New Roman"/>
                <a:cs typeface="Times New Roman"/>
              </a:rPr>
              <a:t>	Project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Implementation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550">
              <a:lnSpc>
                <a:spcPts val="1190"/>
              </a:lnSpc>
            </a:pPr>
            <a:r>
              <a:rPr spc="-10" dirty="0"/>
              <a:t>Department</a:t>
            </a:r>
            <a:r>
              <a:rPr spc="-5" dirty="0"/>
              <a:t> </a:t>
            </a:r>
            <a:r>
              <a:rPr dirty="0"/>
              <a:t>Of </a:t>
            </a:r>
            <a:r>
              <a:rPr spc="-10" dirty="0"/>
              <a:t>Computer</a:t>
            </a:r>
            <a:r>
              <a:rPr spc="-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31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825" y="1117534"/>
            <a:ext cx="278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Times New Roman"/>
                <a:cs typeface="Times New Roman"/>
              </a:rPr>
              <a:t>7.5.1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0396" y="1162859"/>
            <a:ext cx="15887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imes New Roman"/>
                <a:cs typeface="Times New Roman"/>
              </a:rPr>
              <a:t>Tools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and</a:t>
            </a:r>
            <a:r>
              <a:rPr sz="1000" b="1" spc="-10" dirty="0">
                <a:latin typeface="Times New Roman"/>
                <a:cs typeface="Times New Roman"/>
              </a:rPr>
              <a:t> Technologies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b="1" spc="-20" dirty="0">
                <a:latin typeface="Times New Roman"/>
                <a:cs typeface="Times New Roman"/>
              </a:rPr>
              <a:t>Used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078" y="1681086"/>
            <a:ext cx="5903595" cy="2084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38829">
              <a:lnSpc>
                <a:spcPct val="112500"/>
              </a:lnSpc>
              <a:spcBef>
                <a:spcPts val="100"/>
              </a:spcBef>
            </a:pPr>
            <a:r>
              <a:rPr sz="1000" b="1" dirty="0">
                <a:latin typeface="Times New Roman"/>
                <a:cs typeface="Times New Roman"/>
              </a:rPr>
              <a:t>Frontend:</a:t>
            </a:r>
            <a:r>
              <a:rPr sz="1000" b="1" spc="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HTML,</a:t>
            </a:r>
            <a:r>
              <a:rPr sz="1000" b="1" spc="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CSS,</a:t>
            </a:r>
            <a:r>
              <a:rPr sz="1000" b="1" spc="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JavaScript,</a:t>
            </a:r>
            <a:r>
              <a:rPr sz="1000" b="1" spc="2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Bootstrap </a:t>
            </a:r>
            <a:r>
              <a:rPr sz="1000" b="1" dirty="0">
                <a:latin typeface="Times New Roman"/>
                <a:cs typeface="Times New Roman"/>
              </a:rPr>
              <a:t>Backend:</a:t>
            </a:r>
            <a:r>
              <a:rPr sz="1000" b="1" spc="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Python,</a:t>
            </a:r>
            <a:r>
              <a:rPr sz="1000" b="1" spc="3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Django</a:t>
            </a:r>
            <a:r>
              <a:rPr sz="1000" b="1" spc="3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Framework</a:t>
            </a:r>
            <a:r>
              <a:rPr sz="1000" b="1" spc="50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LLM/AI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Model: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Gemini</a:t>
            </a:r>
            <a:r>
              <a:rPr sz="1000" b="1" spc="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/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OpenAI</a:t>
            </a:r>
            <a:r>
              <a:rPr sz="1000" b="1" spc="25" dirty="0">
                <a:latin typeface="Times New Roman"/>
                <a:cs typeface="Times New Roman"/>
              </a:rPr>
              <a:t> </a:t>
            </a:r>
            <a:r>
              <a:rPr sz="1000" b="1" spc="-20" dirty="0">
                <a:latin typeface="Times New Roman"/>
                <a:cs typeface="Times New Roman"/>
              </a:rPr>
              <a:t>model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00" b="1" dirty="0">
                <a:latin typeface="Times New Roman"/>
                <a:cs typeface="Times New Roman"/>
              </a:rPr>
              <a:t>ML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Model:</a:t>
            </a:r>
            <a:r>
              <a:rPr sz="1000" b="1" spc="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Image</a:t>
            </a:r>
            <a:r>
              <a:rPr sz="1000" b="1" spc="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Classification</a:t>
            </a:r>
            <a:r>
              <a:rPr sz="1000" b="1" spc="2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(TensorFlow</a:t>
            </a:r>
            <a:r>
              <a:rPr sz="1000" b="1" spc="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/</a:t>
            </a:r>
            <a:r>
              <a:rPr sz="1000" b="1" spc="3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PyTorch)</a:t>
            </a:r>
            <a:endParaRPr sz="1000">
              <a:latin typeface="Times New Roman"/>
              <a:cs typeface="Times New Roman"/>
            </a:endParaRPr>
          </a:p>
          <a:p>
            <a:pPr marL="12700" marR="3175000">
              <a:lnSpc>
                <a:spcPct val="112500"/>
              </a:lnSpc>
            </a:pPr>
            <a:r>
              <a:rPr sz="1000" b="1" dirty="0">
                <a:latin typeface="Times New Roman"/>
                <a:cs typeface="Times New Roman"/>
              </a:rPr>
              <a:t>IDE</a:t>
            </a:r>
            <a:r>
              <a:rPr sz="1000" b="1" spc="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/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Tools:</a:t>
            </a:r>
            <a:r>
              <a:rPr sz="1000" b="1" dirty="0">
                <a:latin typeface="Times New Roman"/>
                <a:cs typeface="Times New Roman"/>
              </a:rPr>
              <a:t> VS</a:t>
            </a:r>
            <a:r>
              <a:rPr sz="1000" b="1" spc="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Code,</a:t>
            </a:r>
            <a:r>
              <a:rPr sz="1000" b="1" spc="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Jupyter Notebook,</a:t>
            </a:r>
            <a:r>
              <a:rPr sz="1000" b="1" spc="1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GitHub </a:t>
            </a:r>
            <a:r>
              <a:rPr sz="1000" b="1" dirty="0">
                <a:latin typeface="Times New Roman"/>
                <a:cs typeface="Times New Roman"/>
              </a:rPr>
              <a:t>[Page</a:t>
            </a:r>
            <a:r>
              <a:rPr sz="1000" b="1" spc="5" dirty="0">
                <a:latin typeface="Times New Roman"/>
                <a:cs typeface="Times New Roman"/>
              </a:rPr>
              <a:t> </a:t>
            </a:r>
            <a:r>
              <a:rPr sz="1000" b="1" spc="-25" dirty="0">
                <a:latin typeface="Times New Roman"/>
                <a:cs typeface="Times New Roman"/>
              </a:rPr>
              <a:t>28]</a:t>
            </a:r>
            <a:endParaRPr sz="1000">
              <a:latin typeface="Times New Roman"/>
              <a:cs typeface="Times New Roman"/>
            </a:endParaRPr>
          </a:p>
          <a:p>
            <a:pPr marL="12700" marR="95885">
              <a:lnSpc>
                <a:spcPct val="112500"/>
              </a:lnSpc>
            </a:pPr>
            <a:r>
              <a:rPr sz="1000" b="1" dirty="0">
                <a:latin typeface="Times New Roman"/>
                <a:cs typeface="Times New Roman"/>
              </a:rPr>
              <a:t>Django</a:t>
            </a:r>
            <a:r>
              <a:rPr sz="1000" b="1" spc="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Framework: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Used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for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the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backend,</a:t>
            </a:r>
            <a:r>
              <a:rPr sz="1000" b="1" spc="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providing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structure,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security</a:t>
            </a:r>
            <a:r>
              <a:rPr sz="1000" b="1" spc="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(CSRF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protection),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and</a:t>
            </a:r>
            <a:r>
              <a:rPr sz="1000" b="1" spc="1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template rendering.</a:t>
            </a:r>
            <a:endParaRPr sz="1000">
              <a:latin typeface="Times New Roman"/>
              <a:cs typeface="Times New Roman"/>
            </a:endParaRPr>
          </a:p>
          <a:p>
            <a:pPr marL="12700" marR="92710">
              <a:lnSpc>
                <a:spcPct val="112500"/>
              </a:lnSpc>
            </a:pPr>
            <a:r>
              <a:rPr sz="1000" b="1" dirty="0">
                <a:latin typeface="Times New Roman"/>
                <a:cs typeface="Times New Roman"/>
              </a:rPr>
              <a:t>Gemini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LLM: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Used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for waste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classification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and,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crucially,</a:t>
            </a:r>
            <a:r>
              <a:rPr sz="1000" b="1" spc="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for generating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the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contextual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and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legal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disposal </a:t>
            </a:r>
            <a:r>
              <a:rPr sz="1000" b="1" dirty="0">
                <a:latin typeface="Times New Roman"/>
                <a:cs typeface="Times New Roman"/>
              </a:rPr>
              <a:t>instructions</a:t>
            </a:r>
            <a:r>
              <a:rPr sz="1000" b="1" spc="4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and</a:t>
            </a:r>
            <a:r>
              <a:rPr sz="1000" b="1" spc="4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explanations.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ct val="112500"/>
              </a:lnSpc>
            </a:pPr>
            <a:r>
              <a:rPr sz="1000" b="1" dirty="0">
                <a:latin typeface="Times New Roman"/>
                <a:cs typeface="Times New Roman"/>
              </a:rPr>
              <a:t>Image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Preprocessing: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Python</a:t>
            </a:r>
            <a:r>
              <a:rPr sz="1000" b="1" spc="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libraries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handle</a:t>
            </a:r>
            <a:r>
              <a:rPr sz="1000" b="1" spc="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image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resizing,</a:t>
            </a:r>
            <a:r>
              <a:rPr sz="1000" b="1" spc="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noise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reduction,</a:t>
            </a:r>
            <a:r>
              <a:rPr sz="1000" b="1" spc="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and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background</a:t>
            </a:r>
            <a:r>
              <a:rPr sz="1000" b="1" spc="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removal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spc="-25" dirty="0">
                <a:latin typeface="Times New Roman"/>
                <a:cs typeface="Times New Roman"/>
              </a:rPr>
              <a:t>for </a:t>
            </a:r>
            <a:r>
              <a:rPr sz="1000" b="1" dirty="0">
                <a:latin typeface="Times New Roman"/>
                <a:cs typeface="Times New Roman"/>
              </a:rPr>
              <a:t>uniform</a:t>
            </a:r>
            <a:r>
              <a:rPr sz="1000" b="1" spc="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input</a:t>
            </a:r>
            <a:r>
              <a:rPr sz="1000" b="1" spc="3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quality</a:t>
            </a:r>
            <a:r>
              <a:rPr sz="1000" b="1" spc="3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before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AI</a:t>
            </a:r>
            <a:r>
              <a:rPr sz="1000" b="1" spc="3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model</a:t>
            </a:r>
            <a:r>
              <a:rPr sz="1000" b="1" spc="3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execution.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7662" y="1515837"/>
            <a:ext cx="891540" cy="242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145" dirty="0">
                <a:latin typeface="Arial Black"/>
                <a:cs typeface="Arial Black"/>
              </a:rPr>
              <a:t>Test</a:t>
            </a:r>
            <a:r>
              <a:rPr sz="1500" spc="-120" dirty="0">
                <a:latin typeface="Arial Black"/>
                <a:cs typeface="Arial Black"/>
              </a:rPr>
              <a:t> </a:t>
            </a:r>
            <a:r>
              <a:rPr sz="1500" spc="-150" dirty="0">
                <a:latin typeface="Arial Black"/>
                <a:cs typeface="Arial Black"/>
              </a:rPr>
              <a:t>Case</a:t>
            </a:r>
            <a:endParaRPr sz="1500">
              <a:latin typeface="Arial Black"/>
              <a:cs typeface="Arial Black"/>
            </a:endParaRPr>
          </a:p>
          <a:p>
            <a:pPr marR="176530" algn="just">
              <a:lnSpc>
                <a:spcPct val="315400"/>
              </a:lnSpc>
              <a:spcBef>
                <a:spcPts val="5"/>
              </a:spcBef>
            </a:pPr>
            <a:r>
              <a:rPr sz="1500" spc="-25" dirty="0">
                <a:latin typeface="Verdana"/>
                <a:cs typeface="Verdana"/>
              </a:rPr>
              <a:t>TC-001 </a:t>
            </a:r>
            <a:r>
              <a:rPr sz="1500" spc="-10" dirty="0">
                <a:latin typeface="Verdana"/>
                <a:cs typeface="Verdana"/>
              </a:rPr>
              <a:t>TC-</a:t>
            </a:r>
            <a:r>
              <a:rPr sz="1500" spc="-25" dirty="0">
                <a:latin typeface="Verdana"/>
                <a:cs typeface="Verdana"/>
              </a:rPr>
              <a:t>003 </a:t>
            </a:r>
            <a:r>
              <a:rPr sz="1500" dirty="0">
                <a:latin typeface="Verdana"/>
                <a:cs typeface="Verdana"/>
              </a:rPr>
              <a:t>TC-</a:t>
            </a:r>
            <a:r>
              <a:rPr sz="1500" spc="-25" dirty="0">
                <a:latin typeface="Verdana"/>
                <a:cs typeface="Verdana"/>
              </a:rPr>
              <a:t>006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14323" y="1411022"/>
            <a:ext cx="1607820" cy="264223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R="698500">
              <a:lnSpc>
                <a:spcPts val="1730"/>
              </a:lnSpc>
              <a:spcBef>
                <a:spcPts val="219"/>
              </a:spcBef>
            </a:pPr>
            <a:r>
              <a:rPr sz="1500" spc="-145" dirty="0">
                <a:latin typeface="Arial Black"/>
                <a:cs typeface="Arial Black"/>
              </a:rPr>
              <a:t>Test</a:t>
            </a:r>
            <a:r>
              <a:rPr sz="1500" spc="-120" dirty="0">
                <a:latin typeface="Arial Black"/>
                <a:cs typeface="Arial Black"/>
              </a:rPr>
              <a:t> </a:t>
            </a:r>
            <a:r>
              <a:rPr sz="1500" spc="-85" dirty="0">
                <a:latin typeface="Arial Black"/>
                <a:cs typeface="Arial Black"/>
              </a:rPr>
              <a:t>case Objective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ts val="1730"/>
              </a:lnSpc>
              <a:spcBef>
                <a:spcPts val="1689"/>
              </a:spcBef>
            </a:pPr>
            <a:r>
              <a:rPr sz="1500" spc="-45" dirty="0">
                <a:latin typeface="Verdana"/>
                <a:cs typeface="Verdana"/>
              </a:rPr>
              <a:t>Leave</a:t>
            </a:r>
            <a:r>
              <a:rPr sz="1500" spc="-14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all</a:t>
            </a:r>
            <a:r>
              <a:rPr sz="1500" spc="-14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fields</a:t>
            </a:r>
            <a:r>
              <a:rPr sz="1500" spc="-140" dirty="0">
                <a:latin typeface="Verdana"/>
                <a:cs typeface="Verdana"/>
              </a:rPr>
              <a:t> </a:t>
            </a:r>
            <a:r>
              <a:rPr sz="1500" spc="-40" dirty="0">
                <a:latin typeface="Verdana"/>
                <a:cs typeface="Verdana"/>
              </a:rPr>
              <a:t>as </a:t>
            </a:r>
            <a:r>
              <a:rPr sz="1500" spc="-50" dirty="0">
                <a:latin typeface="Verdana"/>
                <a:cs typeface="Verdana"/>
              </a:rPr>
              <a:t>blank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and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click</a:t>
            </a:r>
            <a:endParaRPr sz="1500">
              <a:latin typeface="Verdana"/>
              <a:cs typeface="Verdana"/>
            </a:endParaRPr>
          </a:p>
          <a:p>
            <a:pPr>
              <a:lnSpc>
                <a:spcPts val="1675"/>
              </a:lnSpc>
            </a:pPr>
            <a:r>
              <a:rPr sz="1500" spc="-50" dirty="0">
                <a:latin typeface="Verdana"/>
                <a:cs typeface="Verdana"/>
              </a:rPr>
              <a:t>Log-</a:t>
            </a:r>
            <a:r>
              <a:rPr sz="1500" spc="-40" dirty="0">
                <a:latin typeface="Verdana"/>
                <a:cs typeface="Verdana"/>
              </a:rPr>
              <a:t>in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button</a:t>
            </a:r>
            <a:endParaRPr sz="1500">
              <a:latin typeface="Verdana"/>
              <a:cs typeface="Verdana"/>
            </a:endParaRPr>
          </a:p>
          <a:p>
            <a:pPr marR="608330">
              <a:lnSpc>
                <a:spcPts val="1730"/>
              </a:lnSpc>
              <a:spcBef>
                <a:spcPts val="1070"/>
              </a:spcBef>
            </a:pPr>
            <a:r>
              <a:rPr sz="1500" spc="-25" dirty="0">
                <a:latin typeface="Verdana"/>
                <a:cs typeface="Verdana"/>
              </a:rPr>
              <a:t>Enter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valid </a:t>
            </a:r>
            <a:r>
              <a:rPr sz="1500" spc="-10" dirty="0">
                <a:latin typeface="Verdana"/>
                <a:cs typeface="Verdana"/>
              </a:rPr>
              <a:t>Username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500">
              <a:latin typeface="Verdana"/>
              <a:cs typeface="Verdana"/>
            </a:endParaRPr>
          </a:p>
          <a:p>
            <a:pPr marR="349885">
              <a:lnSpc>
                <a:spcPts val="1730"/>
              </a:lnSpc>
              <a:spcBef>
                <a:spcPts val="5"/>
              </a:spcBef>
            </a:pPr>
            <a:r>
              <a:rPr sz="1500" spc="-25" dirty="0">
                <a:latin typeface="Verdana"/>
                <a:cs typeface="Verdana"/>
              </a:rPr>
              <a:t>Enter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Correct password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00984" y="1515837"/>
            <a:ext cx="1729739" cy="2689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125" dirty="0">
                <a:latin typeface="Arial Black"/>
                <a:cs typeface="Arial Black"/>
              </a:rPr>
              <a:t>Expected</a:t>
            </a:r>
            <a:r>
              <a:rPr sz="1500" spc="-80" dirty="0">
                <a:latin typeface="Arial Black"/>
                <a:cs typeface="Arial Black"/>
              </a:rPr>
              <a:t> </a:t>
            </a:r>
            <a:r>
              <a:rPr sz="1500" spc="-10" dirty="0">
                <a:latin typeface="Arial Black"/>
                <a:cs typeface="Arial Black"/>
              </a:rPr>
              <a:t>Result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ts val="1730"/>
              </a:lnSpc>
            </a:pPr>
            <a:r>
              <a:rPr sz="1500" spc="-10" dirty="0">
                <a:latin typeface="Verdana"/>
                <a:cs typeface="Verdana"/>
              </a:rPr>
              <a:t>Mandatory</a:t>
            </a:r>
            <a:r>
              <a:rPr sz="1500" spc="-15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symbol </a:t>
            </a:r>
            <a:r>
              <a:rPr sz="1500" spc="-215" dirty="0">
                <a:latin typeface="Verdana"/>
                <a:cs typeface="Verdana"/>
              </a:rPr>
              <a:t>(*)</a:t>
            </a:r>
            <a:r>
              <a:rPr sz="1500" spc="-14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should appear225.</a:t>
            </a:r>
            <a:endParaRPr sz="1500">
              <a:latin typeface="Verdana"/>
              <a:cs typeface="Verdana"/>
            </a:endParaRPr>
          </a:p>
          <a:p>
            <a:pPr marR="29209">
              <a:lnSpc>
                <a:spcPts val="1730"/>
              </a:lnSpc>
              <a:spcBef>
                <a:spcPts val="489"/>
              </a:spcBef>
            </a:pPr>
            <a:r>
              <a:rPr sz="1500" spc="-95" dirty="0">
                <a:latin typeface="Verdana"/>
                <a:cs typeface="Verdana"/>
              </a:rPr>
              <a:t>It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should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allow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the </a:t>
            </a:r>
            <a:r>
              <a:rPr sz="1500" spc="-40" dirty="0">
                <a:latin typeface="Verdana"/>
                <a:cs typeface="Verdana"/>
              </a:rPr>
              <a:t>user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to </a:t>
            </a:r>
            <a:r>
              <a:rPr sz="1500" spc="-10" dirty="0">
                <a:latin typeface="Verdana"/>
                <a:cs typeface="Verdana"/>
              </a:rPr>
              <a:t>proceed226.</a:t>
            </a:r>
            <a:endParaRPr sz="1500">
              <a:latin typeface="Verdana"/>
              <a:cs typeface="Verdana"/>
            </a:endParaRPr>
          </a:p>
          <a:p>
            <a:pPr marR="29209">
              <a:lnSpc>
                <a:spcPts val="1730"/>
              </a:lnSpc>
              <a:spcBef>
                <a:spcPts val="484"/>
              </a:spcBef>
            </a:pPr>
            <a:r>
              <a:rPr sz="1500" spc="-95" dirty="0">
                <a:latin typeface="Verdana"/>
                <a:cs typeface="Verdana"/>
              </a:rPr>
              <a:t>It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should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allow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the </a:t>
            </a:r>
            <a:r>
              <a:rPr sz="1500" spc="-40" dirty="0">
                <a:latin typeface="Verdana"/>
                <a:cs typeface="Verdana"/>
              </a:rPr>
              <a:t>user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to </a:t>
            </a:r>
            <a:r>
              <a:rPr sz="1500" spc="-10" dirty="0">
                <a:latin typeface="Verdana"/>
                <a:cs typeface="Verdana"/>
              </a:rPr>
              <a:t>proceed227.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6692" y="1285978"/>
            <a:ext cx="5669915" cy="2894330"/>
            <a:chOff x="946692" y="1285978"/>
            <a:chExt cx="5669915" cy="2894330"/>
          </a:xfrm>
        </p:grpSpPr>
        <p:sp>
          <p:nvSpPr>
            <p:cNvPr id="6" name="object 6"/>
            <p:cNvSpPr/>
            <p:nvPr/>
          </p:nvSpPr>
          <p:spPr>
            <a:xfrm>
              <a:off x="951445" y="1295513"/>
              <a:ext cx="5660390" cy="2875280"/>
            </a:xfrm>
            <a:custGeom>
              <a:avLst/>
              <a:gdLst/>
              <a:ahLst/>
              <a:cxnLst/>
              <a:rect l="l" t="t" r="r" b="b"/>
              <a:pathLst>
                <a:path w="5660390" h="2875279">
                  <a:moveTo>
                    <a:pt x="5659945" y="0"/>
                  </a:moveTo>
                  <a:lnTo>
                    <a:pt x="3773297" y="0"/>
                  </a:lnTo>
                  <a:lnTo>
                    <a:pt x="1886648" y="0"/>
                  </a:lnTo>
                  <a:lnTo>
                    <a:pt x="0" y="0"/>
                  </a:lnTo>
                  <a:lnTo>
                    <a:pt x="0" y="2874657"/>
                  </a:lnTo>
                  <a:lnTo>
                    <a:pt x="1886648" y="2874657"/>
                  </a:lnTo>
                  <a:lnTo>
                    <a:pt x="3773297" y="2874657"/>
                  </a:lnTo>
                  <a:lnTo>
                    <a:pt x="5659945" y="2874657"/>
                  </a:lnTo>
                  <a:lnTo>
                    <a:pt x="56599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46692" y="1290742"/>
              <a:ext cx="5669915" cy="2884805"/>
            </a:xfrm>
            <a:custGeom>
              <a:avLst/>
              <a:gdLst/>
              <a:ahLst/>
              <a:cxnLst/>
              <a:rect l="l" t="t" r="r" b="b"/>
              <a:pathLst>
                <a:path w="5669915" h="2884804">
                  <a:moveTo>
                    <a:pt x="4764" y="4764"/>
                  </a:moveTo>
                  <a:lnTo>
                    <a:pt x="4764" y="2879420"/>
                  </a:lnTo>
                </a:path>
                <a:path w="5669915" h="2884804">
                  <a:moveTo>
                    <a:pt x="1891409" y="4764"/>
                  </a:moveTo>
                  <a:lnTo>
                    <a:pt x="1891409" y="2879420"/>
                  </a:lnTo>
                </a:path>
                <a:path w="5669915" h="2884804">
                  <a:moveTo>
                    <a:pt x="3778054" y="4764"/>
                  </a:moveTo>
                  <a:lnTo>
                    <a:pt x="3778054" y="2879420"/>
                  </a:lnTo>
                </a:path>
                <a:path w="5669915" h="2884804">
                  <a:moveTo>
                    <a:pt x="5664699" y="4764"/>
                  </a:moveTo>
                  <a:lnTo>
                    <a:pt x="5664699" y="2879420"/>
                  </a:lnTo>
                </a:path>
                <a:path w="5669915" h="2884804">
                  <a:moveTo>
                    <a:pt x="0" y="0"/>
                  </a:moveTo>
                  <a:lnTo>
                    <a:pt x="5669463" y="0"/>
                  </a:lnTo>
                </a:path>
                <a:path w="5669915" h="2884804">
                  <a:moveTo>
                    <a:pt x="0" y="721046"/>
                  </a:moveTo>
                  <a:lnTo>
                    <a:pt x="5669463" y="721046"/>
                  </a:lnTo>
                </a:path>
                <a:path w="5669915" h="2884804">
                  <a:moveTo>
                    <a:pt x="0" y="1442092"/>
                  </a:moveTo>
                  <a:lnTo>
                    <a:pt x="5669463" y="1442092"/>
                  </a:lnTo>
                </a:path>
                <a:path w="5669915" h="2884804">
                  <a:moveTo>
                    <a:pt x="0" y="2163138"/>
                  </a:moveTo>
                  <a:lnTo>
                    <a:pt x="5669463" y="2163138"/>
                  </a:lnTo>
                </a:path>
                <a:path w="5669915" h="2884804">
                  <a:moveTo>
                    <a:pt x="0" y="2884185"/>
                  </a:moveTo>
                  <a:lnTo>
                    <a:pt x="5669463" y="2884185"/>
                  </a:lnTo>
                </a:path>
              </a:pathLst>
            </a:custGeom>
            <a:ln w="9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27662" y="5872432"/>
            <a:ext cx="1666875" cy="245237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>
              <a:lnSpc>
                <a:spcPts val="1730"/>
              </a:lnSpc>
              <a:spcBef>
                <a:spcPts val="219"/>
              </a:spcBef>
            </a:pPr>
            <a:r>
              <a:rPr sz="1500" spc="-130" dirty="0">
                <a:latin typeface="Arial Black"/>
                <a:cs typeface="Arial Black"/>
              </a:rPr>
              <a:t>GUI</a:t>
            </a:r>
            <a:r>
              <a:rPr sz="1500" spc="-100" dirty="0">
                <a:latin typeface="Arial Black"/>
                <a:cs typeface="Arial Black"/>
              </a:rPr>
              <a:t> </a:t>
            </a:r>
            <a:r>
              <a:rPr sz="1500" spc="-90" dirty="0">
                <a:latin typeface="Arial Black"/>
                <a:cs typeface="Arial Black"/>
              </a:rPr>
              <a:t>Usability</a:t>
            </a:r>
            <a:r>
              <a:rPr sz="1500" spc="-95" dirty="0">
                <a:latin typeface="Arial Black"/>
                <a:cs typeface="Arial Black"/>
              </a:rPr>
              <a:t> </a:t>
            </a:r>
            <a:r>
              <a:rPr sz="1500" spc="-135" dirty="0">
                <a:latin typeface="Arial Black"/>
                <a:cs typeface="Arial Black"/>
              </a:rPr>
              <a:t>Test </a:t>
            </a:r>
            <a:r>
              <a:rPr sz="1500" spc="-10" dirty="0">
                <a:latin typeface="Arial Black"/>
                <a:cs typeface="Arial Black"/>
              </a:rPr>
              <a:t>Scenarios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25" dirty="0">
                <a:latin typeface="Verdana"/>
                <a:cs typeface="Verdana"/>
              </a:rPr>
              <a:t>TC-001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sz="1500" spc="-10" dirty="0">
                <a:latin typeface="Verdana"/>
                <a:cs typeface="Verdana"/>
              </a:rPr>
              <a:t>TC-</a:t>
            </a:r>
            <a:r>
              <a:rPr sz="1500" spc="-25" dirty="0">
                <a:latin typeface="Verdana"/>
                <a:cs typeface="Verdana"/>
              </a:rPr>
              <a:t>003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4323" y="6802094"/>
            <a:ext cx="1287780" cy="163703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R="345440" algn="just">
              <a:lnSpc>
                <a:spcPts val="1730"/>
              </a:lnSpc>
              <a:spcBef>
                <a:spcPts val="219"/>
              </a:spcBef>
            </a:pPr>
            <a:r>
              <a:rPr sz="1500" spc="-50" dirty="0">
                <a:latin typeface="Verdana"/>
                <a:cs typeface="Verdana"/>
              </a:rPr>
              <a:t>Check </a:t>
            </a:r>
            <a:r>
              <a:rPr sz="1500" spc="-25" dirty="0">
                <a:latin typeface="Verdana"/>
                <a:cs typeface="Verdana"/>
              </a:rPr>
              <a:t>for </a:t>
            </a:r>
            <a:r>
              <a:rPr sz="1500" spc="-20" dirty="0">
                <a:latin typeface="Verdana"/>
                <a:cs typeface="Verdana"/>
              </a:rPr>
              <a:t>Validation </a:t>
            </a:r>
            <a:r>
              <a:rPr sz="1500" spc="-10" dirty="0">
                <a:latin typeface="Verdana"/>
                <a:cs typeface="Verdana"/>
              </a:rPr>
              <a:t>Messages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ts val="1730"/>
              </a:lnSpc>
              <a:spcBef>
                <a:spcPts val="5"/>
              </a:spcBef>
            </a:pPr>
            <a:r>
              <a:rPr sz="1500" spc="-35" dirty="0">
                <a:latin typeface="Verdana"/>
                <a:cs typeface="Verdana"/>
              </a:rPr>
              <a:t>Check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text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for </a:t>
            </a:r>
            <a:r>
              <a:rPr sz="1500" spc="-10" dirty="0">
                <a:latin typeface="Verdana"/>
                <a:cs typeface="Verdana"/>
              </a:rPr>
              <a:t>errors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00984" y="6697280"/>
            <a:ext cx="1668145" cy="1742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764"/>
              </a:lnSpc>
              <a:spcBef>
                <a:spcPts val="100"/>
              </a:spcBef>
            </a:pPr>
            <a:r>
              <a:rPr sz="1500" spc="-20" dirty="0">
                <a:latin typeface="Verdana"/>
                <a:cs typeface="Verdana"/>
              </a:rPr>
              <a:t>Validation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error</a:t>
            </a:r>
            <a:endParaRPr sz="1500">
              <a:latin typeface="Verdana"/>
              <a:cs typeface="Verdana"/>
            </a:endParaRPr>
          </a:p>
          <a:p>
            <a:pPr>
              <a:lnSpc>
                <a:spcPts val="1730"/>
              </a:lnSpc>
              <a:spcBef>
                <a:spcPts val="80"/>
              </a:spcBef>
            </a:pPr>
            <a:r>
              <a:rPr sz="1500" spc="-65" dirty="0">
                <a:latin typeface="Verdana"/>
                <a:cs typeface="Verdana"/>
              </a:rPr>
              <a:t>messages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Shall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be </a:t>
            </a:r>
            <a:r>
              <a:rPr sz="1500" spc="-10" dirty="0">
                <a:latin typeface="Verdana"/>
                <a:cs typeface="Verdana"/>
              </a:rPr>
              <a:t>displayed properly228.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1500">
              <a:latin typeface="Verdana"/>
              <a:cs typeface="Verdana"/>
            </a:endParaRPr>
          </a:p>
          <a:p>
            <a:pPr marR="139700">
              <a:lnSpc>
                <a:spcPts val="1730"/>
              </a:lnSpc>
            </a:pPr>
            <a:r>
              <a:rPr sz="1500" dirty="0">
                <a:latin typeface="Verdana"/>
                <a:cs typeface="Verdana"/>
              </a:rPr>
              <a:t>All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Spelling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Shall </a:t>
            </a:r>
            <a:r>
              <a:rPr sz="1500" dirty="0">
                <a:latin typeface="Verdana"/>
                <a:cs typeface="Verdana"/>
              </a:rPr>
              <a:t>be</a:t>
            </a:r>
            <a:r>
              <a:rPr sz="1500" spc="-16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Correct229.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46748" y="5585402"/>
            <a:ext cx="5669915" cy="3141980"/>
            <a:chOff x="946748" y="5585402"/>
            <a:chExt cx="5669915" cy="3141980"/>
          </a:xfrm>
        </p:grpSpPr>
        <p:sp>
          <p:nvSpPr>
            <p:cNvPr id="12" name="object 12"/>
            <p:cNvSpPr/>
            <p:nvPr/>
          </p:nvSpPr>
          <p:spPr>
            <a:xfrm>
              <a:off x="951509" y="5594933"/>
              <a:ext cx="5660390" cy="3122930"/>
            </a:xfrm>
            <a:custGeom>
              <a:avLst/>
              <a:gdLst/>
              <a:ahLst/>
              <a:cxnLst/>
              <a:rect l="l" t="t" r="r" b="b"/>
              <a:pathLst>
                <a:path w="5660390" h="3122929">
                  <a:moveTo>
                    <a:pt x="5659818" y="0"/>
                  </a:moveTo>
                  <a:lnTo>
                    <a:pt x="3773208" y="0"/>
                  </a:lnTo>
                  <a:lnTo>
                    <a:pt x="1886610" y="0"/>
                  </a:lnTo>
                  <a:lnTo>
                    <a:pt x="0" y="0"/>
                  </a:lnTo>
                  <a:lnTo>
                    <a:pt x="0" y="3122409"/>
                  </a:lnTo>
                  <a:lnTo>
                    <a:pt x="1886610" y="3122409"/>
                  </a:lnTo>
                  <a:lnTo>
                    <a:pt x="3773208" y="3122409"/>
                  </a:lnTo>
                  <a:lnTo>
                    <a:pt x="5659818" y="3122409"/>
                  </a:lnTo>
                  <a:lnTo>
                    <a:pt x="56598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46748" y="5590166"/>
              <a:ext cx="5669915" cy="3132455"/>
            </a:xfrm>
            <a:custGeom>
              <a:avLst/>
              <a:gdLst/>
              <a:ahLst/>
              <a:cxnLst/>
              <a:rect l="l" t="t" r="r" b="b"/>
              <a:pathLst>
                <a:path w="5669915" h="3132454">
                  <a:moveTo>
                    <a:pt x="4764" y="4764"/>
                  </a:moveTo>
                  <a:lnTo>
                    <a:pt x="4764" y="3127164"/>
                  </a:lnTo>
                </a:path>
                <a:path w="5669915" h="3132454">
                  <a:moveTo>
                    <a:pt x="1891372" y="4764"/>
                  </a:moveTo>
                  <a:lnTo>
                    <a:pt x="1891372" y="3127164"/>
                  </a:lnTo>
                </a:path>
                <a:path w="5669915" h="3132454">
                  <a:moveTo>
                    <a:pt x="3777980" y="4764"/>
                  </a:moveTo>
                  <a:lnTo>
                    <a:pt x="3777980" y="3127164"/>
                  </a:lnTo>
                </a:path>
                <a:path w="5669915" h="3132454">
                  <a:moveTo>
                    <a:pt x="5664589" y="4764"/>
                  </a:moveTo>
                  <a:lnTo>
                    <a:pt x="5664589" y="3127164"/>
                  </a:lnTo>
                </a:path>
                <a:path w="5669915" h="3132454">
                  <a:moveTo>
                    <a:pt x="0" y="0"/>
                  </a:moveTo>
                  <a:lnTo>
                    <a:pt x="5669353" y="0"/>
                  </a:lnTo>
                </a:path>
                <a:path w="5669915" h="3132454">
                  <a:moveTo>
                    <a:pt x="0" y="1043976"/>
                  </a:moveTo>
                  <a:lnTo>
                    <a:pt x="5669353" y="1043976"/>
                  </a:lnTo>
                </a:path>
                <a:path w="5669915" h="3132454">
                  <a:moveTo>
                    <a:pt x="0" y="2087952"/>
                  </a:moveTo>
                  <a:lnTo>
                    <a:pt x="5669353" y="2087952"/>
                  </a:lnTo>
                </a:path>
                <a:path w="5669915" h="3132454">
                  <a:moveTo>
                    <a:pt x="0" y="3131928"/>
                  </a:moveTo>
                  <a:lnTo>
                    <a:pt x="5669353" y="3131928"/>
                  </a:lnTo>
                </a:path>
              </a:pathLst>
            </a:custGeom>
            <a:ln w="9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00825" y="854315"/>
            <a:ext cx="14725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3695" algn="l"/>
              </a:tabLst>
            </a:pPr>
            <a:r>
              <a:rPr sz="1200" b="1" spc="-25" dirty="0">
                <a:latin typeface="Times New Roman"/>
                <a:cs typeface="Times New Roman"/>
              </a:rPr>
              <a:t>7.6</a:t>
            </a:r>
            <a:r>
              <a:rPr sz="1200" b="1" dirty="0">
                <a:latin typeface="Times New Roman"/>
                <a:cs typeface="Times New Roman"/>
              </a:rPr>
              <a:t>	Software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Testing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33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7662" y="1034197"/>
            <a:ext cx="1214120" cy="131127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>
              <a:lnSpc>
                <a:spcPts val="1730"/>
              </a:lnSpc>
              <a:spcBef>
                <a:spcPts val="219"/>
              </a:spcBef>
            </a:pPr>
            <a:r>
              <a:rPr sz="1500" spc="-90" dirty="0">
                <a:latin typeface="Arial Black"/>
                <a:cs typeface="Arial Black"/>
              </a:rPr>
              <a:t>Performance </a:t>
            </a:r>
            <a:r>
              <a:rPr sz="1500" spc="-130" dirty="0">
                <a:latin typeface="Arial Black"/>
                <a:cs typeface="Arial Black"/>
              </a:rPr>
              <a:t>Testing</a:t>
            </a:r>
            <a:r>
              <a:rPr sz="1500" spc="-105" dirty="0">
                <a:latin typeface="Arial Black"/>
                <a:cs typeface="Arial Black"/>
              </a:rPr>
              <a:t> </a:t>
            </a:r>
            <a:r>
              <a:rPr sz="1500" spc="-20" dirty="0">
                <a:latin typeface="Arial Black"/>
                <a:cs typeface="Arial Black"/>
              </a:rPr>
              <a:t>Test </a:t>
            </a:r>
            <a:r>
              <a:rPr sz="1500" spc="-10" dirty="0">
                <a:latin typeface="Arial Black"/>
                <a:cs typeface="Arial Black"/>
              </a:rPr>
              <a:t>Scenarios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latin typeface="Verdana"/>
                <a:cs typeface="Verdana"/>
              </a:rPr>
              <a:t>TC-</a:t>
            </a:r>
            <a:r>
              <a:rPr sz="1500" spc="-25" dirty="0">
                <a:latin typeface="Verdana"/>
                <a:cs typeface="Verdana"/>
              </a:rPr>
              <a:t>003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14323" y="1980994"/>
            <a:ext cx="1733550" cy="4787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>
              <a:lnSpc>
                <a:spcPts val="1730"/>
              </a:lnSpc>
              <a:spcBef>
                <a:spcPts val="219"/>
              </a:spcBef>
            </a:pPr>
            <a:r>
              <a:rPr sz="1500" spc="-35" dirty="0">
                <a:latin typeface="Verdana"/>
                <a:cs typeface="Verdana"/>
              </a:rPr>
              <a:t>Check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response </a:t>
            </a:r>
            <a:r>
              <a:rPr sz="1500" spc="-35" dirty="0">
                <a:latin typeface="Verdana"/>
                <a:cs typeface="Verdana"/>
              </a:rPr>
              <a:t>time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for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spc="-55" dirty="0">
                <a:latin typeface="Verdana"/>
                <a:cs typeface="Verdana"/>
              </a:rPr>
              <a:t>any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action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00984" y="1857123"/>
            <a:ext cx="1482090" cy="69786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R="226695">
              <a:lnSpc>
                <a:spcPts val="1730"/>
              </a:lnSpc>
              <a:spcBef>
                <a:spcPts val="219"/>
              </a:spcBef>
            </a:pPr>
            <a:r>
              <a:rPr sz="1500" spc="-45" dirty="0">
                <a:latin typeface="Verdana"/>
                <a:cs typeface="Verdana"/>
              </a:rPr>
              <a:t>Page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spc="-30" dirty="0">
                <a:latin typeface="Verdana"/>
                <a:cs typeface="Verdana"/>
              </a:rPr>
              <a:t>shall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be </a:t>
            </a:r>
            <a:r>
              <a:rPr sz="1500" dirty="0">
                <a:latin typeface="Verdana"/>
                <a:cs typeface="Verdana"/>
              </a:rPr>
              <a:t>loaded</a:t>
            </a:r>
            <a:r>
              <a:rPr sz="1500" spc="-16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within</a:t>
            </a:r>
            <a:endParaRPr sz="1500">
              <a:latin typeface="Verdana"/>
              <a:cs typeface="Verdana"/>
            </a:endParaRPr>
          </a:p>
          <a:p>
            <a:pPr>
              <a:lnSpc>
                <a:spcPts val="1675"/>
              </a:lnSpc>
            </a:pPr>
            <a:r>
              <a:rPr sz="1500" dirty="0">
                <a:latin typeface="Verdana"/>
                <a:cs typeface="Verdana"/>
              </a:rPr>
              <a:t>acceptable</a:t>
            </a:r>
            <a:r>
              <a:rPr sz="1500" spc="-160" dirty="0">
                <a:latin typeface="Verdana"/>
                <a:cs typeface="Verdana"/>
              </a:rPr>
              <a:t> </a:t>
            </a:r>
            <a:r>
              <a:rPr sz="1500" spc="-30" dirty="0">
                <a:latin typeface="Verdana"/>
                <a:cs typeface="Verdana"/>
              </a:rPr>
              <a:t>time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6815" y="966324"/>
            <a:ext cx="5669280" cy="1674495"/>
            <a:chOff x="946815" y="966324"/>
            <a:chExt cx="5669280" cy="1674495"/>
          </a:xfrm>
        </p:grpSpPr>
        <p:sp>
          <p:nvSpPr>
            <p:cNvPr id="6" name="object 6"/>
            <p:cNvSpPr/>
            <p:nvPr/>
          </p:nvSpPr>
          <p:spPr>
            <a:xfrm>
              <a:off x="951572" y="975854"/>
              <a:ext cx="5659755" cy="1655445"/>
            </a:xfrm>
            <a:custGeom>
              <a:avLst/>
              <a:gdLst/>
              <a:ahLst/>
              <a:cxnLst/>
              <a:rect l="l" t="t" r="r" b="b"/>
              <a:pathLst>
                <a:path w="5659755" h="1655445">
                  <a:moveTo>
                    <a:pt x="5659691" y="0"/>
                  </a:moveTo>
                  <a:lnTo>
                    <a:pt x="3773132" y="0"/>
                  </a:lnTo>
                  <a:lnTo>
                    <a:pt x="1886559" y="0"/>
                  </a:lnTo>
                  <a:lnTo>
                    <a:pt x="0" y="0"/>
                  </a:lnTo>
                  <a:lnTo>
                    <a:pt x="0" y="1655305"/>
                  </a:lnTo>
                  <a:lnTo>
                    <a:pt x="1886559" y="1655305"/>
                  </a:lnTo>
                  <a:lnTo>
                    <a:pt x="3773132" y="1655305"/>
                  </a:lnTo>
                  <a:lnTo>
                    <a:pt x="5659691" y="1655305"/>
                  </a:lnTo>
                  <a:lnTo>
                    <a:pt x="56596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46815" y="971088"/>
              <a:ext cx="5669280" cy="1664970"/>
            </a:xfrm>
            <a:custGeom>
              <a:avLst/>
              <a:gdLst/>
              <a:ahLst/>
              <a:cxnLst/>
              <a:rect l="l" t="t" r="r" b="b"/>
              <a:pathLst>
                <a:path w="5669280" h="1664970">
                  <a:moveTo>
                    <a:pt x="4764" y="4764"/>
                  </a:moveTo>
                  <a:lnTo>
                    <a:pt x="4764" y="1660059"/>
                  </a:lnTo>
                </a:path>
                <a:path w="5669280" h="1664970">
                  <a:moveTo>
                    <a:pt x="1891327" y="4764"/>
                  </a:moveTo>
                  <a:lnTo>
                    <a:pt x="1891327" y="1660059"/>
                  </a:lnTo>
                </a:path>
                <a:path w="5669280" h="1664970">
                  <a:moveTo>
                    <a:pt x="3777891" y="4764"/>
                  </a:moveTo>
                  <a:lnTo>
                    <a:pt x="3777891" y="1660059"/>
                  </a:lnTo>
                </a:path>
                <a:path w="5669280" h="1664970">
                  <a:moveTo>
                    <a:pt x="5664454" y="4764"/>
                  </a:moveTo>
                  <a:lnTo>
                    <a:pt x="5664454" y="1660059"/>
                  </a:lnTo>
                </a:path>
                <a:path w="5669280" h="1664970">
                  <a:moveTo>
                    <a:pt x="0" y="0"/>
                  </a:moveTo>
                  <a:lnTo>
                    <a:pt x="5669218" y="0"/>
                  </a:lnTo>
                </a:path>
                <a:path w="5669280" h="1664970">
                  <a:moveTo>
                    <a:pt x="0" y="832411"/>
                  </a:moveTo>
                  <a:lnTo>
                    <a:pt x="5669218" y="832411"/>
                  </a:lnTo>
                </a:path>
                <a:path w="5669280" h="1664970">
                  <a:moveTo>
                    <a:pt x="0" y="1664823"/>
                  </a:moveTo>
                  <a:lnTo>
                    <a:pt x="5669218" y="1664823"/>
                  </a:lnTo>
                </a:path>
              </a:pathLst>
            </a:custGeom>
            <a:ln w="9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27662" y="3746107"/>
            <a:ext cx="1605280" cy="221488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>
              <a:lnSpc>
                <a:spcPts val="1730"/>
              </a:lnSpc>
              <a:spcBef>
                <a:spcPts val="219"/>
              </a:spcBef>
            </a:pPr>
            <a:r>
              <a:rPr sz="1500" spc="-114" dirty="0">
                <a:latin typeface="Arial Black"/>
                <a:cs typeface="Arial Black"/>
              </a:rPr>
              <a:t>Database</a:t>
            </a:r>
            <a:r>
              <a:rPr sz="1500" spc="-85" dirty="0">
                <a:latin typeface="Arial Black"/>
                <a:cs typeface="Arial Black"/>
              </a:rPr>
              <a:t> </a:t>
            </a:r>
            <a:r>
              <a:rPr sz="1500" spc="-125" dirty="0">
                <a:latin typeface="Arial Black"/>
                <a:cs typeface="Arial Black"/>
              </a:rPr>
              <a:t>Testing </a:t>
            </a:r>
            <a:r>
              <a:rPr sz="1500" spc="-145" dirty="0">
                <a:latin typeface="Arial Black"/>
                <a:cs typeface="Arial Black"/>
              </a:rPr>
              <a:t>Test</a:t>
            </a:r>
            <a:r>
              <a:rPr sz="1500" spc="-120" dirty="0">
                <a:latin typeface="Arial Black"/>
                <a:cs typeface="Arial Black"/>
              </a:rPr>
              <a:t> </a:t>
            </a:r>
            <a:r>
              <a:rPr sz="1500" spc="-10" dirty="0">
                <a:latin typeface="Arial Black"/>
                <a:cs typeface="Arial Black"/>
              </a:rPr>
              <a:t>Scenarios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r>
              <a:rPr sz="1500" spc="-25" dirty="0">
                <a:latin typeface="Verdana"/>
                <a:cs typeface="Verdana"/>
              </a:rPr>
              <a:t>TC-001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sz="1500" spc="-10" dirty="0">
                <a:latin typeface="Verdana"/>
                <a:cs typeface="Verdana"/>
              </a:rPr>
              <a:t>TC-</a:t>
            </a:r>
            <a:r>
              <a:rPr sz="1500" spc="-25" dirty="0">
                <a:latin typeface="Verdana"/>
                <a:cs typeface="Verdana"/>
              </a:rPr>
              <a:t>003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4323" y="4561560"/>
            <a:ext cx="1455420" cy="150431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>
              <a:lnSpc>
                <a:spcPts val="1730"/>
              </a:lnSpc>
              <a:spcBef>
                <a:spcPts val="219"/>
              </a:spcBef>
            </a:pPr>
            <a:r>
              <a:rPr sz="1500" spc="-35" dirty="0">
                <a:latin typeface="Verdana"/>
                <a:cs typeface="Verdana"/>
              </a:rPr>
              <a:t>Check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if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correct </a:t>
            </a:r>
            <a:r>
              <a:rPr sz="1500" spc="-30" dirty="0">
                <a:latin typeface="Verdana"/>
                <a:cs typeface="Verdana"/>
              </a:rPr>
              <a:t>data</a:t>
            </a:r>
            <a:r>
              <a:rPr sz="1500" spc="-150" dirty="0">
                <a:latin typeface="Verdana"/>
                <a:cs typeface="Verdana"/>
              </a:rPr>
              <a:t> </a:t>
            </a:r>
            <a:r>
              <a:rPr sz="1500" spc="-30" dirty="0">
                <a:latin typeface="Verdana"/>
                <a:cs typeface="Verdana"/>
              </a:rPr>
              <a:t>is</a:t>
            </a:r>
            <a:r>
              <a:rPr sz="1500" spc="-15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getting</a:t>
            </a:r>
            <a:endParaRPr sz="1500">
              <a:latin typeface="Verdana"/>
              <a:cs typeface="Verdana"/>
            </a:endParaRPr>
          </a:p>
          <a:p>
            <a:pPr>
              <a:lnSpc>
                <a:spcPts val="1675"/>
              </a:lnSpc>
            </a:pPr>
            <a:r>
              <a:rPr sz="1500" spc="-10" dirty="0">
                <a:latin typeface="Verdana"/>
                <a:cs typeface="Verdana"/>
              </a:rPr>
              <a:t>saved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500">
              <a:latin typeface="Verdana"/>
              <a:cs typeface="Verdana"/>
            </a:endParaRPr>
          </a:p>
          <a:p>
            <a:pPr marR="108585">
              <a:lnSpc>
                <a:spcPts val="1730"/>
              </a:lnSpc>
            </a:pPr>
            <a:r>
              <a:rPr sz="1500" spc="-35" dirty="0">
                <a:latin typeface="Verdana"/>
                <a:cs typeface="Verdana"/>
              </a:rPr>
              <a:t>Check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for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spc="-30" dirty="0">
                <a:latin typeface="Verdana"/>
                <a:cs typeface="Verdana"/>
              </a:rPr>
              <a:t>data </a:t>
            </a:r>
            <a:r>
              <a:rPr sz="1500" spc="-10" dirty="0">
                <a:latin typeface="Verdana"/>
                <a:cs typeface="Verdana"/>
              </a:rPr>
              <a:t>integrity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00984" y="4561560"/>
            <a:ext cx="1643380" cy="178053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>
              <a:lnSpc>
                <a:spcPts val="1730"/>
              </a:lnSpc>
              <a:spcBef>
                <a:spcPts val="219"/>
              </a:spcBef>
            </a:pPr>
            <a:r>
              <a:rPr sz="1500" dirty="0">
                <a:latin typeface="Verdana"/>
                <a:cs typeface="Verdana"/>
              </a:rPr>
              <a:t>Correct</a:t>
            </a:r>
            <a:r>
              <a:rPr sz="1500" spc="-150" dirty="0">
                <a:latin typeface="Verdana"/>
                <a:cs typeface="Verdana"/>
              </a:rPr>
              <a:t> </a:t>
            </a:r>
            <a:r>
              <a:rPr sz="1500" spc="-30" dirty="0">
                <a:latin typeface="Verdana"/>
                <a:cs typeface="Verdana"/>
              </a:rPr>
              <a:t>data</a:t>
            </a:r>
            <a:r>
              <a:rPr sz="1500" spc="-15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shall </a:t>
            </a:r>
            <a:r>
              <a:rPr sz="1500" dirty="0">
                <a:latin typeface="Verdana"/>
                <a:cs typeface="Verdana"/>
              </a:rPr>
              <a:t>be</a:t>
            </a:r>
            <a:r>
              <a:rPr sz="1500" spc="-140" dirty="0">
                <a:latin typeface="Verdana"/>
                <a:cs typeface="Verdana"/>
              </a:rPr>
              <a:t> </a:t>
            </a:r>
            <a:r>
              <a:rPr sz="1500" spc="-45" dirty="0">
                <a:latin typeface="Verdana"/>
                <a:cs typeface="Verdana"/>
              </a:rPr>
              <a:t>saved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in </a:t>
            </a:r>
            <a:r>
              <a:rPr sz="1500" spc="-10" dirty="0">
                <a:latin typeface="Verdana"/>
                <a:cs typeface="Verdana"/>
              </a:rPr>
              <a:t>database231.</a:t>
            </a:r>
            <a:endParaRPr sz="1500">
              <a:latin typeface="Verdana"/>
              <a:cs typeface="Verdana"/>
            </a:endParaRPr>
          </a:p>
          <a:p>
            <a:pPr>
              <a:lnSpc>
                <a:spcPts val="1764"/>
              </a:lnSpc>
              <a:spcBef>
                <a:spcPts val="1490"/>
              </a:spcBef>
            </a:pPr>
            <a:r>
              <a:rPr sz="1500" spc="-45" dirty="0">
                <a:latin typeface="Verdana"/>
                <a:cs typeface="Verdana"/>
              </a:rPr>
              <a:t>Data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spc="-30" dirty="0">
                <a:latin typeface="Verdana"/>
                <a:cs typeface="Verdana"/>
              </a:rPr>
              <a:t>shall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be</a:t>
            </a:r>
            <a:endParaRPr sz="1500">
              <a:latin typeface="Verdana"/>
              <a:cs typeface="Verdana"/>
            </a:endParaRPr>
          </a:p>
          <a:p>
            <a:pPr>
              <a:lnSpc>
                <a:spcPts val="1730"/>
              </a:lnSpc>
              <a:spcBef>
                <a:spcPts val="75"/>
              </a:spcBef>
            </a:pPr>
            <a:r>
              <a:rPr sz="1500" spc="-10" dirty="0">
                <a:latin typeface="Verdana"/>
                <a:cs typeface="Verdana"/>
              </a:rPr>
              <a:t>stored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30" dirty="0">
                <a:latin typeface="Verdana"/>
                <a:cs typeface="Verdana"/>
              </a:rPr>
              <a:t>in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45" dirty="0">
                <a:latin typeface="Verdana"/>
                <a:cs typeface="Verdana"/>
              </a:rPr>
              <a:t>single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or </a:t>
            </a:r>
            <a:r>
              <a:rPr sz="1500" spc="-10" dirty="0">
                <a:latin typeface="Verdana"/>
                <a:cs typeface="Verdana"/>
              </a:rPr>
              <a:t>multiple</a:t>
            </a:r>
            <a:r>
              <a:rPr sz="1500" spc="-14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tables</a:t>
            </a:r>
            <a:endParaRPr sz="1500">
              <a:latin typeface="Verdana"/>
              <a:cs typeface="Verdana"/>
            </a:endParaRPr>
          </a:p>
          <a:p>
            <a:pPr>
              <a:lnSpc>
                <a:spcPts val="1675"/>
              </a:lnSpc>
            </a:pPr>
            <a:r>
              <a:rPr sz="1500" spc="-25" dirty="0">
                <a:latin typeface="Verdana"/>
                <a:cs typeface="Verdana"/>
              </a:rPr>
              <a:t>based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on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46714" y="3525777"/>
            <a:ext cx="5669915" cy="2770505"/>
            <a:chOff x="946714" y="3525777"/>
            <a:chExt cx="5669915" cy="2770505"/>
          </a:xfrm>
        </p:grpSpPr>
        <p:sp>
          <p:nvSpPr>
            <p:cNvPr id="12" name="object 12"/>
            <p:cNvSpPr/>
            <p:nvPr/>
          </p:nvSpPr>
          <p:spPr>
            <a:xfrm>
              <a:off x="951471" y="3535310"/>
              <a:ext cx="5660390" cy="2751455"/>
            </a:xfrm>
            <a:custGeom>
              <a:avLst/>
              <a:gdLst/>
              <a:ahLst/>
              <a:cxnLst/>
              <a:rect l="l" t="t" r="r" b="b"/>
              <a:pathLst>
                <a:path w="5660390" h="2751454">
                  <a:moveTo>
                    <a:pt x="5659894" y="0"/>
                  </a:moveTo>
                  <a:lnTo>
                    <a:pt x="3773259" y="0"/>
                  </a:lnTo>
                  <a:lnTo>
                    <a:pt x="1886635" y="0"/>
                  </a:lnTo>
                  <a:lnTo>
                    <a:pt x="0" y="0"/>
                  </a:lnTo>
                  <a:lnTo>
                    <a:pt x="0" y="2751226"/>
                  </a:lnTo>
                  <a:lnTo>
                    <a:pt x="1886635" y="2751226"/>
                  </a:lnTo>
                  <a:lnTo>
                    <a:pt x="3773259" y="2751226"/>
                  </a:lnTo>
                  <a:lnTo>
                    <a:pt x="5659894" y="2751226"/>
                  </a:lnTo>
                  <a:lnTo>
                    <a:pt x="56598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46714" y="3530541"/>
              <a:ext cx="5669915" cy="2760980"/>
            </a:xfrm>
            <a:custGeom>
              <a:avLst/>
              <a:gdLst/>
              <a:ahLst/>
              <a:cxnLst/>
              <a:rect l="l" t="t" r="r" b="b"/>
              <a:pathLst>
                <a:path w="5669915" h="2760979">
                  <a:moveTo>
                    <a:pt x="4764" y="4764"/>
                  </a:moveTo>
                  <a:lnTo>
                    <a:pt x="4764" y="2755995"/>
                  </a:lnTo>
                </a:path>
                <a:path w="5669915" h="2760979">
                  <a:moveTo>
                    <a:pt x="1891394" y="4764"/>
                  </a:moveTo>
                  <a:lnTo>
                    <a:pt x="1891394" y="2755995"/>
                  </a:lnTo>
                </a:path>
                <a:path w="5669915" h="2760979">
                  <a:moveTo>
                    <a:pt x="3778025" y="4764"/>
                  </a:moveTo>
                  <a:lnTo>
                    <a:pt x="3778025" y="2755995"/>
                  </a:lnTo>
                </a:path>
                <a:path w="5669915" h="2760979">
                  <a:moveTo>
                    <a:pt x="5664656" y="4764"/>
                  </a:moveTo>
                  <a:lnTo>
                    <a:pt x="5664656" y="2755995"/>
                  </a:lnTo>
                </a:path>
                <a:path w="5669915" h="2760979">
                  <a:moveTo>
                    <a:pt x="0" y="0"/>
                  </a:moveTo>
                  <a:lnTo>
                    <a:pt x="5669420" y="0"/>
                  </a:lnTo>
                </a:path>
                <a:path w="5669915" h="2760979">
                  <a:moveTo>
                    <a:pt x="0" y="920253"/>
                  </a:moveTo>
                  <a:lnTo>
                    <a:pt x="5669420" y="920253"/>
                  </a:lnTo>
                </a:path>
                <a:path w="5669915" h="2760979">
                  <a:moveTo>
                    <a:pt x="0" y="1840506"/>
                  </a:moveTo>
                  <a:lnTo>
                    <a:pt x="5669420" y="1840506"/>
                  </a:lnTo>
                </a:path>
                <a:path w="5669915" h="2760979">
                  <a:moveTo>
                    <a:pt x="0" y="2760759"/>
                  </a:moveTo>
                  <a:lnTo>
                    <a:pt x="5669420" y="2760759"/>
                  </a:lnTo>
                </a:path>
              </a:pathLst>
            </a:custGeom>
            <a:ln w="9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34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825" y="778229"/>
            <a:ext cx="5206365" cy="1877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90089">
              <a:lnSpc>
                <a:spcPct val="100000"/>
              </a:lnSpc>
              <a:spcBef>
                <a:spcPts val="100"/>
              </a:spcBef>
              <a:tabLst>
                <a:tab pos="2264410" algn="l"/>
              </a:tabLst>
            </a:pPr>
            <a:r>
              <a:rPr sz="1400" b="1" spc="-50" dirty="0">
                <a:latin typeface="Times New Roman"/>
                <a:cs typeface="Times New Roman"/>
              </a:rPr>
              <a:t>8</a:t>
            </a:r>
            <a:r>
              <a:rPr sz="1400" b="1" dirty="0">
                <a:latin typeface="Times New Roman"/>
                <a:cs typeface="Times New Roman"/>
              </a:rPr>
              <a:t>	Technical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Specification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3695" algn="l"/>
              </a:tabLst>
            </a:pPr>
            <a:r>
              <a:rPr sz="1200" b="1" spc="-25" dirty="0">
                <a:latin typeface="Times New Roman"/>
                <a:cs typeface="Times New Roman"/>
              </a:rPr>
              <a:t>8.1</a:t>
            </a:r>
            <a:r>
              <a:rPr sz="1200" b="1" dirty="0">
                <a:latin typeface="Times New Roman"/>
                <a:cs typeface="Times New Roman"/>
              </a:rPr>
              <a:t>	Advantages and </a:t>
            </a:r>
            <a:r>
              <a:rPr sz="1200" b="1" spc="-10" dirty="0">
                <a:latin typeface="Times New Roman"/>
                <a:cs typeface="Times New Roman"/>
              </a:rPr>
              <a:t>Disadvantages</a:t>
            </a:r>
            <a:endParaRPr sz="12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994"/>
              </a:spcBef>
            </a:pPr>
            <a:r>
              <a:rPr sz="1000" b="1" spc="-10" dirty="0">
                <a:latin typeface="Times New Roman"/>
                <a:cs typeface="Times New Roman"/>
              </a:rPr>
              <a:t>Advantages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ct val="112500"/>
              </a:lnSpc>
            </a:pPr>
            <a:r>
              <a:rPr sz="1000" spc="-10" dirty="0">
                <a:latin typeface="Times New Roman"/>
                <a:cs typeface="Times New Roman"/>
              </a:rPr>
              <a:t>High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Accuracy/Low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Latency: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Achieved </a:t>
            </a:r>
            <a:r>
              <a:rPr sz="1000" dirty="0">
                <a:latin typeface="Times New Roman"/>
                <a:cs typeface="Times New Roman"/>
              </a:rPr>
              <a:t>93.2%</a:t>
            </a:r>
            <a:r>
              <a:rPr sz="1000" spc="-10" dirty="0">
                <a:latin typeface="Times New Roman"/>
                <a:cs typeface="Times New Roman"/>
              </a:rPr>
              <a:t> accuracy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0.8s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latency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-10" dirty="0">
                <a:latin typeface="Times New Roman"/>
                <a:cs typeface="Times New Roman"/>
              </a:rPr>
              <a:t> the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AI-</a:t>
            </a:r>
            <a:r>
              <a:rPr sz="1000" dirty="0">
                <a:latin typeface="Times New Roman"/>
                <a:cs typeface="Times New Roman"/>
              </a:rPr>
              <a:t>powered</a:t>
            </a:r>
            <a:r>
              <a:rPr sz="1000" spc="-10" dirty="0">
                <a:latin typeface="Times New Roman"/>
                <a:cs typeface="Times New Roman"/>
              </a:rPr>
              <a:t> model. State-</a:t>
            </a:r>
            <a:r>
              <a:rPr sz="1000" dirty="0">
                <a:latin typeface="Times New Roman"/>
                <a:cs typeface="Times New Roman"/>
              </a:rPr>
              <a:t>Specific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Compliance: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Provides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appropriate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instructions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tailored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each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Indian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state.</a:t>
            </a:r>
            <a:endParaRPr sz="1000">
              <a:latin typeface="Times New Roman"/>
              <a:cs typeface="Times New Roman"/>
            </a:endParaRPr>
          </a:p>
          <a:p>
            <a:pPr marL="12700" marR="344805">
              <a:lnSpc>
                <a:spcPct val="112500"/>
              </a:lnSpc>
            </a:pPr>
            <a:r>
              <a:rPr sz="1000" spc="-20" dirty="0">
                <a:latin typeface="Times New Roman"/>
                <a:cs typeface="Times New Roman"/>
              </a:rPr>
              <a:t>User-</a:t>
            </a:r>
            <a:r>
              <a:rPr sz="1000" dirty="0">
                <a:latin typeface="Times New Roman"/>
                <a:cs typeface="Times New Roman"/>
              </a:rPr>
              <a:t>Friendly: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Offers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web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interface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accessible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general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public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responsive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design. </a:t>
            </a:r>
            <a:r>
              <a:rPr sz="1000" dirty="0">
                <a:latin typeface="Times New Roman"/>
                <a:cs typeface="Times New Roman"/>
              </a:rPr>
              <a:t>Automation: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Reduces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manual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segregation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effort.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35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471" y="4380687"/>
            <a:ext cx="5922645" cy="1262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sz="1200" b="1" spc="-25" dirty="0">
                <a:latin typeface="Times New Roman"/>
                <a:cs typeface="Times New Roman"/>
              </a:rPr>
              <a:t>8.3</a:t>
            </a:r>
            <a:r>
              <a:rPr sz="1200" b="1" dirty="0">
                <a:latin typeface="Times New Roman"/>
                <a:cs typeface="Times New Roman"/>
              </a:rPr>
              <a:t>	</a:t>
            </a:r>
            <a:r>
              <a:rPr sz="1200" b="1" spc="-10" dirty="0">
                <a:latin typeface="Times New Roman"/>
                <a:cs typeface="Times New Roman"/>
              </a:rPr>
              <a:t>Applications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Times New Roman"/>
                <a:cs typeface="Times New Roman"/>
              </a:rPr>
              <a:t>Household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Segregation: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Provides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guidance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general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public.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Smart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Cities: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Establishes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practical,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scalable,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intelligent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recognition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management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nationwide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programs.</a:t>
            </a:r>
            <a:endParaRPr sz="1000">
              <a:latin typeface="Times New Roman"/>
              <a:cs typeface="Times New Roman"/>
            </a:endParaRPr>
          </a:p>
          <a:p>
            <a:pPr marL="12700" marR="465455">
              <a:lnSpc>
                <a:spcPct val="112500"/>
              </a:lnSpc>
            </a:pPr>
            <a:r>
              <a:rPr sz="1000" spc="-10" dirty="0">
                <a:latin typeface="Times New Roman"/>
                <a:cs typeface="Times New Roman"/>
              </a:rPr>
              <a:t>Environmental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Accountability: Merges </a:t>
            </a:r>
            <a:r>
              <a:rPr sz="1000" dirty="0">
                <a:latin typeface="Times New Roman"/>
                <a:cs typeface="Times New Roman"/>
              </a:rPr>
              <a:t>cloud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intelligence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adaptive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learning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improve</a:t>
            </a:r>
            <a:r>
              <a:rPr sz="1000" spc="-10" dirty="0">
                <a:latin typeface="Times New Roman"/>
                <a:cs typeface="Times New Roman"/>
              </a:rPr>
              <a:t> environmental accountability.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0055" y="3068670"/>
            <a:ext cx="5817235" cy="929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3695" algn="l"/>
              </a:tabLst>
            </a:pPr>
            <a:r>
              <a:rPr sz="1200" b="1" spc="-25" dirty="0">
                <a:latin typeface="Times New Roman"/>
                <a:cs typeface="Times New Roman"/>
              </a:rPr>
              <a:t>8.2</a:t>
            </a:r>
            <a:r>
              <a:rPr sz="1200" b="1" dirty="0">
                <a:latin typeface="Times New Roman"/>
                <a:cs typeface="Times New Roman"/>
              </a:rPr>
              <a:t>	</a:t>
            </a:r>
            <a:r>
              <a:rPr sz="1200" b="1" spc="-10" dirty="0">
                <a:latin typeface="Times New Roman"/>
                <a:cs typeface="Times New Roman"/>
              </a:rPr>
              <a:t>Disadvantages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37185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API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Dependency: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relies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-10" dirty="0">
                <a:latin typeface="Times New Roman"/>
                <a:cs typeface="Times New Roman"/>
              </a:rPr>
              <a:t> third-party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APIs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10" dirty="0">
                <a:latin typeface="Times New Roman"/>
                <a:cs typeface="Times New Roman"/>
              </a:rPr>
              <a:t> classification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guideline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retrieval.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Scalability </a:t>
            </a:r>
            <a:r>
              <a:rPr sz="1000" dirty="0">
                <a:latin typeface="Times New Roman"/>
                <a:cs typeface="Times New Roman"/>
              </a:rPr>
              <a:t>Costs: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Increased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users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may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require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significant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computational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resources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real-</a:t>
            </a:r>
            <a:r>
              <a:rPr sz="1000" dirty="0">
                <a:latin typeface="Times New Roman"/>
                <a:cs typeface="Times New Roman"/>
              </a:rPr>
              <a:t>time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processing.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latin typeface="Times New Roman"/>
                <a:cs typeface="Times New Roman"/>
              </a:rPr>
              <a:t>Continuous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Maintenance: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Requires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continuous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retraining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updating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regulatory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the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Admin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825" y="183141"/>
            <a:ext cx="6280150" cy="3411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1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AutoNum type="arabicPlain" startAt="9"/>
              <a:tabLst>
                <a:tab pos="287020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Conclusion</a:t>
            </a:r>
            <a:endParaRPr sz="1400">
              <a:latin typeface="Times New Roman"/>
              <a:cs typeface="Times New Roman"/>
            </a:endParaRPr>
          </a:p>
          <a:p>
            <a:pPr marL="130175" marR="5080">
              <a:lnSpc>
                <a:spcPct val="112500"/>
              </a:lnSpc>
              <a:spcBef>
                <a:spcPts val="464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Waste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Mitra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successfully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demonstrates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potential</a:t>
            </a:r>
            <a:r>
              <a:rPr sz="1000" spc="-10" dirty="0">
                <a:latin typeface="Times New Roman"/>
                <a:cs typeface="Times New Roman"/>
              </a:rPr>
              <a:t> of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AI-</a:t>
            </a:r>
            <a:r>
              <a:rPr sz="1000" dirty="0">
                <a:latin typeface="Times New Roman"/>
                <a:cs typeface="Times New Roman"/>
              </a:rPr>
              <a:t>driven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automation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modern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waste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management.</a:t>
            </a:r>
            <a:r>
              <a:rPr sz="1000" spc="5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combines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image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recognition,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data-</a:t>
            </a:r>
            <a:r>
              <a:rPr sz="1000" dirty="0">
                <a:latin typeface="Times New Roman"/>
                <a:cs typeface="Times New Roman"/>
              </a:rPr>
              <a:t>driven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categorization,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real-</a:t>
            </a:r>
            <a:r>
              <a:rPr sz="1000" dirty="0">
                <a:latin typeface="Times New Roman"/>
                <a:cs typeface="Times New Roman"/>
              </a:rPr>
              <a:t>time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guidance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promote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responsible environmental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practices.</a:t>
            </a:r>
            <a:r>
              <a:rPr sz="1000" dirty="0">
                <a:latin typeface="Times New Roman"/>
                <a:cs typeface="Times New Roman"/>
              </a:rPr>
              <a:t> By</a:t>
            </a:r>
            <a:r>
              <a:rPr sz="1000" spc="-10" dirty="0">
                <a:latin typeface="Times New Roman"/>
                <a:cs typeface="Times New Roman"/>
              </a:rPr>
              <a:t> leveraging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Gemini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LLM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recognition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0" dirty="0">
                <a:latin typeface="Times New Roman"/>
                <a:cs typeface="Times New Roman"/>
              </a:rPr>
              <a:t> compliance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logic, the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ensures transparency,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accuracy,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environmental compliance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without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need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external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verification.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Built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Django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dirty="0">
                <a:latin typeface="Times New Roman"/>
                <a:cs typeface="Times New Roman"/>
              </a:rPr>
              <a:t>an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optimized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workflow,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bridges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gap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technology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sustainability.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000">
              <a:latin typeface="Times New Roman"/>
              <a:cs typeface="Times New Roman"/>
            </a:endParaRPr>
          </a:p>
          <a:p>
            <a:pPr marL="353695" lvl="1" indent="-3409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3695" algn="l"/>
              </a:tabLst>
            </a:pPr>
            <a:r>
              <a:rPr sz="1200" b="1" dirty="0">
                <a:latin typeface="Times New Roman"/>
                <a:cs typeface="Times New Roman"/>
              </a:rPr>
              <a:t>Future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Scope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200">
              <a:latin typeface="Times New Roman"/>
              <a:cs typeface="Times New Roman"/>
            </a:endParaRPr>
          </a:p>
          <a:p>
            <a:pPr marL="105410" marR="249554">
              <a:lnSpc>
                <a:spcPct val="112500"/>
              </a:lnSpc>
            </a:pPr>
            <a:r>
              <a:rPr sz="1000" spc="-10" dirty="0">
                <a:latin typeface="Times New Roman"/>
                <a:cs typeface="Times New Roman"/>
              </a:rPr>
              <a:t>Mobile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App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Edge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Computing: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Focusing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enhancing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scalability,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perhaps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lightweight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neural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architectures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edge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device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compatibility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offline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functioning.</a:t>
            </a:r>
            <a:endParaRPr sz="1000">
              <a:latin typeface="Times New Roman"/>
              <a:cs typeface="Times New Roman"/>
            </a:endParaRPr>
          </a:p>
          <a:p>
            <a:pPr marL="105410" marR="767715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Integrate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Intelligent</a:t>
            </a:r>
            <a:r>
              <a:rPr sz="1000" spc="-10" dirty="0">
                <a:latin typeface="Times New Roman"/>
                <a:cs typeface="Times New Roman"/>
              </a:rPr>
              <a:t> Feedback: </a:t>
            </a:r>
            <a:r>
              <a:rPr sz="1000" dirty="0">
                <a:latin typeface="Times New Roman"/>
                <a:cs typeface="Times New Roman"/>
              </a:rPr>
              <a:t>Implementing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mechanisms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achieve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transparent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adaptive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waste management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solutions.</a:t>
            </a:r>
            <a:endParaRPr sz="1000">
              <a:latin typeface="Times New Roman"/>
              <a:cs typeface="Times New Roman"/>
            </a:endParaRPr>
          </a:p>
          <a:p>
            <a:pPr marL="10541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latin typeface="Times New Roman"/>
                <a:cs typeface="Times New Roman"/>
              </a:rPr>
              <a:t>Smart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City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Integration: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Further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integration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smart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city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infrastructure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large-</a:t>
            </a:r>
            <a:r>
              <a:rPr sz="1000" dirty="0">
                <a:latin typeface="Times New Roman"/>
                <a:cs typeface="Times New Roman"/>
              </a:rPr>
              <a:t>scale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deployments.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36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825" y="831847"/>
            <a:ext cx="12211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6555" algn="l"/>
              </a:tabLst>
            </a:pPr>
            <a:r>
              <a:rPr sz="1400" b="1" spc="-25" dirty="0">
                <a:latin typeface="Times New Roman"/>
                <a:cs typeface="Times New Roman"/>
              </a:rPr>
              <a:t>10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b="1" spc="-10" dirty="0">
                <a:latin typeface="Times New Roman"/>
                <a:cs typeface="Times New Roman"/>
              </a:rPr>
              <a:t>References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37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9872" y="183141"/>
            <a:ext cx="4844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9093" y="1436456"/>
            <a:ext cx="5244465" cy="499935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00" spc="-20" dirty="0">
                <a:latin typeface="Times New Roman"/>
                <a:cs typeface="Times New Roman"/>
              </a:rPr>
              <a:t>Waste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Mitra: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AI-</a:t>
            </a:r>
            <a:r>
              <a:rPr sz="1000" dirty="0">
                <a:latin typeface="Times New Roman"/>
                <a:cs typeface="Times New Roman"/>
              </a:rPr>
              <a:t>Powered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Smart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Waste </a:t>
            </a:r>
            <a:r>
              <a:rPr sz="1000" spc="-10" dirty="0">
                <a:latin typeface="Times New Roman"/>
                <a:cs typeface="Times New Roman"/>
              </a:rPr>
              <a:t>Management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Sustainable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Disposal.</a:t>
            </a:r>
            <a:endParaRPr sz="1000">
              <a:latin typeface="Times New Roman"/>
              <a:cs typeface="Times New Roman"/>
            </a:endParaRPr>
          </a:p>
          <a:p>
            <a:pPr marL="12700" marR="277495">
              <a:lnSpc>
                <a:spcPct val="112500"/>
              </a:lnSpc>
            </a:pPr>
            <a:r>
              <a:rPr sz="1000" spc="-25" dirty="0">
                <a:latin typeface="Times New Roman"/>
                <a:cs typeface="Times New Roman"/>
              </a:rPr>
              <a:t>Yash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Bhalerao,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Yash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Sonwane,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Mauli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Wanave,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Lokesh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Bhosale,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Vinod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Wadne.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"Waste </a:t>
            </a:r>
            <a:r>
              <a:rPr sz="1000" spc="-10" dirty="0">
                <a:latin typeface="Times New Roman"/>
                <a:cs typeface="Times New Roman"/>
              </a:rPr>
              <a:t>Mitra: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AI- </a:t>
            </a:r>
            <a:r>
              <a:rPr sz="1000" dirty="0">
                <a:latin typeface="Times New Roman"/>
                <a:cs typeface="Times New Roman"/>
              </a:rPr>
              <a:t>Powered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Smart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Waste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Management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Sustainable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Disposal."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[AI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based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Waste Management.docx].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latin typeface="Times New Roman"/>
                <a:cs typeface="Times New Roman"/>
              </a:rPr>
              <a:t>Smart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Waste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Category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Detector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Legal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Guide.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[Smart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Waste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1.pptx].</a:t>
            </a:r>
            <a:endParaRPr sz="1000">
              <a:latin typeface="Times New Roman"/>
              <a:cs typeface="Times New Roman"/>
            </a:endParaRPr>
          </a:p>
          <a:p>
            <a:pPr marL="12700" marR="60325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S.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Patel,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R.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Deshmukh,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M.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Kadam,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“AI-</a:t>
            </a:r>
            <a:r>
              <a:rPr sz="1000" dirty="0">
                <a:latin typeface="Times New Roman"/>
                <a:cs typeface="Times New Roman"/>
              </a:rPr>
              <a:t>Based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Waste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Classification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Deep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Learning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for </a:t>
            </a:r>
            <a:r>
              <a:rPr sz="1000" dirty="0">
                <a:latin typeface="Times New Roman"/>
                <a:cs typeface="Times New Roman"/>
              </a:rPr>
              <a:t>Sustainable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Smart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Cities,”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2024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IEEE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International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Conference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Green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Computing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Sustainable </a:t>
            </a:r>
            <a:r>
              <a:rPr sz="1000" dirty="0">
                <a:latin typeface="Times New Roman"/>
                <a:cs typeface="Times New Roman"/>
              </a:rPr>
              <a:t>Systems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(ICGCSS).</a:t>
            </a:r>
            <a:endParaRPr sz="1000">
              <a:latin typeface="Times New Roman"/>
              <a:cs typeface="Times New Roman"/>
            </a:endParaRPr>
          </a:p>
          <a:p>
            <a:pPr marL="12700" marR="51435">
              <a:lnSpc>
                <a:spcPct val="112500"/>
              </a:lnSpc>
            </a:pPr>
            <a:r>
              <a:rPr sz="1000" spc="-20" dirty="0">
                <a:latin typeface="Times New Roman"/>
                <a:cs typeface="Times New Roman"/>
              </a:rPr>
              <a:t>T.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Banerjee,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70" dirty="0">
                <a:latin typeface="Times New Roman"/>
                <a:cs typeface="Times New Roman"/>
              </a:rPr>
              <a:t>V.</a:t>
            </a:r>
            <a:r>
              <a:rPr sz="1000" dirty="0">
                <a:latin typeface="Times New Roman"/>
                <a:cs typeface="Times New Roman"/>
              </a:rPr>
              <a:t> Rao,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L.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Sharma,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“Smart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Waste </a:t>
            </a:r>
            <a:r>
              <a:rPr sz="1000" spc="-10" dirty="0">
                <a:latin typeface="Times New Roman"/>
                <a:cs typeface="Times New Roman"/>
              </a:rPr>
              <a:t>Segregation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Recycling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Machine Vision,”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2024 5th </a:t>
            </a:r>
            <a:r>
              <a:rPr sz="1000" spc="-10" dirty="0">
                <a:latin typeface="Times New Roman"/>
                <a:cs typeface="Times New Roman"/>
              </a:rPr>
              <a:t>International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Conference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 Computational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Intelligence</a:t>
            </a:r>
            <a:r>
              <a:rPr sz="1000" dirty="0">
                <a:latin typeface="Times New Roman"/>
                <a:cs typeface="Times New Roman"/>
              </a:rPr>
              <a:t> and </a:t>
            </a:r>
            <a:r>
              <a:rPr sz="1000" spc="-10" dirty="0">
                <a:latin typeface="Times New Roman"/>
                <a:cs typeface="Times New Roman"/>
              </a:rPr>
              <a:t>Communication </a:t>
            </a:r>
            <a:r>
              <a:rPr sz="1000" dirty="0">
                <a:latin typeface="Times New Roman"/>
                <a:cs typeface="Times New Roman"/>
              </a:rPr>
              <a:t>Networks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(CICN).</a:t>
            </a:r>
            <a:endParaRPr sz="1000">
              <a:latin typeface="Times New Roman"/>
              <a:cs typeface="Times New Roman"/>
            </a:endParaRPr>
          </a:p>
          <a:p>
            <a:pPr marL="12700" marR="388620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A.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Ghosh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Nayak, </a:t>
            </a:r>
            <a:r>
              <a:rPr sz="1000" spc="-10" dirty="0">
                <a:latin typeface="Times New Roman"/>
                <a:cs typeface="Times New Roman"/>
              </a:rPr>
              <a:t>“Sustainable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Waste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Management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IoT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and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AI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Integration,” </a:t>
            </a:r>
            <a:r>
              <a:rPr sz="1000" spc="-20" dirty="0">
                <a:latin typeface="Times New Roman"/>
                <a:cs typeface="Times New Roman"/>
              </a:rPr>
              <a:t>2024 </a:t>
            </a:r>
            <a:r>
              <a:rPr sz="1000" spc="-10" dirty="0">
                <a:latin typeface="Times New Roman"/>
                <a:cs typeface="Times New Roman"/>
              </a:rPr>
              <a:t>International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Conference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Emerging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Technologies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Environmental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Systems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(ICETES).</a:t>
            </a:r>
            <a:endParaRPr sz="1000">
              <a:latin typeface="Times New Roman"/>
              <a:cs typeface="Times New Roman"/>
            </a:endParaRPr>
          </a:p>
          <a:p>
            <a:pPr marL="12700" marR="176530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J.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Mehta,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K. </a:t>
            </a:r>
            <a:r>
              <a:rPr sz="1000" spc="-10" dirty="0">
                <a:latin typeface="Times New Roman"/>
                <a:cs typeface="Times New Roman"/>
              </a:rPr>
              <a:t>Shetty,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and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Patwardhan,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"Implementation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0" dirty="0">
                <a:latin typeface="Times New Roman"/>
                <a:cs typeface="Times New Roman"/>
              </a:rPr>
              <a:t> Waste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Recognition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0" dirty="0">
                <a:latin typeface="Times New Roman"/>
                <a:cs typeface="Times New Roman"/>
              </a:rPr>
              <a:t> Segregation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Cloud-Based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APIs,”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2024 IEEE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International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Conference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 Computational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Intelligence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spc="-10" dirty="0">
                <a:latin typeface="Times New Roman"/>
                <a:cs typeface="Times New Roman"/>
              </a:rPr>
              <a:t>Sustainable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Technologies(CIST).</a:t>
            </a:r>
            <a:endParaRPr sz="1000">
              <a:latin typeface="Times New Roman"/>
              <a:cs typeface="Times New Roman"/>
            </a:endParaRPr>
          </a:p>
          <a:p>
            <a:pPr marL="12700" marR="32384">
              <a:lnSpc>
                <a:spcPct val="112500"/>
              </a:lnSpc>
              <a:spcBef>
                <a:spcPts val="5"/>
              </a:spcBef>
            </a:pPr>
            <a:r>
              <a:rPr sz="1000" dirty="0">
                <a:latin typeface="Times New Roman"/>
                <a:cs typeface="Times New Roman"/>
              </a:rPr>
              <a:t>H.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Zhou,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W.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C.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Tang, “Computer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Vision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Applications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Solid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Organic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Waste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Detection,” IEEE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Access,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35" dirty="0">
                <a:latin typeface="Times New Roman"/>
                <a:cs typeface="Times New Roman"/>
              </a:rPr>
              <a:t>Vol.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12,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pp.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56147–56158,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2024.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R.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Kumar,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S.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30" dirty="0">
                <a:latin typeface="Times New Roman"/>
                <a:cs typeface="Times New Roman"/>
              </a:rPr>
              <a:t>Yadav,</a:t>
            </a:r>
            <a:r>
              <a:rPr sz="1000" spc="-10" dirty="0">
                <a:latin typeface="Times New Roman"/>
                <a:cs typeface="Times New Roman"/>
              </a:rPr>
              <a:t> and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A.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Chakraborty, </a:t>
            </a:r>
            <a:r>
              <a:rPr sz="1000" dirty="0">
                <a:latin typeface="Times New Roman"/>
                <a:cs typeface="Times New Roman"/>
              </a:rPr>
              <a:t>“Deep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Neural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Architectures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for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Automated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Plastic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Waste Classification,”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International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Journal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of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Advanced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Computer Science </a:t>
            </a:r>
            <a:r>
              <a:rPr sz="1000" spc="-10" dirty="0">
                <a:latin typeface="Times New Roman"/>
                <a:cs typeface="Times New Roman"/>
              </a:rPr>
              <a:t>and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Applications </a:t>
            </a:r>
            <a:r>
              <a:rPr sz="1000" spc="-10" dirty="0">
                <a:latin typeface="Times New Roman"/>
                <a:cs typeface="Times New Roman"/>
              </a:rPr>
              <a:t>(IJACSA),</a:t>
            </a:r>
            <a:r>
              <a:rPr sz="1000" spc="-20" dirty="0">
                <a:latin typeface="Times New Roman"/>
                <a:cs typeface="Times New Roman"/>
              </a:rPr>
              <a:t> Vol. </a:t>
            </a:r>
            <a:r>
              <a:rPr sz="1000" dirty="0">
                <a:latin typeface="Times New Roman"/>
                <a:cs typeface="Times New Roman"/>
              </a:rPr>
              <a:t>15,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4,</a:t>
            </a:r>
            <a:r>
              <a:rPr sz="1000" spc="-10" dirty="0">
                <a:latin typeface="Times New Roman"/>
                <a:cs typeface="Times New Roman"/>
              </a:rPr>
              <a:t> 2024.</a:t>
            </a:r>
            <a:endParaRPr sz="1000">
              <a:latin typeface="Times New Roman"/>
              <a:cs typeface="Times New Roman"/>
            </a:endParaRPr>
          </a:p>
          <a:p>
            <a:pPr marL="12700" marR="467995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S.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Raj,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Das,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B.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Tripathi,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“Hybrid</a:t>
            </a:r>
            <a:r>
              <a:rPr sz="1000" spc="-10" dirty="0">
                <a:latin typeface="Times New Roman"/>
                <a:cs typeface="Times New Roman"/>
              </a:rPr>
              <a:t> Cloud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Architecture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Real-Time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Waste</a:t>
            </a:r>
            <a:r>
              <a:rPr sz="1000" spc="-10" dirty="0">
                <a:latin typeface="Times New Roman"/>
                <a:cs typeface="Times New Roman"/>
              </a:rPr>
              <a:t> Monitoring </a:t>
            </a:r>
            <a:r>
              <a:rPr sz="1000" dirty="0">
                <a:latin typeface="Times New Roman"/>
                <a:cs typeface="Times New Roman"/>
              </a:rPr>
              <a:t>Systems,”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2024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IEEE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Symposium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Smart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Urban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(SUS).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latin typeface="Times New Roman"/>
                <a:cs typeface="Times New Roman"/>
              </a:rPr>
              <a:t>S.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Kaur,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B.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Reddy,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“Waste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Law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Compliance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NLP.”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latin typeface="Times New Roman"/>
                <a:cs typeface="Times New Roman"/>
              </a:rPr>
              <a:t>K.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Patil,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T. </a:t>
            </a:r>
            <a:r>
              <a:rPr sz="1000" dirty="0">
                <a:latin typeface="Times New Roman"/>
                <a:cs typeface="Times New Roman"/>
              </a:rPr>
              <a:t>Shah,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J.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D'Souza,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“A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Legal-</a:t>
            </a:r>
            <a:r>
              <a:rPr sz="1000" spc="-25" dirty="0">
                <a:latin typeface="Times New Roman"/>
                <a:cs typeface="Times New Roman"/>
              </a:rPr>
              <a:t>Aware </a:t>
            </a:r>
            <a:r>
              <a:rPr sz="1000" dirty="0">
                <a:latin typeface="Times New Roman"/>
                <a:cs typeface="Times New Roman"/>
              </a:rPr>
              <a:t>Smart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Waste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Disposal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Framework.”</a:t>
            </a:r>
            <a:endParaRPr sz="1000">
              <a:latin typeface="Times New Roman"/>
              <a:cs typeface="Times New Roman"/>
            </a:endParaRPr>
          </a:p>
          <a:p>
            <a:pPr marL="12700" marR="227329">
              <a:lnSpc>
                <a:spcPct val="112500"/>
              </a:lnSpc>
            </a:pPr>
            <a:r>
              <a:rPr sz="1000" dirty="0">
                <a:latin typeface="Times New Roman"/>
                <a:cs typeface="Times New Roman"/>
              </a:rPr>
              <a:t>M.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Thomas,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K.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Reddy,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P.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Gupta,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“A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Review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on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Artificial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Intelligence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Smart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Waste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Sorting </a:t>
            </a:r>
            <a:r>
              <a:rPr sz="1000" dirty="0">
                <a:latin typeface="Times New Roman"/>
                <a:cs typeface="Times New Roman"/>
              </a:rPr>
              <a:t>Systems,”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Sustainable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Computing: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Informatics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Systems,</a:t>
            </a:r>
            <a:r>
              <a:rPr sz="1000" spc="-35" dirty="0">
                <a:latin typeface="Times New Roman"/>
                <a:cs typeface="Times New Roman"/>
              </a:rPr>
              <a:t> Vol.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39,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2024.</a:t>
            </a:r>
            <a:endParaRPr sz="1000">
              <a:latin typeface="Times New Roman"/>
              <a:cs typeface="Times New Roman"/>
            </a:endParaRPr>
          </a:p>
          <a:p>
            <a:pPr marL="12700" marR="34925">
              <a:lnSpc>
                <a:spcPct val="112500"/>
              </a:lnSpc>
            </a:pPr>
            <a:r>
              <a:rPr sz="1000" spc="-50" dirty="0">
                <a:latin typeface="Times New Roman"/>
                <a:cs typeface="Times New Roman"/>
              </a:rPr>
              <a:t>P.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Rao,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L.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Menon,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S.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Jadhav,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“Location-</a:t>
            </a:r>
            <a:r>
              <a:rPr sz="1000" dirty="0">
                <a:latin typeface="Times New Roman"/>
                <a:cs typeface="Times New Roman"/>
              </a:rPr>
              <a:t>Based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Waste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Management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Assistant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Deep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Learning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spc="-10" dirty="0">
                <a:latin typeface="Times New Roman"/>
                <a:cs typeface="Times New Roman"/>
              </a:rPr>
              <a:t>GIS.”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2000" y="1617222"/>
            <a:ext cx="5898197" cy="283951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83165" y="4931476"/>
            <a:ext cx="1154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Figure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11.1: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Output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A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0203" y="183141"/>
            <a:ext cx="5133975" cy="761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Mitra: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AI-</a:t>
            </a:r>
            <a:r>
              <a:rPr sz="1100" i="1" dirty="0">
                <a:latin typeface="Times New Roman"/>
                <a:cs typeface="Times New Roman"/>
              </a:rPr>
              <a:t>Powered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Smart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Waste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Management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Sustainable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Disposal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11.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Result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9835" y="5422865"/>
            <a:ext cx="6022069" cy="36113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39086" y="9505038"/>
            <a:ext cx="98425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Times New Roman"/>
                <a:cs typeface="Times New Roman"/>
              </a:rPr>
              <a:t>Figure: Output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43835" y="10030605"/>
            <a:ext cx="15240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25" dirty="0">
                <a:latin typeface="Times New Roman"/>
                <a:cs typeface="Times New Roman"/>
              </a:rPr>
              <a:t>40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411" y="4822829"/>
            <a:ext cx="6231698" cy="46594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99300" y="201550"/>
            <a:ext cx="547116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100" dirty="0">
                <a:latin typeface="Times New Roman"/>
                <a:cs typeface="Times New Roman"/>
              </a:rPr>
              <a:t>Waste Mitra: AI-Powered Smart Waste Management System for Sustainable Disposal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0066" y="4423735"/>
            <a:ext cx="98425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Times New Roman"/>
                <a:cs typeface="Times New Roman"/>
              </a:rPr>
              <a:t>Figure: Output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C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72539" y="9608082"/>
            <a:ext cx="991869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Times New Roman"/>
                <a:cs typeface="Times New Roman"/>
              </a:rPr>
              <a:t>Figure: Output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D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7896" y="684807"/>
            <a:ext cx="5497996" cy="368756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43835" y="10030605"/>
            <a:ext cx="15240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25" dirty="0">
                <a:latin typeface="Times New Roman"/>
                <a:cs typeface="Times New Roman"/>
              </a:rPr>
              <a:t>42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pc="-10" dirty="0"/>
              <a:t>JSPM’s,</a:t>
            </a:r>
            <a:r>
              <a:rPr spc="-20" dirty="0"/>
              <a:t> </a:t>
            </a:r>
            <a:r>
              <a:rPr dirty="0"/>
              <a:t>ICOER,</a:t>
            </a:r>
            <a:r>
              <a:rPr spc="-15" dirty="0"/>
              <a:t> </a:t>
            </a:r>
            <a:r>
              <a:rPr spc="-10" dirty="0"/>
              <a:t>Wagholi,</a:t>
            </a:r>
            <a:r>
              <a:rPr spc="-20" dirty="0"/>
              <a:t> Pune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7917</Words>
  <Application>Microsoft Office PowerPoint</Application>
  <PresentationFormat>Custom</PresentationFormat>
  <Paragraphs>927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Arial Black</vt:lpstr>
      <vt:lpstr>Calibri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Group_G18_ Report.pdf</dc:title>
  <dc:creator>Yash Sonawane</dc:creator>
  <cp:keywords>DAG4pdpOqVY,BAGtQrM9U34,0</cp:keywords>
  <cp:lastModifiedBy>Mauli Wanave</cp:lastModifiedBy>
  <cp:revision>1</cp:revision>
  <dcterms:created xsi:type="dcterms:W3CDTF">2025-11-14T08:23:19Z</dcterms:created>
  <dcterms:modified xsi:type="dcterms:W3CDTF">2025-11-14T08:26:19Z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2025-11-14T00:00:00Z</vt:filetime>
  </property>
  <property fmtid="{D5CDD505-2E9C-101B-9397-08002B2CF9AE}" pid="3" name="Creator">
    <vt:lpwstr>Canva</vt:lpwstr>
  </property>
  <property fmtid="{D5CDD505-2E9C-101B-9397-08002B2CF9AE}" pid="4" name="LastSaved">
    <vt:filetime>2025-11-14T00:00:00Z</vt:filetime>
  </property>
  <property fmtid="{D5CDD505-2E9C-101B-9397-08002B2CF9AE}" pid="5" name="Producer">
    <vt:lpwstr>Canva</vt:lpwstr>
  </property>
</Properties>
</file>